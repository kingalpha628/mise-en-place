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17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956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2.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sp>
      <p:sp>
        <p:nvSpPr>
          <p:cNvPr id="3" name="Shape 1"/>
          <p:cNvSpPr/>
          <p:nvPr/>
        </p:nvSpPr>
        <p:spPr>
          <a:xfrm>
            <a:off x="0" y="73152"/>
            <a:ext cx="54864" cy="5070348"/>
          </a:xfrm>
          <a:prstGeom prst="rect">
            <a:avLst/>
          </a:prstGeom>
          <a:solidFill>
            <a:srgbClr val="F9A825"/>
          </a:solidFill>
          <a:ln w="12700">
            <a:solidFill>
              <a:srgbClr val="F9A825"/>
            </a:solidFill>
            <a:prstDash val="solid"/>
          </a:ln>
        </p:spPr>
      </p:sp>
      <p:sp>
        <p:nvSpPr>
          <p:cNvPr id="4" name="Shape 2"/>
          <p:cNvSpPr/>
          <p:nvPr/>
        </p:nvSpPr>
        <p:spPr>
          <a:xfrm>
            <a:off x="0" y="4983480"/>
            <a:ext cx="9144000" cy="160020"/>
          </a:xfrm>
          <a:prstGeom prst="rect">
            <a:avLst/>
          </a:prstGeom>
          <a:solidFill>
            <a:srgbClr val="0D2545"/>
          </a:solidFill>
          <a:ln w="12700">
            <a:solidFill>
              <a:srgbClr val="0D2545"/>
            </a:solidFill>
            <a:prstDash val="solid"/>
          </a:ln>
        </p:spPr>
      </p:sp>
      <p:sp>
        <p:nvSpPr>
          <p:cNvPr id="5" name="Shape 3"/>
          <p:cNvSpPr/>
          <p:nvPr/>
        </p:nvSpPr>
        <p:spPr>
          <a:xfrm>
            <a:off x="5760720" y="365760"/>
            <a:ext cx="3200400" cy="3200400"/>
          </a:xfrm>
          <a:prstGeom prst="ellipse">
            <a:avLst/>
          </a:prstGeom>
          <a:solidFill>
            <a:srgbClr val="1976D2">
              <a:alpha val="28000"/>
            </a:srgbClr>
          </a:solidFill>
          <a:ln w="12700">
            <a:solidFill>
              <a:srgbClr val="1976D2">
                <a:alpha val="28000"/>
              </a:srgbClr>
            </a:solidFill>
            <a:prstDash val="solid"/>
          </a:ln>
        </p:spPr>
      </p:sp>
      <p:sp>
        <p:nvSpPr>
          <p:cNvPr id="6" name="Shape 4"/>
          <p:cNvSpPr/>
          <p:nvPr/>
        </p:nvSpPr>
        <p:spPr>
          <a:xfrm>
            <a:off x="6400800" y="1005840"/>
            <a:ext cx="1920240" cy="1920240"/>
          </a:xfrm>
          <a:prstGeom prst="ellipse">
            <a:avLst/>
          </a:prstGeom>
          <a:solidFill>
            <a:srgbClr val="F9A825">
              <a:alpha val="20000"/>
            </a:srgbClr>
          </a:solidFill>
          <a:ln w="12700">
            <a:solidFill>
              <a:srgbClr val="F9A825">
                <a:alpha val="20000"/>
              </a:srgbClr>
            </a:solidFill>
            <a:prstDash val="solid"/>
          </a:ln>
        </p:spPr>
      </p:sp>
      <p:pic>
        <p:nvPicPr>
          <p:cNvPr id="7" name="Image 0" descr="preencoded.png"/>
          <p:cNvPicPr>
            <a:picLocks noChangeAspect="1"/>
          </p:cNvPicPr>
          <p:nvPr/>
        </p:nvPicPr>
        <p:blipFill>
          <a:blip r:embed="rId3"/>
          <a:stretch>
            <a:fillRect/>
          </a:stretch>
        </p:blipFill>
        <p:spPr>
          <a:xfrm>
            <a:off x="6675120" y="1051560"/>
            <a:ext cx="1417320" cy="1417320"/>
          </a:xfrm>
          <a:prstGeom prst="rect">
            <a:avLst/>
          </a:prstGeom>
        </p:spPr>
      </p:pic>
      <p:sp>
        <p:nvSpPr>
          <p:cNvPr id="8" name="Shape 5"/>
          <p:cNvSpPr/>
          <p:nvPr/>
        </p:nvSpPr>
        <p:spPr>
          <a:xfrm>
            <a:off x="320040" y="777240"/>
            <a:ext cx="3200400" cy="347472"/>
          </a:xfrm>
          <a:prstGeom prst="roundRect">
            <a:avLst>
              <a:gd name="adj" fmla="val 13158"/>
            </a:avLst>
          </a:prstGeom>
          <a:solidFill>
            <a:srgbClr val="F9A825"/>
          </a:solidFill>
          <a:ln w="12700">
            <a:solidFill>
              <a:srgbClr val="F9A825"/>
            </a:solidFill>
            <a:prstDash val="solid"/>
          </a:ln>
        </p:spPr>
      </p:sp>
      <p:sp>
        <p:nvSpPr>
          <p:cNvPr id="9" name="Text 6"/>
          <p:cNvSpPr/>
          <p:nvPr/>
        </p:nvSpPr>
        <p:spPr>
          <a:xfrm>
            <a:off x="320040" y="777240"/>
            <a:ext cx="3200400" cy="347472"/>
          </a:xfrm>
          <a:prstGeom prst="rect">
            <a:avLst/>
          </a:prstGeom>
          <a:noFill/>
          <a:ln/>
        </p:spPr>
        <p:txBody>
          <a:bodyPr wrap="square" lIns="0" tIns="0" rIns="0" bIns="0" rtlCol="0" anchor="ctr"/>
          <a:lstStyle/>
          <a:p>
            <a:pPr marL="0" indent="0" algn="ctr">
              <a:buNone/>
            </a:pPr>
            <a:r>
              <a:rPr lang="en-US" sz="900" b="1" dirty="0">
                <a:solidFill>
                  <a:srgbClr val="0B1D3A"/>
                </a:solidFill>
              </a:rPr>
              <a:t>MASTER SYSTÈMES D'INFORMATION</a:t>
            </a:r>
            <a:endParaRPr lang="en-US" sz="900" dirty="0"/>
          </a:p>
        </p:txBody>
      </p:sp>
      <p:sp>
        <p:nvSpPr>
          <p:cNvPr id="10" name="Text 7"/>
          <p:cNvSpPr/>
          <p:nvPr/>
        </p:nvSpPr>
        <p:spPr>
          <a:xfrm>
            <a:off x="320040" y="1234440"/>
            <a:ext cx="5303520" cy="1188720"/>
          </a:xfrm>
          <a:prstGeom prst="rect">
            <a:avLst/>
          </a:prstGeom>
          <a:noFill/>
          <a:ln/>
        </p:spPr>
        <p:txBody>
          <a:bodyPr wrap="square"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Vue Unique Client</a:t>
            </a:r>
            <a:endParaRPr lang="en-US" sz="4400" dirty="0"/>
          </a:p>
        </p:txBody>
      </p:sp>
      <p:sp>
        <p:nvSpPr>
          <p:cNvPr id="11" name="Text 8"/>
          <p:cNvSpPr/>
          <p:nvPr/>
        </p:nvSpPr>
        <p:spPr>
          <a:xfrm>
            <a:off x="320040" y="2423160"/>
            <a:ext cx="5303520" cy="868680"/>
          </a:xfrm>
          <a:prstGeom prst="rect">
            <a:avLst/>
          </a:prstGeom>
          <a:noFill/>
          <a:ln/>
        </p:spPr>
        <p:txBody>
          <a:bodyPr wrap="square" rtlCol="0" anchor="ctr"/>
          <a:lstStyle/>
          <a:p>
            <a:pPr marL="0" indent="0">
              <a:buNone/>
            </a:pPr>
            <a:r>
              <a:rPr lang="en-US" sz="1500" i="1" dirty="0">
                <a:solidFill>
                  <a:srgbClr val="42A5F5"/>
                </a:solidFill>
              </a:rPr>
              <a:t>Harmonisation des Systèmes d'Information</a:t>
            </a:r>
            <a:endParaRPr lang="en-US" sz="1500" dirty="0"/>
          </a:p>
          <a:p>
            <a:pPr marL="0" indent="0">
              <a:buNone/>
            </a:pPr>
            <a:r>
              <a:rPr lang="en-US" sz="1500" i="1" dirty="0">
                <a:solidFill>
                  <a:srgbClr val="42A5F5"/>
                </a:solidFill>
              </a:rPr>
              <a:t>dans un contexte Bancaire</a:t>
            </a:r>
            <a:endParaRPr lang="en-US" sz="1500" dirty="0"/>
          </a:p>
        </p:txBody>
      </p:sp>
      <p:sp>
        <p:nvSpPr>
          <p:cNvPr id="12" name="Shape 9"/>
          <p:cNvSpPr/>
          <p:nvPr/>
        </p:nvSpPr>
        <p:spPr>
          <a:xfrm>
            <a:off x="320040" y="3657600"/>
            <a:ext cx="1627632" cy="347472"/>
          </a:xfrm>
          <a:prstGeom prst="roundRect">
            <a:avLst>
              <a:gd name="adj" fmla="val 15789"/>
            </a:avLst>
          </a:prstGeom>
          <a:solidFill>
            <a:srgbClr val="1565C0"/>
          </a:solidFill>
          <a:ln w="12700">
            <a:solidFill>
              <a:srgbClr val="1565C0"/>
            </a:solidFill>
            <a:prstDash val="solid"/>
          </a:ln>
        </p:spPr>
      </p:sp>
      <p:sp>
        <p:nvSpPr>
          <p:cNvPr id="13" name="Text 10"/>
          <p:cNvSpPr/>
          <p:nvPr/>
        </p:nvSpPr>
        <p:spPr>
          <a:xfrm>
            <a:off x="320040" y="3657600"/>
            <a:ext cx="1627632" cy="347472"/>
          </a:xfrm>
          <a:prstGeom prst="rect">
            <a:avLst/>
          </a:prstGeom>
          <a:noFill/>
          <a:ln/>
        </p:spPr>
        <p:txBody>
          <a:bodyPr wrap="square" lIns="0" tIns="0" rIns="0" bIns="0" rtlCol="0" anchor="ctr"/>
          <a:lstStyle/>
          <a:p>
            <a:pPr marL="0" indent="0" algn="ctr">
              <a:buNone/>
            </a:pPr>
            <a:r>
              <a:rPr lang="en-US" sz="1000" b="1" dirty="0">
                <a:solidFill>
                  <a:srgbClr val="FFFFFF"/>
                </a:solidFill>
              </a:rPr>
              <a:t>SSOT</a:t>
            </a:r>
            <a:endParaRPr lang="en-US" sz="1000" dirty="0"/>
          </a:p>
        </p:txBody>
      </p:sp>
      <p:sp>
        <p:nvSpPr>
          <p:cNvPr id="14" name="Shape 11"/>
          <p:cNvSpPr/>
          <p:nvPr/>
        </p:nvSpPr>
        <p:spPr>
          <a:xfrm>
            <a:off x="2075688" y="3657600"/>
            <a:ext cx="1627632" cy="347472"/>
          </a:xfrm>
          <a:prstGeom prst="roundRect">
            <a:avLst>
              <a:gd name="adj" fmla="val 15789"/>
            </a:avLst>
          </a:prstGeom>
          <a:solidFill>
            <a:srgbClr val="00796B"/>
          </a:solidFill>
          <a:ln w="12700">
            <a:solidFill>
              <a:srgbClr val="00796B"/>
            </a:solidFill>
            <a:prstDash val="solid"/>
          </a:ln>
        </p:spPr>
      </p:sp>
      <p:sp>
        <p:nvSpPr>
          <p:cNvPr id="15" name="Text 12"/>
          <p:cNvSpPr/>
          <p:nvPr/>
        </p:nvSpPr>
        <p:spPr>
          <a:xfrm>
            <a:off x="2075688" y="3657600"/>
            <a:ext cx="1627632" cy="347472"/>
          </a:xfrm>
          <a:prstGeom prst="rect">
            <a:avLst/>
          </a:prstGeom>
          <a:noFill/>
          <a:ln/>
        </p:spPr>
        <p:txBody>
          <a:bodyPr wrap="square" lIns="0" tIns="0" rIns="0" bIns="0" rtlCol="0" anchor="ctr"/>
          <a:lstStyle/>
          <a:p>
            <a:pPr marL="0" indent="0" algn="ctr">
              <a:buNone/>
            </a:pPr>
            <a:r>
              <a:rPr lang="en-US" sz="1000" b="1" dirty="0">
                <a:solidFill>
                  <a:srgbClr val="FFFFFF"/>
                </a:solidFill>
              </a:rPr>
              <a:t>Master Data</a:t>
            </a:r>
            <a:endParaRPr lang="en-US" sz="1000" dirty="0"/>
          </a:p>
        </p:txBody>
      </p:sp>
      <p:sp>
        <p:nvSpPr>
          <p:cNvPr id="16" name="Shape 13"/>
          <p:cNvSpPr/>
          <p:nvPr/>
        </p:nvSpPr>
        <p:spPr>
          <a:xfrm>
            <a:off x="3831336" y="3657600"/>
            <a:ext cx="1627632" cy="347472"/>
          </a:xfrm>
          <a:prstGeom prst="roundRect">
            <a:avLst>
              <a:gd name="adj" fmla="val 15789"/>
            </a:avLst>
          </a:prstGeom>
          <a:solidFill>
            <a:srgbClr val="2E7D32"/>
          </a:solidFill>
          <a:ln w="12700">
            <a:solidFill>
              <a:srgbClr val="2E7D32"/>
            </a:solidFill>
            <a:prstDash val="solid"/>
          </a:ln>
        </p:spPr>
      </p:sp>
      <p:sp>
        <p:nvSpPr>
          <p:cNvPr id="17" name="Text 14"/>
          <p:cNvSpPr/>
          <p:nvPr/>
        </p:nvSpPr>
        <p:spPr>
          <a:xfrm>
            <a:off x="3831336" y="3657600"/>
            <a:ext cx="1627632" cy="347472"/>
          </a:xfrm>
          <a:prstGeom prst="rect">
            <a:avLst/>
          </a:prstGeom>
          <a:noFill/>
          <a:ln/>
        </p:spPr>
        <p:txBody>
          <a:bodyPr wrap="square" lIns="0" tIns="0" rIns="0" bIns="0" rtlCol="0" anchor="ctr"/>
          <a:lstStyle/>
          <a:p>
            <a:pPr marL="0" indent="0" algn="ctr">
              <a:buNone/>
            </a:pPr>
            <a:r>
              <a:rPr lang="en-US" sz="1000" b="1" dirty="0">
                <a:solidFill>
                  <a:srgbClr val="FFFFFF"/>
                </a:solidFill>
              </a:rPr>
              <a:t>MDM</a:t>
            </a:r>
            <a:endParaRPr lang="en-US" sz="1000" dirty="0"/>
          </a:p>
        </p:txBody>
      </p:sp>
      <p:sp>
        <p:nvSpPr>
          <p:cNvPr id="18" name="Shape 15"/>
          <p:cNvSpPr/>
          <p:nvPr/>
        </p:nvSpPr>
        <p:spPr>
          <a:xfrm>
            <a:off x="5586984" y="3657600"/>
            <a:ext cx="1627632" cy="347472"/>
          </a:xfrm>
          <a:prstGeom prst="roundRect">
            <a:avLst>
              <a:gd name="adj" fmla="val 15789"/>
            </a:avLst>
          </a:prstGeom>
          <a:solidFill>
            <a:srgbClr val="1976D2"/>
          </a:solidFill>
          <a:ln w="12700">
            <a:solidFill>
              <a:srgbClr val="1976D2"/>
            </a:solidFill>
            <a:prstDash val="solid"/>
          </a:ln>
        </p:spPr>
      </p:sp>
      <p:sp>
        <p:nvSpPr>
          <p:cNvPr id="19" name="Text 16"/>
          <p:cNvSpPr/>
          <p:nvPr/>
        </p:nvSpPr>
        <p:spPr>
          <a:xfrm>
            <a:off x="5586984" y="3657600"/>
            <a:ext cx="1627632" cy="347472"/>
          </a:xfrm>
          <a:prstGeom prst="rect">
            <a:avLst/>
          </a:prstGeom>
          <a:noFill/>
          <a:ln/>
        </p:spPr>
        <p:txBody>
          <a:bodyPr wrap="square" lIns="0" tIns="0" rIns="0" bIns="0" rtlCol="0" anchor="ctr"/>
          <a:lstStyle/>
          <a:p>
            <a:pPr marL="0" indent="0" algn="ctr">
              <a:buNone/>
            </a:pPr>
            <a:r>
              <a:rPr lang="en-US" sz="1000" b="1" dirty="0">
                <a:solidFill>
                  <a:srgbClr val="FFFFFF"/>
                </a:solidFill>
              </a:rPr>
              <a:t>Golden Record</a:t>
            </a:r>
            <a:endParaRPr lang="en-US" sz="1000" dirty="0"/>
          </a:p>
        </p:txBody>
      </p:sp>
      <p:sp>
        <p:nvSpPr>
          <p:cNvPr id="20" name="Shape 17"/>
          <p:cNvSpPr/>
          <p:nvPr/>
        </p:nvSpPr>
        <p:spPr>
          <a:xfrm>
            <a:off x="7342632" y="3657600"/>
            <a:ext cx="1627632" cy="347472"/>
          </a:xfrm>
          <a:prstGeom prst="roundRect">
            <a:avLst>
              <a:gd name="adj" fmla="val 15789"/>
            </a:avLst>
          </a:prstGeom>
          <a:solidFill>
            <a:srgbClr val="455A64"/>
          </a:solidFill>
          <a:ln w="12700">
            <a:solidFill>
              <a:srgbClr val="455A64"/>
            </a:solidFill>
            <a:prstDash val="solid"/>
          </a:ln>
        </p:spPr>
      </p:sp>
      <p:sp>
        <p:nvSpPr>
          <p:cNvPr id="21" name="Text 18"/>
          <p:cNvSpPr/>
          <p:nvPr/>
        </p:nvSpPr>
        <p:spPr>
          <a:xfrm>
            <a:off x="7342632" y="3657600"/>
            <a:ext cx="1627632" cy="347472"/>
          </a:xfrm>
          <a:prstGeom prst="rect">
            <a:avLst/>
          </a:prstGeom>
          <a:noFill/>
          <a:ln/>
        </p:spPr>
        <p:txBody>
          <a:bodyPr wrap="square" lIns="0" tIns="0" rIns="0" bIns="0" rtlCol="0" anchor="ctr"/>
          <a:lstStyle/>
          <a:p>
            <a:pPr marL="0" indent="0" algn="ctr">
              <a:buNone/>
            </a:pPr>
            <a:r>
              <a:rPr lang="en-US" sz="1000" b="1" dirty="0">
                <a:solidFill>
                  <a:srgbClr val="FFFFFF"/>
                </a:solidFill>
              </a:rPr>
              <a:t>Data Quality</a:t>
            </a:r>
            <a:endParaRPr lang="en-US" sz="1000" dirty="0"/>
          </a:p>
        </p:txBody>
      </p:sp>
      <p:sp>
        <p:nvSpPr>
          <p:cNvPr id="22" name="Text 19"/>
          <p:cNvSpPr/>
          <p:nvPr/>
        </p:nvSpPr>
        <p:spPr>
          <a:xfrm>
            <a:off x="182880" y="4983480"/>
            <a:ext cx="8778240" cy="160020"/>
          </a:xfrm>
          <a:prstGeom prst="rect">
            <a:avLst/>
          </a:prstGeom>
          <a:noFill/>
          <a:ln/>
        </p:spPr>
        <p:txBody>
          <a:bodyPr wrap="square" rtlCol="0" anchor="ctr"/>
          <a:lstStyle/>
          <a:p>
            <a:pPr marL="0" indent="0" algn="r">
              <a:buNone/>
            </a:pPr>
            <a:r>
              <a:rPr lang="en-US" sz="900" dirty="0">
                <a:solidFill>
                  <a:srgbClr val="90A4AE"/>
                </a:solidFill>
              </a:rPr>
              <a:t>Vision Bank  |  Exposé Master SI  |  2024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Shape 1"/>
          <p:cNvSpPr/>
          <p:nvPr/>
        </p:nvSpPr>
        <p:spPr>
          <a:xfrm>
            <a:off x="0" y="0"/>
            <a:ext cx="54864" cy="5143500"/>
          </a:xfrm>
          <a:prstGeom prst="rect">
            <a:avLst/>
          </a:prstGeom>
          <a:solidFill>
            <a:srgbClr val="F9A825"/>
          </a:solidFill>
          <a:ln w="12700">
            <a:solidFill>
              <a:srgbClr val="F9A825"/>
            </a:solidFill>
            <a:prstDash val="solid"/>
          </a:ln>
        </p:spPr>
      </p:sp>
      <p:sp>
        <p:nvSpPr>
          <p:cNvPr id="4" name="Text 2"/>
          <p:cNvSpPr/>
          <p:nvPr/>
        </p:nvSpPr>
        <p:spPr>
          <a:xfrm>
            <a:off x="228600" y="137160"/>
            <a:ext cx="8686800" cy="6858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Plan de l'Exposé</a:t>
            </a:r>
            <a:endParaRPr lang="en-US" sz="2200" dirty="0"/>
          </a:p>
        </p:txBody>
      </p:sp>
      <p:sp>
        <p:nvSpPr>
          <p:cNvPr id="5" name="Shape 3"/>
          <p:cNvSpPr/>
          <p:nvPr/>
        </p:nvSpPr>
        <p:spPr>
          <a:xfrm>
            <a:off x="274320" y="1051560"/>
            <a:ext cx="4206240" cy="841248"/>
          </a:xfrm>
          <a:prstGeom prst="rect">
            <a:avLst/>
          </a:prstGeom>
          <a:solidFill>
            <a:srgbClr val="FFFFFF"/>
          </a:solidFill>
          <a:ln w="12700">
            <a:solidFill>
              <a:srgbClr val="ECEFF1"/>
            </a:solidFill>
            <a:prstDash val="solid"/>
          </a:ln>
          <a:effectLst>
            <a:outerShdw blurRad="101600" dist="38100" dir="8100000" algn="bl" rotWithShape="0">
              <a:srgbClr val="000000">
                <a:alpha val="14000"/>
              </a:srgbClr>
            </a:outerShdw>
          </a:effectLst>
        </p:spPr>
      </p:sp>
      <p:sp>
        <p:nvSpPr>
          <p:cNvPr id="6" name="Shape 4"/>
          <p:cNvSpPr/>
          <p:nvPr/>
        </p:nvSpPr>
        <p:spPr>
          <a:xfrm>
            <a:off x="274320" y="1051560"/>
            <a:ext cx="502920" cy="841248"/>
          </a:xfrm>
          <a:prstGeom prst="rect">
            <a:avLst/>
          </a:prstGeom>
          <a:solidFill>
            <a:srgbClr val="0B1D3A"/>
          </a:solidFill>
          <a:ln w="12700">
            <a:solidFill>
              <a:srgbClr val="0B1D3A"/>
            </a:solidFill>
            <a:prstDash val="solid"/>
          </a:ln>
        </p:spPr>
      </p:sp>
      <p:sp>
        <p:nvSpPr>
          <p:cNvPr id="7" name="Text 5"/>
          <p:cNvSpPr/>
          <p:nvPr/>
        </p:nvSpPr>
        <p:spPr>
          <a:xfrm>
            <a:off x="274320" y="1051560"/>
            <a:ext cx="502920" cy="841248"/>
          </a:xfrm>
          <a:prstGeom prst="rect">
            <a:avLst/>
          </a:prstGeom>
          <a:noFill/>
          <a:ln/>
        </p:spPr>
        <p:txBody>
          <a:bodyPr wrap="square" lIns="0" tIns="0" rIns="0" bIns="0" rtlCol="0" anchor="ctr"/>
          <a:lstStyle/>
          <a:p>
            <a:pPr marL="0" indent="0" algn="ctr">
              <a:buNone/>
            </a:pPr>
            <a:r>
              <a:rPr lang="en-US" sz="1300" b="1" dirty="0">
                <a:solidFill>
                  <a:srgbClr val="F9A825"/>
                </a:solidFill>
              </a:rPr>
              <a:t>01</a:t>
            </a:r>
            <a:endParaRPr lang="en-US" sz="1300" dirty="0"/>
          </a:p>
        </p:txBody>
      </p:sp>
      <p:sp>
        <p:nvSpPr>
          <p:cNvPr id="8" name="Text 6"/>
          <p:cNvSpPr/>
          <p:nvPr/>
        </p:nvSpPr>
        <p:spPr>
          <a:xfrm>
            <a:off x="868680" y="1106424"/>
            <a:ext cx="3520440" cy="365760"/>
          </a:xfrm>
          <a:prstGeom prst="rect">
            <a:avLst/>
          </a:prstGeom>
          <a:noFill/>
          <a:ln/>
        </p:spPr>
        <p:txBody>
          <a:bodyPr wrap="square" rtlCol="0" anchor="ctr"/>
          <a:lstStyle/>
          <a:p>
            <a:pPr marL="0" indent="0">
              <a:buNone/>
            </a:pPr>
            <a:r>
              <a:rPr lang="en-US" sz="1100" b="1" dirty="0">
                <a:solidFill>
                  <a:srgbClr val="0B1D3A"/>
                </a:solidFill>
              </a:rPr>
              <a:t>Contexte &amp; Problématique</a:t>
            </a:r>
            <a:endParaRPr lang="en-US" sz="1100" dirty="0"/>
          </a:p>
        </p:txBody>
      </p:sp>
      <p:sp>
        <p:nvSpPr>
          <p:cNvPr id="9" name="Text 7"/>
          <p:cNvSpPr/>
          <p:nvPr/>
        </p:nvSpPr>
        <p:spPr>
          <a:xfrm>
            <a:off x="868680" y="1490472"/>
            <a:ext cx="3520440" cy="320040"/>
          </a:xfrm>
          <a:prstGeom prst="rect">
            <a:avLst/>
          </a:prstGeom>
          <a:noFill/>
          <a:ln/>
        </p:spPr>
        <p:txBody>
          <a:bodyPr wrap="square" rtlCol="0" anchor="ctr"/>
          <a:lstStyle/>
          <a:p>
            <a:pPr marL="0" indent="0">
              <a:buNone/>
            </a:pPr>
            <a:r>
              <a:rPr lang="en-US" sz="950" i="1" dirty="0">
                <a:solidFill>
                  <a:srgbClr val="90A4AE"/>
                </a:solidFill>
              </a:rPr>
              <a:t>Les enjeux de Vision Bank</a:t>
            </a:r>
            <a:endParaRPr lang="en-US" sz="950" dirty="0"/>
          </a:p>
        </p:txBody>
      </p:sp>
      <p:sp>
        <p:nvSpPr>
          <p:cNvPr id="10" name="Shape 8"/>
          <p:cNvSpPr/>
          <p:nvPr/>
        </p:nvSpPr>
        <p:spPr>
          <a:xfrm>
            <a:off x="274320" y="2039112"/>
            <a:ext cx="4206240" cy="841248"/>
          </a:xfrm>
          <a:prstGeom prst="rect">
            <a:avLst/>
          </a:prstGeom>
          <a:solidFill>
            <a:srgbClr val="FFFFFF"/>
          </a:solidFill>
          <a:ln w="12700">
            <a:solidFill>
              <a:srgbClr val="ECEFF1"/>
            </a:solidFill>
            <a:prstDash val="solid"/>
          </a:ln>
          <a:effectLst>
            <a:outerShdw blurRad="101600" dist="38100" dir="8100000" algn="bl" rotWithShape="0">
              <a:srgbClr val="000000">
                <a:alpha val="14000"/>
              </a:srgbClr>
            </a:outerShdw>
          </a:effectLst>
        </p:spPr>
      </p:sp>
      <p:sp>
        <p:nvSpPr>
          <p:cNvPr id="11" name="Shape 9"/>
          <p:cNvSpPr/>
          <p:nvPr/>
        </p:nvSpPr>
        <p:spPr>
          <a:xfrm>
            <a:off x="274320" y="2039112"/>
            <a:ext cx="502920" cy="841248"/>
          </a:xfrm>
          <a:prstGeom prst="rect">
            <a:avLst/>
          </a:prstGeom>
          <a:solidFill>
            <a:srgbClr val="0B1D3A"/>
          </a:solidFill>
          <a:ln w="12700">
            <a:solidFill>
              <a:srgbClr val="0B1D3A"/>
            </a:solidFill>
            <a:prstDash val="solid"/>
          </a:ln>
        </p:spPr>
      </p:sp>
      <p:sp>
        <p:nvSpPr>
          <p:cNvPr id="12" name="Text 10"/>
          <p:cNvSpPr/>
          <p:nvPr/>
        </p:nvSpPr>
        <p:spPr>
          <a:xfrm>
            <a:off x="274320" y="2039112"/>
            <a:ext cx="502920" cy="841248"/>
          </a:xfrm>
          <a:prstGeom prst="rect">
            <a:avLst/>
          </a:prstGeom>
          <a:noFill/>
          <a:ln/>
        </p:spPr>
        <p:txBody>
          <a:bodyPr wrap="square" lIns="0" tIns="0" rIns="0" bIns="0" rtlCol="0" anchor="ctr"/>
          <a:lstStyle/>
          <a:p>
            <a:pPr marL="0" indent="0" algn="ctr">
              <a:buNone/>
            </a:pPr>
            <a:r>
              <a:rPr lang="en-US" sz="1300" b="1" dirty="0">
                <a:solidFill>
                  <a:srgbClr val="F9A825"/>
                </a:solidFill>
              </a:rPr>
              <a:t>02</a:t>
            </a:r>
            <a:endParaRPr lang="en-US" sz="1300" dirty="0"/>
          </a:p>
        </p:txBody>
      </p:sp>
      <p:sp>
        <p:nvSpPr>
          <p:cNvPr id="13" name="Text 11"/>
          <p:cNvSpPr/>
          <p:nvPr/>
        </p:nvSpPr>
        <p:spPr>
          <a:xfrm>
            <a:off x="868680" y="2093976"/>
            <a:ext cx="3520440" cy="365760"/>
          </a:xfrm>
          <a:prstGeom prst="rect">
            <a:avLst/>
          </a:prstGeom>
          <a:noFill/>
          <a:ln/>
        </p:spPr>
        <p:txBody>
          <a:bodyPr wrap="square" rtlCol="0" anchor="ctr"/>
          <a:lstStyle/>
          <a:p>
            <a:pPr marL="0" indent="0">
              <a:buNone/>
            </a:pPr>
            <a:r>
              <a:rPr lang="en-US" sz="1100" b="1" dirty="0">
                <a:solidFill>
                  <a:srgbClr val="0B1D3A"/>
                </a:solidFill>
              </a:rPr>
              <a:t>Diagnostic des Systèmes</a:t>
            </a:r>
            <a:endParaRPr lang="en-US" sz="1100" dirty="0"/>
          </a:p>
        </p:txBody>
      </p:sp>
      <p:sp>
        <p:nvSpPr>
          <p:cNvPr id="14" name="Text 12"/>
          <p:cNvSpPr/>
          <p:nvPr/>
        </p:nvSpPr>
        <p:spPr>
          <a:xfrm>
            <a:off x="868680" y="2478024"/>
            <a:ext cx="3520440" cy="320040"/>
          </a:xfrm>
          <a:prstGeom prst="rect">
            <a:avLst/>
          </a:prstGeom>
          <a:noFill/>
          <a:ln/>
        </p:spPr>
        <p:txBody>
          <a:bodyPr wrap="square" rtlCol="0" anchor="ctr"/>
          <a:lstStyle/>
          <a:p>
            <a:pPr marL="0" indent="0">
              <a:buNone/>
            </a:pPr>
            <a:r>
              <a:rPr lang="en-US" sz="950" i="1" dirty="0">
                <a:solidFill>
                  <a:srgbClr val="90A4AE"/>
                </a:solidFill>
              </a:rPr>
              <a:t>CBS, Crédits, BI, Mobile…</a:t>
            </a:r>
            <a:endParaRPr lang="en-US" sz="950" dirty="0"/>
          </a:p>
        </p:txBody>
      </p:sp>
      <p:sp>
        <p:nvSpPr>
          <p:cNvPr id="15" name="Shape 13"/>
          <p:cNvSpPr/>
          <p:nvPr/>
        </p:nvSpPr>
        <p:spPr>
          <a:xfrm>
            <a:off x="274320" y="3026664"/>
            <a:ext cx="4206240" cy="841248"/>
          </a:xfrm>
          <a:prstGeom prst="rect">
            <a:avLst/>
          </a:prstGeom>
          <a:solidFill>
            <a:srgbClr val="FFFFFF"/>
          </a:solidFill>
          <a:ln w="12700">
            <a:solidFill>
              <a:srgbClr val="ECEFF1"/>
            </a:solidFill>
            <a:prstDash val="solid"/>
          </a:ln>
          <a:effectLst>
            <a:outerShdw blurRad="101600" dist="38100" dir="8100000" algn="bl" rotWithShape="0">
              <a:srgbClr val="000000">
                <a:alpha val="14000"/>
              </a:srgbClr>
            </a:outerShdw>
          </a:effectLst>
        </p:spPr>
      </p:sp>
      <p:sp>
        <p:nvSpPr>
          <p:cNvPr id="16" name="Shape 14"/>
          <p:cNvSpPr/>
          <p:nvPr/>
        </p:nvSpPr>
        <p:spPr>
          <a:xfrm>
            <a:off x="274320" y="3026664"/>
            <a:ext cx="502920" cy="841248"/>
          </a:xfrm>
          <a:prstGeom prst="rect">
            <a:avLst/>
          </a:prstGeom>
          <a:solidFill>
            <a:srgbClr val="0B1D3A"/>
          </a:solidFill>
          <a:ln w="12700">
            <a:solidFill>
              <a:srgbClr val="0B1D3A"/>
            </a:solidFill>
            <a:prstDash val="solid"/>
          </a:ln>
        </p:spPr>
      </p:sp>
      <p:sp>
        <p:nvSpPr>
          <p:cNvPr id="17" name="Text 15"/>
          <p:cNvSpPr/>
          <p:nvPr/>
        </p:nvSpPr>
        <p:spPr>
          <a:xfrm>
            <a:off x="274320" y="3026664"/>
            <a:ext cx="502920" cy="841248"/>
          </a:xfrm>
          <a:prstGeom prst="rect">
            <a:avLst/>
          </a:prstGeom>
          <a:noFill/>
          <a:ln/>
        </p:spPr>
        <p:txBody>
          <a:bodyPr wrap="square" lIns="0" tIns="0" rIns="0" bIns="0" rtlCol="0" anchor="ctr"/>
          <a:lstStyle/>
          <a:p>
            <a:pPr marL="0" indent="0" algn="ctr">
              <a:buNone/>
            </a:pPr>
            <a:r>
              <a:rPr lang="en-US" sz="1300" b="1" dirty="0">
                <a:solidFill>
                  <a:srgbClr val="F9A825"/>
                </a:solidFill>
              </a:rPr>
              <a:t>03</a:t>
            </a:r>
            <a:endParaRPr lang="en-US" sz="1300" dirty="0"/>
          </a:p>
        </p:txBody>
      </p:sp>
      <p:sp>
        <p:nvSpPr>
          <p:cNvPr id="18" name="Text 16"/>
          <p:cNvSpPr/>
          <p:nvPr/>
        </p:nvSpPr>
        <p:spPr>
          <a:xfrm>
            <a:off x="868680" y="3081528"/>
            <a:ext cx="3520440" cy="365760"/>
          </a:xfrm>
          <a:prstGeom prst="rect">
            <a:avLst/>
          </a:prstGeom>
          <a:noFill/>
          <a:ln/>
        </p:spPr>
        <p:txBody>
          <a:bodyPr wrap="square" rtlCol="0" anchor="ctr"/>
          <a:lstStyle/>
          <a:p>
            <a:pPr marL="0" indent="0">
              <a:buNone/>
            </a:pPr>
            <a:r>
              <a:rPr lang="en-US" sz="1100" b="1" dirty="0">
                <a:solidFill>
                  <a:srgbClr val="0B1D3A"/>
                </a:solidFill>
              </a:rPr>
              <a:t>Concepts Fondamentaux</a:t>
            </a:r>
            <a:endParaRPr lang="en-US" sz="1100" dirty="0"/>
          </a:p>
        </p:txBody>
      </p:sp>
      <p:sp>
        <p:nvSpPr>
          <p:cNvPr id="19" name="Text 17"/>
          <p:cNvSpPr/>
          <p:nvPr/>
        </p:nvSpPr>
        <p:spPr>
          <a:xfrm>
            <a:off x="868680" y="3465576"/>
            <a:ext cx="3520440" cy="320040"/>
          </a:xfrm>
          <a:prstGeom prst="rect">
            <a:avLst/>
          </a:prstGeom>
          <a:noFill/>
          <a:ln/>
        </p:spPr>
        <p:txBody>
          <a:bodyPr wrap="square" rtlCol="0" anchor="ctr"/>
          <a:lstStyle/>
          <a:p>
            <a:pPr marL="0" indent="0">
              <a:buNone/>
            </a:pPr>
            <a:r>
              <a:rPr lang="en-US" sz="950" i="1" dirty="0">
                <a:solidFill>
                  <a:srgbClr val="90A4AE"/>
                </a:solidFill>
              </a:rPr>
              <a:t>SSOT · Master Data · MDM · Golden Record</a:t>
            </a:r>
            <a:endParaRPr lang="en-US" sz="950" dirty="0"/>
          </a:p>
        </p:txBody>
      </p:sp>
      <p:sp>
        <p:nvSpPr>
          <p:cNvPr id="20" name="Shape 18"/>
          <p:cNvSpPr/>
          <p:nvPr/>
        </p:nvSpPr>
        <p:spPr>
          <a:xfrm>
            <a:off x="274320" y="4014216"/>
            <a:ext cx="4206240" cy="841248"/>
          </a:xfrm>
          <a:prstGeom prst="rect">
            <a:avLst/>
          </a:prstGeom>
          <a:solidFill>
            <a:srgbClr val="FFFFFF"/>
          </a:solidFill>
          <a:ln w="12700">
            <a:solidFill>
              <a:srgbClr val="ECEFF1"/>
            </a:solidFill>
            <a:prstDash val="solid"/>
          </a:ln>
          <a:effectLst>
            <a:outerShdw blurRad="101600" dist="38100" dir="8100000" algn="bl" rotWithShape="0">
              <a:srgbClr val="000000">
                <a:alpha val="14000"/>
              </a:srgbClr>
            </a:outerShdw>
          </a:effectLst>
        </p:spPr>
      </p:sp>
      <p:sp>
        <p:nvSpPr>
          <p:cNvPr id="21" name="Shape 19"/>
          <p:cNvSpPr/>
          <p:nvPr/>
        </p:nvSpPr>
        <p:spPr>
          <a:xfrm>
            <a:off x="274320" y="4014216"/>
            <a:ext cx="502920" cy="841248"/>
          </a:xfrm>
          <a:prstGeom prst="rect">
            <a:avLst/>
          </a:prstGeom>
          <a:solidFill>
            <a:srgbClr val="0B1D3A"/>
          </a:solidFill>
          <a:ln w="12700">
            <a:solidFill>
              <a:srgbClr val="0B1D3A"/>
            </a:solidFill>
            <a:prstDash val="solid"/>
          </a:ln>
        </p:spPr>
      </p:sp>
      <p:sp>
        <p:nvSpPr>
          <p:cNvPr id="22" name="Text 20"/>
          <p:cNvSpPr/>
          <p:nvPr/>
        </p:nvSpPr>
        <p:spPr>
          <a:xfrm>
            <a:off x="274320" y="4014216"/>
            <a:ext cx="502920" cy="841248"/>
          </a:xfrm>
          <a:prstGeom prst="rect">
            <a:avLst/>
          </a:prstGeom>
          <a:noFill/>
          <a:ln/>
        </p:spPr>
        <p:txBody>
          <a:bodyPr wrap="square" lIns="0" tIns="0" rIns="0" bIns="0" rtlCol="0" anchor="ctr"/>
          <a:lstStyle/>
          <a:p>
            <a:pPr marL="0" indent="0" algn="ctr">
              <a:buNone/>
            </a:pPr>
            <a:r>
              <a:rPr lang="en-US" sz="1300" b="1" dirty="0">
                <a:solidFill>
                  <a:srgbClr val="F9A825"/>
                </a:solidFill>
              </a:rPr>
              <a:t>04</a:t>
            </a:r>
            <a:endParaRPr lang="en-US" sz="1300" dirty="0"/>
          </a:p>
        </p:txBody>
      </p:sp>
      <p:sp>
        <p:nvSpPr>
          <p:cNvPr id="23" name="Text 21"/>
          <p:cNvSpPr/>
          <p:nvPr/>
        </p:nvSpPr>
        <p:spPr>
          <a:xfrm>
            <a:off x="868680" y="4069080"/>
            <a:ext cx="3520440" cy="365760"/>
          </a:xfrm>
          <a:prstGeom prst="rect">
            <a:avLst/>
          </a:prstGeom>
          <a:noFill/>
          <a:ln/>
        </p:spPr>
        <p:txBody>
          <a:bodyPr wrap="square" rtlCol="0" anchor="ctr"/>
          <a:lstStyle/>
          <a:p>
            <a:pPr marL="0" indent="0">
              <a:buNone/>
            </a:pPr>
            <a:r>
              <a:rPr lang="en-US" sz="1100" b="1" dirty="0">
                <a:solidFill>
                  <a:srgbClr val="0B1D3A"/>
                </a:solidFill>
              </a:rPr>
              <a:t>Architecture de la Solution</a:t>
            </a:r>
            <a:endParaRPr lang="en-US" sz="1100" dirty="0"/>
          </a:p>
        </p:txBody>
      </p:sp>
      <p:sp>
        <p:nvSpPr>
          <p:cNvPr id="24" name="Text 22"/>
          <p:cNvSpPr/>
          <p:nvPr/>
        </p:nvSpPr>
        <p:spPr>
          <a:xfrm>
            <a:off x="868680" y="4453128"/>
            <a:ext cx="3520440" cy="320040"/>
          </a:xfrm>
          <a:prstGeom prst="rect">
            <a:avLst/>
          </a:prstGeom>
          <a:noFill/>
          <a:ln/>
        </p:spPr>
        <p:txBody>
          <a:bodyPr wrap="square" rtlCol="0" anchor="ctr"/>
          <a:lstStyle/>
          <a:p>
            <a:pPr marL="0" indent="0">
              <a:buNone/>
            </a:pPr>
            <a:r>
              <a:rPr lang="en-US" sz="950" i="1" dirty="0">
                <a:solidFill>
                  <a:srgbClr val="90A4AE"/>
                </a:solidFill>
              </a:rPr>
              <a:t>Flux, intégration, référentiel unique</a:t>
            </a:r>
            <a:endParaRPr lang="en-US" sz="950" dirty="0"/>
          </a:p>
        </p:txBody>
      </p:sp>
      <p:sp>
        <p:nvSpPr>
          <p:cNvPr id="25" name="Shape 23"/>
          <p:cNvSpPr/>
          <p:nvPr/>
        </p:nvSpPr>
        <p:spPr>
          <a:xfrm>
            <a:off x="4709160" y="1051560"/>
            <a:ext cx="4206240" cy="841248"/>
          </a:xfrm>
          <a:prstGeom prst="rect">
            <a:avLst/>
          </a:prstGeom>
          <a:solidFill>
            <a:srgbClr val="FFFFFF"/>
          </a:solidFill>
          <a:ln w="12700">
            <a:solidFill>
              <a:srgbClr val="ECEFF1"/>
            </a:solidFill>
            <a:prstDash val="solid"/>
          </a:ln>
          <a:effectLst>
            <a:outerShdw blurRad="101600" dist="38100" dir="8100000" algn="bl" rotWithShape="0">
              <a:srgbClr val="000000">
                <a:alpha val="14000"/>
              </a:srgbClr>
            </a:outerShdw>
          </a:effectLst>
        </p:spPr>
      </p:sp>
      <p:sp>
        <p:nvSpPr>
          <p:cNvPr id="26" name="Shape 24"/>
          <p:cNvSpPr/>
          <p:nvPr/>
        </p:nvSpPr>
        <p:spPr>
          <a:xfrm>
            <a:off x="4709160" y="1051560"/>
            <a:ext cx="502920" cy="841248"/>
          </a:xfrm>
          <a:prstGeom prst="rect">
            <a:avLst/>
          </a:prstGeom>
          <a:solidFill>
            <a:srgbClr val="0B1D3A"/>
          </a:solidFill>
          <a:ln w="12700">
            <a:solidFill>
              <a:srgbClr val="0B1D3A"/>
            </a:solidFill>
            <a:prstDash val="solid"/>
          </a:ln>
        </p:spPr>
      </p:sp>
      <p:sp>
        <p:nvSpPr>
          <p:cNvPr id="27" name="Text 25"/>
          <p:cNvSpPr/>
          <p:nvPr/>
        </p:nvSpPr>
        <p:spPr>
          <a:xfrm>
            <a:off x="4709160" y="1051560"/>
            <a:ext cx="502920" cy="841248"/>
          </a:xfrm>
          <a:prstGeom prst="rect">
            <a:avLst/>
          </a:prstGeom>
          <a:noFill/>
          <a:ln/>
        </p:spPr>
        <p:txBody>
          <a:bodyPr wrap="square" lIns="0" tIns="0" rIns="0" bIns="0" rtlCol="0" anchor="ctr"/>
          <a:lstStyle/>
          <a:p>
            <a:pPr marL="0" indent="0" algn="ctr">
              <a:buNone/>
            </a:pPr>
            <a:r>
              <a:rPr lang="en-US" sz="1300" b="1" dirty="0">
                <a:solidFill>
                  <a:srgbClr val="F9A825"/>
                </a:solidFill>
              </a:rPr>
              <a:t>05</a:t>
            </a:r>
            <a:endParaRPr lang="en-US" sz="1300" dirty="0"/>
          </a:p>
        </p:txBody>
      </p:sp>
      <p:sp>
        <p:nvSpPr>
          <p:cNvPr id="28" name="Text 26"/>
          <p:cNvSpPr/>
          <p:nvPr/>
        </p:nvSpPr>
        <p:spPr>
          <a:xfrm>
            <a:off x="5303520" y="1106424"/>
            <a:ext cx="3520440" cy="365760"/>
          </a:xfrm>
          <a:prstGeom prst="rect">
            <a:avLst/>
          </a:prstGeom>
          <a:noFill/>
          <a:ln/>
        </p:spPr>
        <p:txBody>
          <a:bodyPr wrap="square" rtlCol="0" anchor="ctr"/>
          <a:lstStyle/>
          <a:p>
            <a:pPr marL="0" indent="0">
              <a:buNone/>
            </a:pPr>
            <a:r>
              <a:rPr lang="en-US" sz="1100" b="1" dirty="0">
                <a:solidFill>
                  <a:srgbClr val="0B1D3A"/>
                </a:solidFill>
              </a:rPr>
              <a:t>Gouvernance &amp; Comité SI</a:t>
            </a:r>
            <a:endParaRPr lang="en-US" sz="1100" dirty="0"/>
          </a:p>
        </p:txBody>
      </p:sp>
      <p:sp>
        <p:nvSpPr>
          <p:cNvPr id="29" name="Text 27"/>
          <p:cNvSpPr/>
          <p:nvPr/>
        </p:nvSpPr>
        <p:spPr>
          <a:xfrm>
            <a:off x="5303520" y="1490472"/>
            <a:ext cx="3520440" cy="320040"/>
          </a:xfrm>
          <a:prstGeom prst="rect">
            <a:avLst/>
          </a:prstGeom>
          <a:noFill/>
          <a:ln/>
        </p:spPr>
        <p:txBody>
          <a:bodyPr wrap="square" rtlCol="0" anchor="ctr"/>
          <a:lstStyle/>
          <a:p>
            <a:pPr marL="0" indent="0">
              <a:buNone/>
            </a:pPr>
            <a:r>
              <a:rPr lang="en-US" sz="950" i="1" dirty="0">
                <a:solidFill>
                  <a:srgbClr val="90A4AE"/>
                </a:solidFill>
              </a:rPr>
              <a:t>Organisation, rôles, décisions</a:t>
            </a:r>
            <a:endParaRPr lang="en-US" sz="950" dirty="0"/>
          </a:p>
        </p:txBody>
      </p:sp>
      <p:sp>
        <p:nvSpPr>
          <p:cNvPr id="30" name="Shape 28"/>
          <p:cNvSpPr/>
          <p:nvPr/>
        </p:nvSpPr>
        <p:spPr>
          <a:xfrm>
            <a:off x="4709160" y="2039112"/>
            <a:ext cx="4206240" cy="841248"/>
          </a:xfrm>
          <a:prstGeom prst="rect">
            <a:avLst/>
          </a:prstGeom>
          <a:solidFill>
            <a:srgbClr val="FFFFFF"/>
          </a:solidFill>
          <a:ln w="12700">
            <a:solidFill>
              <a:srgbClr val="ECEFF1"/>
            </a:solidFill>
            <a:prstDash val="solid"/>
          </a:ln>
          <a:effectLst>
            <a:outerShdw blurRad="101600" dist="38100" dir="8100000" algn="bl" rotWithShape="0">
              <a:srgbClr val="000000">
                <a:alpha val="14000"/>
              </a:srgbClr>
            </a:outerShdw>
          </a:effectLst>
        </p:spPr>
      </p:sp>
      <p:sp>
        <p:nvSpPr>
          <p:cNvPr id="31" name="Shape 29"/>
          <p:cNvSpPr/>
          <p:nvPr/>
        </p:nvSpPr>
        <p:spPr>
          <a:xfrm>
            <a:off x="4709160" y="2039112"/>
            <a:ext cx="502920" cy="841248"/>
          </a:xfrm>
          <a:prstGeom prst="rect">
            <a:avLst/>
          </a:prstGeom>
          <a:solidFill>
            <a:srgbClr val="0B1D3A"/>
          </a:solidFill>
          <a:ln w="12700">
            <a:solidFill>
              <a:srgbClr val="0B1D3A"/>
            </a:solidFill>
            <a:prstDash val="solid"/>
          </a:ln>
        </p:spPr>
      </p:sp>
      <p:sp>
        <p:nvSpPr>
          <p:cNvPr id="32" name="Text 30"/>
          <p:cNvSpPr/>
          <p:nvPr/>
        </p:nvSpPr>
        <p:spPr>
          <a:xfrm>
            <a:off x="4709160" y="2039112"/>
            <a:ext cx="502920" cy="841248"/>
          </a:xfrm>
          <a:prstGeom prst="rect">
            <a:avLst/>
          </a:prstGeom>
          <a:noFill/>
          <a:ln/>
        </p:spPr>
        <p:txBody>
          <a:bodyPr wrap="square" lIns="0" tIns="0" rIns="0" bIns="0" rtlCol="0" anchor="ctr"/>
          <a:lstStyle/>
          <a:p>
            <a:pPr marL="0" indent="0" algn="ctr">
              <a:buNone/>
            </a:pPr>
            <a:r>
              <a:rPr lang="en-US" sz="1300" b="1" dirty="0">
                <a:solidFill>
                  <a:srgbClr val="F9A825"/>
                </a:solidFill>
              </a:rPr>
              <a:t>06</a:t>
            </a:r>
            <a:endParaRPr lang="en-US" sz="1300" dirty="0"/>
          </a:p>
        </p:txBody>
      </p:sp>
      <p:sp>
        <p:nvSpPr>
          <p:cNvPr id="33" name="Text 31"/>
          <p:cNvSpPr/>
          <p:nvPr/>
        </p:nvSpPr>
        <p:spPr>
          <a:xfrm>
            <a:off x="5303520" y="2093976"/>
            <a:ext cx="3520440" cy="365760"/>
          </a:xfrm>
          <a:prstGeom prst="rect">
            <a:avLst/>
          </a:prstGeom>
          <a:noFill/>
          <a:ln/>
        </p:spPr>
        <p:txBody>
          <a:bodyPr wrap="square" rtlCol="0" anchor="ctr"/>
          <a:lstStyle/>
          <a:p>
            <a:pPr marL="0" indent="0">
              <a:buNone/>
            </a:pPr>
            <a:r>
              <a:rPr lang="en-US" sz="1100" b="1" dirty="0">
                <a:solidFill>
                  <a:srgbClr val="0B1D3A"/>
                </a:solidFill>
              </a:rPr>
              <a:t>Dictionnaire de Données</a:t>
            </a:r>
            <a:endParaRPr lang="en-US" sz="1100" dirty="0"/>
          </a:p>
        </p:txBody>
      </p:sp>
      <p:sp>
        <p:nvSpPr>
          <p:cNvPr id="34" name="Text 32"/>
          <p:cNvSpPr/>
          <p:nvPr/>
        </p:nvSpPr>
        <p:spPr>
          <a:xfrm>
            <a:off x="5303520" y="2478024"/>
            <a:ext cx="3520440" cy="320040"/>
          </a:xfrm>
          <a:prstGeom prst="rect">
            <a:avLst/>
          </a:prstGeom>
          <a:noFill/>
          <a:ln/>
        </p:spPr>
        <p:txBody>
          <a:bodyPr wrap="square" rtlCol="0" anchor="ctr"/>
          <a:lstStyle/>
          <a:p>
            <a:pPr marL="0" indent="0">
              <a:buNone/>
            </a:pPr>
            <a:r>
              <a:rPr lang="en-US" sz="950" i="1" dirty="0">
                <a:solidFill>
                  <a:srgbClr val="90A4AE"/>
                </a:solidFill>
              </a:rPr>
              <a:t>Définitions standardisées</a:t>
            </a:r>
            <a:endParaRPr lang="en-US" sz="950" dirty="0"/>
          </a:p>
        </p:txBody>
      </p:sp>
      <p:sp>
        <p:nvSpPr>
          <p:cNvPr id="35" name="Shape 33"/>
          <p:cNvSpPr/>
          <p:nvPr/>
        </p:nvSpPr>
        <p:spPr>
          <a:xfrm>
            <a:off x="4709160" y="3026664"/>
            <a:ext cx="4206240" cy="841248"/>
          </a:xfrm>
          <a:prstGeom prst="rect">
            <a:avLst/>
          </a:prstGeom>
          <a:solidFill>
            <a:srgbClr val="FFFFFF"/>
          </a:solidFill>
          <a:ln w="12700">
            <a:solidFill>
              <a:srgbClr val="ECEFF1"/>
            </a:solidFill>
            <a:prstDash val="solid"/>
          </a:ln>
          <a:effectLst>
            <a:outerShdw blurRad="101600" dist="38100" dir="8100000" algn="bl" rotWithShape="0">
              <a:srgbClr val="000000">
                <a:alpha val="14000"/>
              </a:srgbClr>
            </a:outerShdw>
          </a:effectLst>
        </p:spPr>
      </p:sp>
      <p:sp>
        <p:nvSpPr>
          <p:cNvPr id="36" name="Shape 34"/>
          <p:cNvSpPr/>
          <p:nvPr/>
        </p:nvSpPr>
        <p:spPr>
          <a:xfrm>
            <a:off x="4709160" y="3026664"/>
            <a:ext cx="502920" cy="841248"/>
          </a:xfrm>
          <a:prstGeom prst="rect">
            <a:avLst/>
          </a:prstGeom>
          <a:solidFill>
            <a:srgbClr val="0B1D3A"/>
          </a:solidFill>
          <a:ln w="12700">
            <a:solidFill>
              <a:srgbClr val="0B1D3A"/>
            </a:solidFill>
            <a:prstDash val="solid"/>
          </a:ln>
        </p:spPr>
      </p:sp>
      <p:sp>
        <p:nvSpPr>
          <p:cNvPr id="37" name="Text 35"/>
          <p:cNvSpPr/>
          <p:nvPr/>
        </p:nvSpPr>
        <p:spPr>
          <a:xfrm>
            <a:off x="4709160" y="3026664"/>
            <a:ext cx="502920" cy="841248"/>
          </a:xfrm>
          <a:prstGeom prst="rect">
            <a:avLst/>
          </a:prstGeom>
          <a:noFill/>
          <a:ln/>
        </p:spPr>
        <p:txBody>
          <a:bodyPr wrap="square" lIns="0" tIns="0" rIns="0" bIns="0" rtlCol="0" anchor="ctr"/>
          <a:lstStyle/>
          <a:p>
            <a:pPr marL="0" indent="0" algn="ctr">
              <a:buNone/>
            </a:pPr>
            <a:r>
              <a:rPr lang="en-US" sz="1300" b="1" dirty="0">
                <a:solidFill>
                  <a:srgbClr val="F9A825"/>
                </a:solidFill>
              </a:rPr>
              <a:t>07</a:t>
            </a:r>
            <a:endParaRPr lang="en-US" sz="1300" dirty="0"/>
          </a:p>
        </p:txBody>
      </p:sp>
      <p:sp>
        <p:nvSpPr>
          <p:cNvPr id="38" name="Text 36"/>
          <p:cNvSpPr/>
          <p:nvPr/>
        </p:nvSpPr>
        <p:spPr>
          <a:xfrm>
            <a:off x="5303520" y="3081528"/>
            <a:ext cx="3520440" cy="365760"/>
          </a:xfrm>
          <a:prstGeom prst="rect">
            <a:avLst/>
          </a:prstGeom>
          <a:noFill/>
          <a:ln/>
        </p:spPr>
        <p:txBody>
          <a:bodyPr wrap="square" rtlCol="0" anchor="ctr"/>
          <a:lstStyle/>
          <a:p>
            <a:pPr marL="0" indent="0">
              <a:buNone/>
            </a:pPr>
            <a:r>
              <a:rPr lang="en-US" sz="1100" b="1" dirty="0">
                <a:solidFill>
                  <a:srgbClr val="0B1D3A"/>
                </a:solidFill>
              </a:rPr>
              <a:t>Roadmap &amp; KPIs</a:t>
            </a:r>
            <a:endParaRPr lang="en-US" sz="1100" dirty="0"/>
          </a:p>
        </p:txBody>
      </p:sp>
      <p:sp>
        <p:nvSpPr>
          <p:cNvPr id="39" name="Text 37"/>
          <p:cNvSpPr/>
          <p:nvPr/>
        </p:nvSpPr>
        <p:spPr>
          <a:xfrm>
            <a:off x="5303520" y="3465576"/>
            <a:ext cx="3520440" cy="320040"/>
          </a:xfrm>
          <a:prstGeom prst="rect">
            <a:avLst/>
          </a:prstGeom>
          <a:noFill/>
          <a:ln/>
        </p:spPr>
        <p:txBody>
          <a:bodyPr wrap="square" rtlCol="0" anchor="ctr"/>
          <a:lstStyle/>
          <a:p>
            <a:pPr marL="0" indent="0">
              <a:buNone/>
            </a:pPr>
            <a:r>
              <a:rPr lang="en-US" sz="950" i="1" dirty="0">
                <a:solidFill>
                  <a:srgbClr val="90A4AE"/>
                </a:solidFill>
              </a:rPr>
              <a:t>Phases, jalons, indicateurs de succès</a:t>
            </a:r>
            <a:endParaRPr lang="en-US" sz="950" dirty="0"/>
          </a:p>
        </p:txBody>
      </p:sp>
      <p:sp>
        <p:nvSpPr>
          <p:cNvPr id="40" name="Shape 38"/>
          <p:cNvSpPr/>
          <p:nvPr/>
        </p:nvSpPr>
        <p:spPr>
          <a:xfrm>
            <a:off x="4709160" y="4014216"/>
            <a:ext cx="4206240" cy="841248"/>
          </a:xfrm>
          <a:prstGeom prst="rect">
            <a:avLst/>
          </a:prstGeom>
          <a:solidFill>
            <a:srgbClr val="FFFFFF"/>
          </a:solidFill>
          <a:ln w="12700">
            <a:solidFill>
              <a:srgbClr val="ECEFF1"/>
            </a:solidFill>
            <a:prstDash val="solid"/>
          </a:ln>
          <a:effectLst>
            <a:outerShdw blurRad="101600" dist="38100" dir="8100000" algn="bl" rotWithShape="0">
              <a:srgbClr val="000000">
                <a:alpha val="14000"/>
              </a:srgbClr>
            </a:outerShdw>
          </a:effectLst>
        </p:spPr>
      </p:sp>
      <p:sp>
        <p:nvSpPr>
          <p:cNvPr id="41" name="Shape 39"/>
          <p:cNvSpPr/>
          <p:nvPr/>
        </p:nvSpPr>
        <p:spPr>
          <a:xfrm>
            <a:off x="4709160" y="4014216"/>
            <a:ext cx="502920" cy="841248"/>
          </a:xfrm>
          <a:prstGeom prst="rect">
            <a:avLst/>
          </a:prstGeom>
          <a:solidFill>
            <a:srgbClr val="0B1D3A"/>
          </a:solidFill>
          <a:ln w="12700">
            <a:solidFill>
              <a:srgbClr val="0B1D3A"/>
            </a:solidFill>
            <a:prstDash val="solid"/>
          </a:ln>
        </p:spPr>
      </p:sp>
      <p:sp>
        <p:nvSpPr>
          <p:cNvPr id="42" name="Text 40"/>
          <p:cNvSpPr/>
          <p:nvPr/>
        </p:nvSpPr>
        <p:spPr>
          <a:xfrm>
            <a:off x="4709160" y="4014216"/>
            <a:ext cx="502920" cy="841248"/>
          </a:xfrm>
          <a:prstGeom prst="rect">
            <a:avLst/>
          </a:prstGeom>
          <a:noFill/>
          <a:ln/>
        </p:spPr>
        <p:txBody>
          <a:bodyPr wrap="square" lIns="0" tIns="0" rIns="0" bIns="0" rtlCol="0" anchor="ctr"/>
          <a:lstStyle/>
          <a:p>
            <a:pPr marL="0" indent="0" algn="ctr">
              <a:buNone/>
            </a:pPr>
            <a:r>
              <a:rPr lang="en-US" sz="1300" b="1" dirty="0">
                <a:solidFill>
                  <a:srgbClr val="F9A825"/>
                </a:solidFill>
              </a:rPr>
              <a:t>08</a:t>
            </a:r>
            <a:endParaRPr lang="en-US" sz="1300" dirty="0"/>
          </a:p>
        </p:txBody>
      </p:sp>
      <p:sp>
        <p:nvSpPr>
          <p:cNvPr id="43" name="Text 41"/>
          <p:cNvSpPr/>
          <p:nvPr/>
        </p:nvSpPr>
        <p:spPr>
          <a:xfrm>
            <a:off x="5303520" y="4069080"/>
            <a:ext cx="3520440" cy="365760"/>
          </a:xfrm>
          <a:prstGeom prst="rect">
            <a:avLst/>
          </a:prstGeom>
          <a:noFill/>
          <a:ln/>
        </p:spPr>
        <p:txBody>
          <a:bodyPr wrap="square" rtlCol="0" anchor="ctr"/>
          <a:lstStyle/>
          <a:p>
            <a:pPr marL="0" indent="0">
              <a:buNone/>
            </a:pPr>
            <a:r>
              <a:rPr lang="en-US" sz="1100" b="1" dirty="0">
                <a:solidFill>
                  <a:srgbClr val="0B1D3A"/>
                </a:solidFill>
              </a:rPr>
              <a:t>Bénéfices &amp; Conclusion</a:t>
            </a:r>
            <a:endParaRPr lang="en-US" sz="1100" dirty="0"/>
          </a:p>
        </p:txBody>
      </p:sp>
      <p:sp>
        <p:nvSpPr>
          <p:cNvPr id="44" name="Text 42"/>
          <p:cNvSpPr/>
          <p:nvPr/>
        </p:nvSpPr>
        <p:spPr>
          <a:xfrm>
            <a:off x="5303520" y="4453128"/>
            <a:ext cx="3520440" cy="320040"/>
          </a:xfrm>
          <a:prstGeom prst="rect">
            <a:avLst/>
          </a:prstGeom>
          <a:noFill/>
          <a:ln/>
        </p:spPr>
        <p:txBody>
          <a:bodyPr wrap="square" rtlCol="0" anchor="ctr"/>
          <a:lstStyle/>
          <a:p>
            <a:pPr marL="0" indent="0">
              <a:buNone/>
            </a:pPr>
            <a:r>
              <a:rPr lang="en-US" sz="950" i="1" dirty="0">
                <a:solidFill>
                  <a:srgbClr val="90A4AE"/>
                </a:solidFill>
              </a:rPr>
              <a:t>Impact pour Vision Bank</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Shape 1"/>
          <p:cNvSpPr/>
          <p:nvPr/>
        </p:nvSpPr>
        <p:spPr>
          <a:xfrm>
            <a:off x="0" y="0"/>
            <a:ext cx="54864" cy="5143500"/>
          </a:xfrm>
          <a:prstGeom prst="rect">
            <a:avLst/>
          </a:prstGeom>
          <a:solidFill>
            <a:srgbClr val="F9A825"/>
          </a:solidFill>
          <a:ln w="12700">
            <a:solidFill>
              <a:srgbClr val="F9A825"/>
            </a:solidFill>
            <a:prstDash val="solid"/>
          </a:ln>
        </p:spPr>
      </p:sp>
      <p:sp>
        <p:nvSpPr>
          <p:cNvPr id="4" name="Text 2"/>
          <p:cNvSpPr/>
          <p:nvPr/>
        </p:nvSpPr>
        <p:spPr>
          <a:xfrm>
            <a:off x="228600" y="137160"/>
            <a:ext cx="8686800" cy="6858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01 – Contexte &amp; Problématique : Vision Bank</a:t>
            </a:r>
            <a:endParaRPr lang="en-US" sz="2200" dirty="0"/>
          </a:p>
        </p:txBody>
      </p:sp>
      <p:sp>
        <p:nvSpPr>
          <p:cNvPr id="5" name="Shape 3"/>
          <p:cNvSpPr/>
          <p:nvPr/>
        </p:nvSpPr>
        <p:spPr>
          <a:xfrm>
            <a:off x="182880" y="1051560"/>
            <a:ext cx="4023360" cy="384048"/>
          </a:xfrm>
          <a:prstGeom prst="rect">
            <a:avLst/>
          </a:prstGeom>
          <a:solidFill>
            <a:srgbClr val="1565C0"/>
          </a:solidFill>
          <a:ln w="12700">
            <a:solidFill>
              <a:srgbClr val="1565C0"/>
            </a:solidFill>
            <a:prstDash val="solid"/>
          </a:ln>
        </p:spPr>
      </p:sp>
      <p:sp>
        <p:nvSpPr>
          <p:cNvPr id="6" name="Text 4"/>
          <p:cNvSpPr/>
          <p:nvPr/>
        </p:nvSpPr>
        <p:spPr>
          <a:xfrm>
            <a:off x="182880" y="1051560"/>
            <a:ext cx="4023360" cy="384048"/>
          </a:xfrm>
          <a:prstGeom prst="rect">
            <a:avLst/>
          </a:prstGeom>
          <a:noFill/>
          <a:ln/>
        </p:spPr>
        <p:txBody>
          <a:bodyPr wrap="square" lIns="0" tIns="0" rIns="0" bIns="0" rtlCol="0" anchor="ctr"/>
          <a:lstStyle/>
          <a:p>
            <a:pPr marL="0" indent="0" algn="ctr">
              <a:buNone/>
            </a:pPr>
            <a:r>
              <a:rPr lang="en-US" sz="1100" b="1" dirty="0">
                <a:solidFill>
                  <a:srgbClr val="FFFFFF"/>
                </a:solidFill>
              </a:rPr>
              <a:t>Systèmes d'Information actuels</a:t>
            </a:r>
            <a:endParaRPr lang="en-US" sz="1100" dirty="0"/>
          </a:p>
        </p:txBody>
      </p:sp>
      <p:sp>
        <p:nvSpPr>
          <p:cNvPr id="7" name="Shape 5"/>
          <p:cNvSpPr/>
          <p:nvPr/>
        </p:nvSpPr>
        <p:spPr>
          <a:xfrm>
            <a:off x="182880" y="1508760"/>
            <a:ext cx="4023360" cy="420624"/>
          </a:xfrm>
          <a:prstGeom prst="rect">
            <a:avLst/>
          </a:prstGeom>
          <a:solidFill>
            <a:srgbClr val="FFFFFF"/>
          </a:solidFill>
          <a:ln w="12700">
            <a:solidFill>
              <a:srgbClr val="ECEFF1"/>
            </a:solidFill>
            <a:prstDash val="solid"/>
          </a:ln>
        </p:spPr>
      </p:sp>
      <p:pic>
        <p:nvPicPr>
          <p:cNvPr id="8" name="Image 0" descr="preencoded.png"/>
          <p:cNvPicPr>
            <a:picLocks noChangeAspect="1"/>
          </p:cNvPicPr>
          <p:nvPr/>
        </p:nvPicPr>
        <p:blipFill>
          <a:blip r:embed="rId3"/>
          <a:stretch>
            <a:fillRect/>
          </a:stretch>
        </p:blipFill>
        <p:spPr>
          <a:xfrm>
            <a:off x="292608" y="1572768"/>
            <a:ext cx="256032" cy="256032"/>
          </a:xfrm>
          <a:prstGeom prst="rect">
            <a:avLst/>
          </a:prstGeom>
        </p:spPr>
      </p:pic>
      <p:sp>
        <p:nvSpPr>
          <p:cNvPr id="9" name="Text 6"/>
          <p:cNvSpPr/>
          <p:nvPr/>
        </p:nvSpPr>
        <p:spPr>
          <a:xfrm>
            <a:off x="658368" y="1563624"/>
            <a:ext cx="3429000" cy="320040"/>
          </a:xfrm>
          <a:prstGeom prst="rect">
            <a:avLst/>
          </a:prstGeom>
          <a:noFill/>
          <a:ln/>
        </p:spPr>
        <p:txBody>
          <a:bodyPr wrap="square" rtlCol="0" anchor="ctr"/>
          <a:lstStyle/>
          <a:p>
            <a:pPr marL="0" indent="0">
              <a:buNone/>
            </a:pPr>
            <a:r>
              <a:rPr lang="en-US" sz="1000" dirty="0">
                <a:solidFill>
                  <a:srgbClr val="0B1D3A"/>
                </a:solidFill>
              </a:rPr>
              <a:t>Core Banking System (CBS)</a:t>
            </a:r>
            <a:endParaRPr lang="en-US" sz="1000" dirty="0"/>
          </a:p>
        </p:txBody>
      </p:sp>
      <p:sp>
        <p:nvSpPr>
          <p:cNvPr id="10" name="Shape 7"/>
          <p:cNvSpPr/>
          <p:nvPr/>
        </p:nvSpPr>
        <p:spPr>
          <a:xfrm>
            <a:off x="182880" y="1984248"/>
            <a:ext cx="4023360" cy="420624"/>
          </a:xfrm>
          <a:prstGeom prst="rect">
            <a:avLst/>
          </a:prstGeom>
          <a:solidFill>
            <a:srgbClr val="F4F6FB"/>
          </a:solidFill>
          <a:ln w="12700">
            <a:solidFill>
              <a:srgbClr val="ECEFF1"/>
            </a:solidFill>
            <a:prstDash val="solid"/>
          </a:ln>
        </p:spPr>
      </p:sp>
      <p:pic>
        <p:nvPicPr>
          <p:cNvPr id="11" name="Image 1" descr="preencoded.png"/>
          <p:cNvPicPr>
            <a:picLocks noChangeAspect="1"/>
          </p:cNvPicPr>
          <p:nvPr/>
        </p:nvPicPr>
        <p:blipFill>
          <a:blip r:embed="rId4"/>
          <a:stretch>
            <a:fillRect/>
          </a:stretch>
        </p:blipFill>
        <p:spPr>
          <a:xfrm>
            <a:off x="292608" y="2048256"/>
            <a:ext cx="256032" cy="256032"/>
          </a:xfrm>
          <a:prstGeom prst="rect">
            <a:avLst/>
          </a:prstGeom>
        </p:spPr>
      </p:pic>
      <p:sp>
        <p:nvSpPr>
          <p:cNvPr id="12" name="Text 8"/>
          <p:cNvSpPr/>
          <p:nvPr/>
        </p:nvSpPr>
        <p:spPr>
          <a:xfrm>
            <a:off x="658368" y="2039112"/>
            <a:ext cx="3429000" cy="320040"/>
          </a:xfrm>
          <a:prstGeom prst="rect">
            <a:avLst/>
          </a:prstGeom>
          <a:noFill/>
          <a:ln/>
        </p:spPr>
        <p:txBody>
          <a:bodyPr wrap="square" rtlCol="0" anchor="ctr"/>
          <a:lstStyle/>
          <a:p>
            <a:pPr marL="0" indent="0">
              <a:buNone/>
            </a:pPr>
            <a:r>
              <a:rPr lang="en-US" sz="1000" dirty="0">
                <a:solidFill>
                  <a:srgbClr val="0B1D3A"/>
                </a:solidFill>
              </a:rPr>
              <a:t>Gestion des Crédits</a:t>
            </a:r>
            <a:endParaRPr lang="en-US" sz="1000" dirty="0"/>
          </a:p>
        </p:txBody>
      </p:sp>
      <p:sp>
        <p:nvSpPr>
          <p:cNvPr id="13" name="Shape 9"/>
          <p:cNvSpPr/>
          <p:nvPr/>
        </p:nvSpPr>
        <p:spPr>
          <a:xfrm>
            <a:off x="182880" y="2459736"/>
            <a:ext cx="4023360" cy="420624"/>
          </a:xfrm>
          <a:prstGeom prst="rect">
            <a:avLst/>
          </a:prstGeom>
          <a:solidFill>
            <a:srgbClr val="FFFFFF"/>
          </a:solidFill>
          <a:ln w="12700">
            <a:solidFill>
              <a:srgbClr val="ECEFF1"/>
            </a:solidFill>
            <a:prstDash val="solid"/>
          </a:ln>
        </p:spPr>
      </p:sp>
      <p:pic>
        <p:nvPicPr>
          <p:cNvPr id="14" name="Image 2" descr="preencoded.png"/>
          <p:cNvPicPr>
            <a:picLocks noChangeAspect="1"/>
          </p:cNvPicPr>
          <p:nvPr/>
        </p:nvPicPr>
        <p:blipFill>
          <a:blip r:embed="rId5"/>
          <a:stretch>
            <a:fillRect/>
          </a:stretch>
        </p:blipFill>
        <p:spPr>
          <a:xfrm>
            <a:off x="292608" y="2523744"/>
            <a:ext cx="256032" cy="256032"/>
          </a:xfrm>
          <a:prstGeom prst="rect">
            <a:avLst/>
          </a:prstGeom>
        </p:spPr>
      </p:pic>
      <p:sp>
        <p:nvSpPr>
          <p:cNvPr id="15" name="Text 10"/>
          <p:cNvSpPr/>
          <p:nvPr/>
        </p:nvSpPr>
        <p:spPr>
          <a:xfrm>
            <a:off x="658368" y="2514600"/>
            <a:ext cx="3429000" cy="320040"/>
          </a:xfrm>
          <a:prstGeom prst="rect">
            <a:avLst/>
          </a:prstGeom>
          <a:noFill/>
          <a:ln/>
        </p:spPr>
        <p:txBody>
          <a:bodyPr wrap="square" rtlCol="0" anchor="ctr"/>
          <a:lstStyle/>
          <a:p>
            <a:pPr marL="0" indent="0">
              <a:buNone/>
            </a:pPr>
            <a:r>
              <a:rPr lang="en-US" sz="1000" dirty="0">
                <a:solidFill>
                  <a:srgbClr val="0B1D3A"/>
                </a:solidFill>
              </a:rPr>
              <a:t>Comptabilité Bancaire</a:t>
            </a:r>
            <a:endParaRPr lang="en-US" sz="1000" dirty="0"/>
          </a:p>
        </p:txBody>
      </p:sp>
      <p:sp>
        <p:nvSpPr>
          <p:cNvPr id="16" name="Shape 11"/>
          <p:cNvSpPr/>
          <p:nvPr/>
        </p:nvSpPr>
        <p:spPr>
          <a:xfrm>
            <a:off x="182880" y="2935224"/>
            <a:ext cx="4023360" cy="420624"/>
          </a:xfrm>
          <a:prstGeom prst="rect">
            <a:avLst/>
          </a:prstGeom>
          <a:solidFill>
            <a:srgbClr val="F4F6FB"/>
          </a:solidFill>
          <a:ln w="12700">
            <a:solidFill>
              <a:srgbClr val="ECEFF1"/>
            </a:solidFill>
            <a:prstDash val="solid"/>
          </a:ln>
        </p:spPr>
      </p:sp>
      <p:pic>
        <p:nvPicPr>
          <p:cNvPr id="17" name="Image 3" descr="preencoded.png"/>
          <p:cNvPicPr>
            <a:picLocks noChangeAspect="1"/>
          </p:cNvPicPr>
          <p:nvPr/>
        </p:nvPicPr>
        <p:blipFill>
          <a:blip r:embed="rId6"/>
          <a:stretch>
            <a:fillRect/>
          </a:stretch>
        </p:blipFill>
        <p:spPr>
          <a:xfrm>
            <a:off x="292608" y="2999232"/>
            <a:ext cx="256032" cy="256032"/>
          </a:xfrm>
          <a:prstGeom prst="rect">
            <a:avLst/>
          </a:prstGeom>
        </p:spPr>
      </p:pic>
      <p:sp>
        <p:nvSpPr>
          <p:cNvPr id="18" name="Text 12"/>
          <p:cNvSpPr/>
          <p:nvPr/>
        </p:nvSpPr>
        <p:spPr>
          <a:xfrm>
            <a:off x="658368" y="2990088"/>
            <a:ext cx="3429000" cy="320040"/>
          </a:xfrm>
          <a:prstGeom prst="rect">
            <a:avLst/>
          </a:prstGeom>
          <a:noFill/>
          <a:ln/>
        </p:spPr>
        <p:txBody>
          <a:bodyPr wrap="square" rtlCol="0" anchor="ctr"/>
          <a:lstStyle/>
          <a:p>
            <a:pPr marL="0" indent="0">
              <a:buNone/>
            </a:pPr>
            <a:r>
              <a:rPr lang="en-US" sz="1000" dirty="0">
                <a:solidFill>
                  <a:srgbClr val="0B1D3A"/>
                </a:solidFill>
              </a:rPr>
              <a:t>Mobile / Digital Banking</a:t>
            </a:r>
            <a:endParaRPr lang="en-US" sz="1000" dirty="0"/>
          </a:p>
        </p:txBody>
      </p:sp>
      <p:sp>
        <p:nvSpPr>
          <p:cNvPr id="19" name="Shape 13"/>
          <p:cNvSpPr/>
          <p:nvPr/>
        </p:nvSpPr>
        <p:spPr>
          <a:xfrm>
            <a:off x="182880" y="3410712"/>
            <a:ext cx="4023360" cy="420624"/>
          </a:xfrm>
          <a:prstGeom prst="rect">
            <a:avLst/>
          </a:prstGeom>
          <a:solidFill>
            <a:srgbClr val="FFFFFF"/>
          </a:solidFill>
          <a:ln w="12700">
            <a:solidFill>
              <a:srgbClr val="ECEFF1"/>
            </a:solidFill>
            <a:prstDash val="solid"/>
          </a:ln>
        </p:spPr>
      </p:sp>
      <p:pic>
        <p:nvPicPr>
          <p:cNvPr id="20" name="Image 4" descr="preencoded.png"/>
          <p:cNvPicPr>
            <a:picLocks noChangeAspect="1"/>
          </p:cNvPicPr>
          <p:nvPr/>
        </p:nvPicPr>
        <p:blipFill>
          <a:blip r:embed="rId7"/>
          <a:stretch>
            <a:fillRect/>
          </a:stretch>
        </p:blipFill>
        <p:spPr>
          <a:xfrm>
            <a:off x="292608" y="3474720"/>
            <a:ext cx="256032" cy="256032"/>
          </a:xfrm>
          <a:prstGeom prst="rect">
            <a:avLst/>
          </a:prstGeom>
        </p:spPr>
      </p:pic>
      <p:sp>
        <p:nvSpPr>
          <p:cNvPr id="21" name="Text 14"/>
          <p:cNvSpPr/>
          <p:nvPr/>
        </p:nvSpPr>
        <p:spPr>
          <a:xfrm>
            <a:off x="658368" y="3465576"/>
            <a:ext cx="3429000" cy="320040"/>
          </a:xfrm>
          <a:prstGeom prst="rect">
            <a:avLst/>
          </a:prstGeom>
          <a:noFill/>
          <a:ln/>
        </p:spPr>
        <p:txBody>
          <a:bodyPr wrap="square" rtlCol="0" anchor="ctr"/>
          <a:lstStyle/>
          <a:p>
            <a:pPr marL="0" indent="0">
              <a:buNone/>
            </a:pPr>
            <a:r>
              <a:rPr lang="en-US" sz="1000" dirty="0">
                <a:solidFill>
                  <a:srgbClr val="0B1D3A"/>
                </a:solidFill>
              </a:rPr>
              <a:t>Reporting &amp; BI</a:t>
            </a:r>
            <a:endParaRPr lang="en-US" sz="1000" dirty="0"/>
          </a:p>
        </p:txBody>
      </p:sp>
      <p:sp>
        <p:nvSpPr>
          <p:cNvPr id="22" name="Shape 15"/>
          <p:cNvSpPr/>
          <p:nvPr/>
        </p:nvSpPr>
        <p:spPr>
          <a:xfrm>
            <a:off x="182880" y="3886200"/>
            <a:ext cx="4023360" cy="420624"/>
          </a:xfrm>
          <a:prstGeom prst="rect">
            <a:avLst/>
          </a:prstGeom>
          <a:solidFill>
            <a:srgbClr val="F4F6FB"/>
          </a:solidFill>
          <a:ln w="12700">
            <a:solidFill>
              <a:srgbClr val="ECEFF1"/>
            </a:solidFill>
            <a:prstDash val="solid"/>
          </a:ln>
        </p:spPr>
      </p:sp>
      <p:pic>
        <p:nvPicPr>
          <p:cNvPr id="23" name="Image 5" descr="preencoded.png"/>
          <p:cNvPicPr>
            <a:picLocks noChangeAspect="1"/>
          </p:cNvPicPr>
          <p:nvPr/>
        </p:nvPicPr>
        <p:blipFill>
          <a:blip r:embed="rId8"/>
          <a:stretch>
            <a:fillRect/>
          </a:stretch>
        </p:blipFill>
        <p:spPr>
          <a:xfrm>
            <a:off x="292608" y="3950208"/>
            <a:ext cx="256032" cy="256032"/>
          </a:xfrm>
          <a:prstGeom prst="rect">
            <a:avLst/>
          </a:prstGeom>
        </p:spPr>
      </p:pic>
      <p:sp>
        <p:nvSpPr>
          <p:cNvPr id="24" name="Text 16"/>
          <p:cNvSpPr/>
          <p:nvPr/>
        </p:nvSpPr>
        <p:spPr>
          <a:xfrm>
            <a:off x="658368" y="3941064"/>
            <a:ext cx="3429000" cy="320040"/>
          </a:xfrm>
          <a:prstGeom prst="rect">
            <a:avLst/>
          </a:prstGeom>
          <a:noFill/>
          <a:ln/>
        </p:spPr>
        <p:txBody>
          <a:bodyPr wrap="square" rtlCol="0" anchor="ctr"/>
          <a:lstStyle/>
          <a:p>
            <a:pPr marL="0" indent="0">
              <a:buNone/>
            </a:pPr>
            <a:r>
              <a:rPr lang="en-US" sz="1000" dirty="0">
                <a:solidFill>
                  <a:srgbClr val="0B1D3A"/>
                </a:solidFill>
              </a:rPr>
              <a:t>Applications Agences</a:t>
            </a:r>
            <a:endParaRPr lang="en-US" sz="1000" dirty="0"/>
          </a:p>
        </p:txBody>
      </p:sp>
      <p:sp>
        <p:nvSpPr>
          <p:cNvPr id="25" name="Shape 17"/>
          <p:cNvSpPr/>
          <p:nvPr/>
        </p:nvSpPr>
        <p:spPr>
          <a:xfrm>
            <a:off x="182880" y="4361688"/>
            <a:ext cx="4023360" cy="420624"/>
          </a:xfrm>
          <a:prstGeom prst="rect">
            <a:avLst/>
          </a:prstGeom>
          <a:solidFill>
            <a:srgbClr val="FFFFFF"/>
          </a:solidFill>
          <a:ln w="12700">
            <a:solidFill>
              <a:srgbClr val="ECEFF1"/>
            </a:solidFill>
            <a:prstDash val="solid"/>
          </a:ln>
        </p:spPr>
      </p:sp>
      <p:pic>
        <p:nvPicPr>
          <p:cNvPr id="26" name="Image 6" descr="preencoded.png"/>
          <p:cNvPicPr>
            <a:picLocks noChangeAspect="1"/>
          </p:cNvPicPr>
          <p:nvPr/>
        </p:nvPicPr>
        <p:blipFill>
          <a:blip r:embed="rId9"/>
          <a:stretch>
            <a:fillRect/>
          </a:stretch>
        </p:blipFill>
        <p:spPr>
          <a:xfrm>
            <a:off x="292608" y="4425696"/>
            <a:ext cx="256032" cy="256032"/>
          </a:xfrm>
          <a:prstGeom prst="rect">
            <a:avLst/>
          </a:prstGeom>
        </p:spPr>
      </p:pic>
      <p:sp>
        <p:nvSpPr>
          <p:cNvPr id="27" name="Text 18"/>
          <p:cNvSpPr/>
          <p:nvPr/>
        </p:nvSpPr>
        <p:spPr>
          <a:xfrm>
            <a:off x="658368" y="4416552"/>
            <a:ext cx="3429000" cy="320040"/>
          </a:xfrm>
          <a:prstGeom prst="rect">
            <a:avLst/>
          </a:prstGeom>
          <a:noFill/>
          <a:ln/>
        </p:spPr>
        <p:txBody>
          <a:bodyPr wrap="square" rtlCol="0" anchor="ctr"/>
          <a:lstStyle/>
          <a:p>
            <a:pPr marL="0" indent="0">
              <a:buNone/>
            </a:pPr>
            <a:r>
              <a:rPr lang="en-US" sz="1000" dirty="0">
                <a:solidFill>
                  <a:srgbClr val="0B1D3A"/>
                </a:solidFill>
              </a:rPr>
              <a:t>Outils bureautiques (Excel)</a:t>
            </a:r>
            <a:endParaRPr lang="en-US" sz="1000" dirty="0"/>
          </a:p>
        </p:txBody>
      </p:sp>
      <p:sp>
        <p:nvSpPr>
          <p:cNvPr id="28" name="Shape 19"/>
          <p:cNvSpPr/>
          <p:nvPr/>
        </p:nvSpPr>
        <p:spPr>
          <a:xfrm>
            <a:off x="4407408" y="1051560"/>
            <a:ext cx="4553712" cy="384048"/>
          </a:xfrm>
          <a:prstGeom prst="rect">
            <a:avLst/>
          </a:prstGeom>
          <a:solidFill>
            <a:srgbClr val="C62828"/>
          </a:solidFill>
          <a:ln w="12700">
            <a:solidFill>
              <a:srgbClr val="C62828"/>
            </a:solidFill>
            <a:prstDash val="solid"/>
          </a:ln>
        </p:spPr>
      </p:sp>
      <p:sp>
        <p:nvSpPr>
          <p:cNvPr id="29" name="Text 20"/>
          <p:cNvSpPr/>
          <p:nvPr/>
        </p:nvSpPr>
        <p:spPr>
          <a:xfrm>
            <a:off x="4407408" y="1051560"/>
            <a:ext cx="4553712" cy="384048"/>
          </a:xfrm>
          <a:prstGeom prst="rect">
            <a:avLst/>
          </a:prstGeom>
          <a:noFill/>
          <a:ln/>
        </p:spPr>
        <p:txBody>
          <a:bodyPr wrap="square" lIns="0" tIns="0" rIns="0" bIns="0" rtlCol="0" anchor="ctr"/>
          <a:lstStyle/>
          <a:p>
            <a:pPr marL="0" indent="0" algn="ctr">
              <a:buNone/>
            </a:pPr>
            <a:r>
              <a:rPr lang="en-US" sz="1100" b="1" dirty="0">
                <a:solidFill>
                  <a:srgbClr val="FFFFFF"/>
                </a:solidFill>
              </a:rPr>
              <a:t>Risques identifiés sans gouvernance</a:t>
            </a:r>
            <a:endParaRPr lang="en-US" sz="1100" dirty="0"/>
          </a:p>
        </p:txBody>
      </p:sp>
      <p:sp>
        <p:nvSpPr>
          <p:cNvPr id="30" name="Shape 21"/>
          <p:cNvSpPr/>
          <p:nvPr/>
        </p:nvSpPr>
        <p:spPr>
          <a:xfrm>
            <a:off x="4407408" y="1508760"/>
            <a:ext cx="4553712" cy="420624"/>
          </a:xfrm>
          <a:prstGeom prst="rect">
            <a:avLst/>
          </a:prstGeom>
          <a:solidFill>
            <a:srgbClr val="FFFFFF"/>
          </a:solidFill>
          <a:ln w="12700">
            <a:solidFill>
              <a:srgbClr val="FFCDD2"/>
            </a:solidFill>
            <a:prstDash val="solid"/>
          </a:ln>
        </p:spPr>
      </p:sp>
      <p:pic>
        <p:nvPicPr>
          <p:cNvPr id="31" name="Image 7" descr="preencoded.png"/>
          <p:cNvPicPr>
            <a:picLocks noChangeAspect="1"/>
          </p:cNvPicPr>
          <p:nvPr/>
        </p:nvPicPr>
        <p:blipFill>
          <a:blip r:embed="rId10"/>
          <a:stretch>
            <a:fillRect/>
          </a:stretch>
        </p:blipFill>
        <p:spPr>
          <a:xfrm>
            <a:off x="4517136" y="1572768"/>
            <a:ext cx="256032" cy="256032"/>
          </a:xfrm>
          <a:prstGeom prst="rect">
            <a:avLst/>
          </a:prstGeom>
        </p:spPr>
      </p:pic>
      <p:sp>
        <p:nvSpPr>
          <p:cNvPr id="32" name="Text 22"/>
          <p:cNvSpPr/>
          <p:nvPr/>
        </p:nvSpPr>
        <p:spPr>
          <a:xfrm>
            <a:off x="4846320" y="1563624"/>
            <a:ext cx="4023360" cy="320040"/>
          </a:xfrm>
          <a:prstGeom prst="rect">
            <a:avLst/>
          </a:prstGeom>
          <a:noFill/>
          <a:ln/>
        </p:spPr>
        <p:txBody>
          <a:bodyPr wrap="square" rtlCol="0" anchor="ctr"/>
          <a:lstStyle/>
          <a:p>
            <a:pPr marL="0" indent="0">
              <a:buNone/>
            </a:pPr>
            <a:r>
              <a:rPr lang="en-US" sz="1000" dirty="0">
                <a:solidFill>
                  <a:srgbClr val="455A64"/>
                </a:solidFill>
              </a:rPr>
              <a:t>Définitions différentes des indicateurs métiers</a:t>
            </a:r>
            <a:endParaRPr lang="en-US" sz="1000" dirty="0"/>
          </a:p>
        </p:txBody>
      </p:sp>
      <p:sp>
        <p:nvSpPr>
          <p:cNvPr id="33" name="Shape 23"/>
          <p:cNvSpPr/>
          <p:nvPr/>
        </p:nvSpPr>
        <p:spPr>
          <a:xfrm>
            <a:off x="4407408" y="1984248"/>
            <a:ext cx="4553712" cy="420624"/>
          </a:xfrm>
          <a:prstGeom prst="rect">
            <a:avLst/>
          </a:prstGeom>
          <a:solidFill>
            <a:srgbClr val="FFF8F8"/>
          </a:solidFill>
          <a:ln w="12700">
            <a:solidFill>
              <a:srgbClr val="FFCDD2"/>
            </a:solidFill>
            <a:prstDash val="solid"/>
          </a:ln>
        </p:spPr>
      </p:sp>
      <p:pic>
        <p:nvPicPr>
          <p:cNvPr id="34" name="Image 8" descr="preencoded.png"/>
          <p:cNvPicPr>
            <a:picLocks noChangeAspect="1"/>
          </p:cNvPicPr>
          <p:nvPr/>
        </p:nvPicPr>
        <p:blipFill>
          <a:blip r:embed="rId10"/>
          <a:stretch>
            <a:fillRect/>
          </a:stretch>
        </p:blipFill>
        <p:spPr>
          <a:xfrm>
            <a:off x="4517136" y="2048256"/>
            <a:ext cx="256032" cy="256032"/>
          </a:xfrm>
          <a:prstGeom prst="rect">
            <a:avLst/>
          </a:prstGeom>
        </p:spPr>
      </p:pic>
      <p:sp>
        <p:nvSpPr>
          <p:cNvPr id="35" name="Text 24"/>
          <p:cNvSpPr/>
          <p:nvPr/>
        </p:nvSpPr>
        <p:spPr>
          <a:xfrm>
            <a:off x="4846320" y="2039112"/>
            <a:ext cx="4023360" cy="320040"/>
          </a:xfrm>
          <a:prstGeom prst="rect">
            <a:avLst/>
          </a:prstGeom>
          <a:noFill/>
          <a:ln/>
        </p:spPr>
        <p:txBody>
          <a:bodyPr wrap="square" rtlCol="0" anchor="ctr"/>
          <a:lstStyle/>
          <a:p>
            <a:pPr marL="0" indent="0">
              <a:buNone/>
            </a:pPr>
            <a:r>
              <a:rPr lang="en-US" sz="1000" dirty="0">
                <a:solidFill>
                  <a:srgbClr val="455A64"/>
                </a:solidFill>
              </a:rPr>
              <a:t>Incohérences dans les reportings</a:t>
            </a:r>
            <a:endParaRPr lang="en-US" sz="1000" dirty="0"/>
          </a:p>
        </p:txBody>
      </p:sp>
      <p:sp>
        <p:nvSpPr>
          <p:cNvPr id="36" name="Shape 25"/>
          <p:cNvSpPr/>
          <p:nvPr/>
        </p:nvSpPr>
        <p:spPr>
          <a:xfrm>
            <a:off x="4407408" y="2459736"/>
            <a:ext cx="4553712" cy="420624"/>
          </a:xfrm>
          <a:prstGeom prst="rect">
            <a:avLst/>
          </a:prstGeom>
          <a:solidFill>
            <a:srgbClr val="FFFFFF"/>
          </a:solidFill>
          <a:ln w="12700">
            <a:solidFill>
              <a:srgbClr val="FFCDD2"/>
            </a:solidFill>
            <a:prstDash val="solid"/>
          </a:ln>
        </p:spPr>
      </p:sp>
      <p:pic>
        <p:nvPicPr>
          <p:cNvPr id="37" name="Image 9" descr="preencoded.png"/>
          <p:cNvPicPr>
            <a:picLocks noChangeAspect="1"/>
          </p:cNvPicPr>
          <p:nvPr/>
        </p:nvPicPr>
        <p:blipFill>
          <a:blip r:embed="rId10"/>
          <a:stretch>
            <a:fillRect/>
          </a:stretch>
        </p:blipFill>
        <p:spPr>
          <a:xfrm>
            <a:off x="4517136" y="2523744"/>
            <a:ext cx="256032" cy="256032"/>
          </a:xfrm>
          <a:prstGeom prst="rect">
            <a:avLst/>
          </a:prstGeom>
        </p:spPr>
      </p:pic>
      <p:sp>
        <p:nvSpPr>
          <p:cNvPr id="38" name="Text 26"/>
          <p:cNvSpPr/>
          <p:nvPr/>
        </p:nvSpPr>
        <p:spPr>
          <a:xfrm>
            <a:off x="4846320" y="2514600"/>
            <a:ext cx="4023360" cy="320040"/>
          </a:xfrm>
          <a:prstGeom prst="rect">
            <a:avLst/>
          </a:prstGeom>
          <a:noFill/>
          <a:ln/>
        </p:spPr>
        <p:txBody>
          <a:bodyPr wrap="square" rtlCol="0" anchor="ctr"/>
          <a:lstStyle/>
          <a:p>
            <a:pPr marL="0" indent="0">
              <a:buNone/>
            </a:pPr>
            <a:r>
              <a:rPr lang="en-US" sz="1000" dirty="0">
                <a:solidFill>
                  <a:srgbClr val="455A64"/>
                </a:solidFill>
              </a:rPr>
              <a:t>Difficultés de prise de décision</a:t>
            </a:r>
            <a:endParaRPr lang="en-US" sz="1000" dirty="0"/>
          </a:p>
        </p:txBody>
      </p:sp>
      <p:sp>
        <p:nvSpPr>
          <p:cNvPr id="39" name="Shape 27"/>
          <p:cNvSpPr/>
          <p:nvPr/>
        </p:nvSpPr>
        <p:spPr>
          <a:xfrm>
            <a:off x="4407408" y="2935224"/>
            <a:ext cx="4553712" cy="420624"/>
          </a:xfrm>
          <a:prstGeom prst="rect">
            <a:avLst/>
          </a:prstGeom>
          <a:solidFill>
            <a:srgbClr val="FFF8F8"/>
          </a:solidFill>
          <a:ln w="12700">
            <a:solidFill>
              <a:srgbClr val="FFCDD2"/>
            </a:solidFill>
            <a:prstDash val="solid"/>
          </a:ln>
        </p:spPr>
      </p:sp>
      <p:pic>
        <p:nvPicPr>
          <p:cNvPr id="40" name="Image 10" descr="preencoded.png"/>
          <p:cNvPicPr>
            <a:picLocks noChangeAspect="1"/>
          </p:cNvPicPr>
          <p:nvPr/>
        </p:nvPicPr>
        <p:blipFill>
          <a:blip r:embed="rId10"/>
          <a:stretch>
            <a:fillRect/>
          </a:stretch>
        </p:blipFill>
        <p:spPr>
          <a:xfrm>
            <a:off x="4517136" y="2999232"/>
            <a:ext cx="256032" cy="256032"/>
          </a:xfrm>
          <a:prstGeom prst="rect">
            <a:avLst/>
          </a:prstGeom>
        </p:spPr>
      </p:pic>
      <p:sp>
        <p:nvSpPr>
          <p:cNvPr id="41" name="Text 28"/>
          <p:cNvSpPr/>
          <p:nvPr/>
        </p:nvSpPr>
        <p:spPr>
          <a:xfrm>
            <a:off x="4846320" y="2990088"/>
            <a:ext cx="4023360" cy="320040"/>
          </a:xfrm>
          <a:prstGeom prst="rect">
            <a:avLst/>
          </a:prstGeom>
          <a:noFill/>
          <a:ln/>
        </p:spPr>
        <p:txBody>
          <a:bodyPr wrap="square" rtlCol="0" anchor="ctr"/>
          <a:lstStyle/>
          <a:p>
            <a:pPr marL="0" indent="0">
              <a:buNone/>
            </a:pPr>
            <a:r>
              <a:rPr lang="en-US" sz="1000" dirty="0">
                <a:solidFill>
                  <a:srgbClr val="455A64"/>
                </a:solidFill>
              </a:rPr>
              <a:t>Projets SI lancés sans coordination</a:t>
            </a:r>
            <a:endParaRPr lang="en-US" sz="1000" dirty="0"/>
          </a:p>
        </p:txBody>
      </p:sp>
      <p:sp>
        <p:nvSpPr>
          <p:cNvPr id="42" name="Shape 29"/>
          <p:cNvSpPr/>
          <p:nvPr/>
        </p:nvSpPr>
        <p:spPr>
          <a:xfrm>
            <a:off x="4407408" y="3410712"/>
            <a:ext cx="4553712" cy="420624"/>
          </a:xfrm>
          <a:prstGeom prst="rect">
            <a:avLst/>
          </a:prstGeom>
          <a:solidFill>
            <a:srgbClr val="FFFFFF"/>
          </a:solidFill>
          <a:ln w="12700">
            <a:solidFill>
              <a:srgbClr val="FFCDD2"/>
            </a:solidFill>
            <a:prstDash val="solid"/>
          </a:ln>
        </p:spPr>
      </p:sp>
      <p:pic>
        <p:nvPicPr>
          <p:cNvPr id="43" name="Image 11" descr="preencoded.png"/>
          <p:cNvPicPr>
            <a:picLocks noChangeAspect="1"/>
          </p:cNvPicPr>
          <p:nvPr/>
        </p:nvPicPr>
        <p:blipFill>
          <a:blip r:embed="rId10"/>
          <a:stretch>
            <a:fillRect/>
          </a:stretch>
        </p:blipFill>
        <p:spPr>
          <a:xfrm>
            <a:off x="4517136" y="3474720"/>
            <a:ext cx="256032" cy="256032"/>
          </a:xfrm>
          <a:prstGeom prst="rect">
            <a:avLst/>
          </a:prstGeom>
        </p:spPr>
      </p:pic>
      <p:sp>
        <p:nvSpPr>
          <p:cNvPr id="44" name="Text 30"/>
          <p:cNvSpPr/>
          <p:nvPr/>
        </p:nvSpPr>
        <p:spPr>
          <a:xfrm>
            <a:off x="4846320" y="3465576"/>
            <a:ext cx="4023360" cy="320040"/>
          </a:xfrm>
          <a:prstGeom prst="rect">
            <a:avLst/>
          </a:prstGeom>
          <a:noFill/>
          <a:ln/>
        </p:spPr>
        <p:txBody>
          <a:bodyPr wrap="square" rtlCol="0" anchor="ctr"/>
          <a:lstStyle/>
          <a:p>
            <a:pPr marL="0" indent="0">
              <a:buNone/>
            </a:pPr>
            <a:r>
              <a:rPr lang="en-US" sz="1000" dirty="0">
                <a:solidFill>
                  <a:srgbClr val="455A64"/>
                </a:solidFill>
              </a:rPr>
              <a:t>Conflits entre équipes IT et Métiers</a:t>
            </a:r>
            <a:endParaRPr lang="en-US" sz="1000" dirty="0"/>
          </a:p>
        </p:txBody>
      </p:sp>
      <p:sp>
        <p:nvSpPr>
          <p:cNvPr id="45" name="Shape 31"/>
          <p:cNvSpPr/>
          <p:nvPr/>
        </p:nvSpPr>
        <p:spPr>
          <a:xfrm>
            <a:off x="4407408" y="3886200"/>
            <a:ext cx="4553712" cy="420624"/>
          </a:xfrm>
          <a:prstGeom prst="rect">
            <a:avLst/>
          </a:prstGeom>
          <a:solidFill>
            <a:srgbClr val="FFF8F8"/>
          </a:solidFill>
          <a:ln w="12700">
            <a:solidFill>
              <a:srgbClr val="FFCDD2"/>
            </a:solidFill>
            <a:prstDash val="solid"/>
          </a:ln>
        </p:spPr>
      </p:sp>
      <p:pic>
        <p:nvPicPr>
          <p:cNvPr id="46" name="Image 12" descr="preencoded.png"/>
          <p:cNvPicPr>
            <a:picLocks noChangeAspect="1"/>
          </p:cNvPicPr>
          <p:nvPr/>
        </p:nvPicPr>
        <p:blipFill>
          <a:blip r:embed="rId10"/>
          <a:stretch>
            <a:fillRect/>
          </a:stretch>
        </p:blipFill>
        <p:spPr>
          <a:xfrm>
            <a:off x="4517136" y="3950208"/>
            <a:ext cx="256032" cy="256032"/>
          </a:xfrm>
          <a:prstGeom prst="rect">
            <a:avLst/>
          </a:prstGeom>
        </p:spPr>
      </p:pic>
      <p:sp>
        <p:nvSpPr>
          <p:cNvPr id="47" name="Text 32"/>
          <p:cNvSpPr/>
          <p:nvPr/>
        </p:nvSpPr>
        <p:spPr>
          <a:xfrm>
            <a:off x="4846320" y="3941064"/>
            <a:ext cx="4023360" cy="320040"/>
          </a:xfrm>
          <a:prstGeom prst="rect">
            <a:avLst/>
          </a:prstGeom>
          <a:noFill/>
          <a:ln/>
        </p:spPr>
        <p:txBody>
          <a:bodyPr wrap="square" rtlCol="0" anchor="ctr"/>
          <a:lstStyle/>
          <a:p>
            <a:pPr marL="0" indent="0">
              <a:buNone/>
            </a:pPr>
            <a:r>
              <a:rPr lang="en-US" sz="1000" dirty="0">
                <a:solidFill>
                  <a:srgbClr val="455A64"/>
                </a:solidFill>
              </a:rPr>
              <a:t>Doublons et erreurs dans les données clients</a:t>
            </a:r>
            <a:endParaRPr lang="en-US" sz="1000" dirty="0"/>
          </a:p>
        </p:txBody>
      </p:sp>
      <p:sp>
        <p:nvSpPr>
          <p:cNvPr id="48" name="Shape 33"/>
          <p:cNvSpPr/>
          <p:nvPr/>
        </p:nvSpPr>
        <p:spPr>
          <a:xfrm>
            <a:off x="4407408" y="4361688"/>
            <a:ext cx="4553712" cy="420624"/>
          </a:xfrm>
          <a:prstGeom prst="rect">
            <a:avLst/>
          </a:prstGeom>
          <a:solidFill>
            <a:srgbClr val="FFFFFF"/>
          </a:solidFill>
          <a:ln w="12700">
            <a:solidFill>
              <a:srgbClr val="FFCDD2"/>
            </a:solidFill>
            <a:prstDash val="solid"/>
          </a:ln>
        </p:spPr>
      </p:sp>
      <p:pic>
        <p:nvPicPr>
          <p:cNvPr id="49" name="Image 13" descr="preencoded.png"/>
          <p:cNvPicPr>
            <a:picLocks noChangeAspect="1"/>
          </p:cNvPicPr>
          <p:nvPr/>
        </p:nvPicPr>
        <p:blipFill>
          <a:blip r:embed="rId10"/>
          <a:stretch>
            <a:fillRect/>
          </a:stretch>
        </p:blipFill>
        <p:spPr>
          <a:xfrm>
            <a:off x="4517136" y="4425696"/>
            <a:ext cx="256032" cy="256032"/>
          </a:xfrm>
          <a:prstGeom prst="rect">
            <a:avLst/>
          </a:prstGeom>
        </p:spPr>
      </p:pic>
      <p:sp>
        <p:nvSpPr>
          <p:cNvPr id="50" name="Text 34"/>
          <p:cNvSpPr/>
          <p:nvPr/>
        </p:nvSpPr>
        <p:spPr>
          <a:xfrm>
            <a:off x="4846320" y="4416552"/>
            <a:ext cx="4023360" cy="320040"/>
          </a:xfrm>
          <a:prstGeom prst="rect">
            <a:avLst/>
          </a:prstGeom>
          <a:noFill/>
          <a:ln/>
        </p:spPr>
        <p:txBody>
          <a:bodyPr wrap="square" rtlCol="0" anchor="ctr"/>
          <a:lstStyle/>
          <a:p>
            <a:pPr marL="0" indent="0">
              <a:buNone/>
            </a:pPr>
            <a:r>
              <a:rPr lang="en-US" sz="1000" dirty="0">
                <a:solidFill>
                  <a:srgbClr val="455A64"/>
                </a:solidFill>
              </a:rPr>
              <a:t>Impossibilité d'avoir une vue client unifiée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9A825"/>
          </a:solidFill>
          <a:ln w="12700">
            <a:solidFill>
              <a:srgbClr val="F9A825"/>
            </a:solidFill>
            <a:prstDash val="solid"/>
          </a:ln>
        </p:spPr>
      </p:sp>
      <p:sp>
        <p:nvSpPr>
          <p:cNvPr id="3" name="Shape 1"/>
          <p:cNvSpPr/>
          <p:nvPr/>
        </p:nvSpPr>
        <p:spPr>
          <a:xfrm>
            <a:off x="0" y="64008"/>
            <a:ext cx="54864" cy="5079492"/>
          </a:xfrm>
          <a:prstGeom prst="rect">
            <a:avLst/>
          </a:prstGeom>
          <a:solidFill>
            <a:srgbClr val="F9A825"/>
          </a:solidFill>
          <a:ln w="12700">
            <a:solidFill>
              <a:srgbClr val="F9A825"/>
            </a:solidFill>
            <a:prstDash val="solid"/>
          </a:ln>
        </p:spPr>
      </p:sp>
      <p:sp>
        <p:nvSpPr>
          <p:cNvPr id="4" name="Shape 2"/>
          <p:cNvSpPr/>
          <p:nvPr/>
        </p:nvSpPr>
        <p:spPr>
          <a:xfrm>
            <a:off x="6217920" y="731520"/>
            <a:ext cx="2377440" cy="2377440"/>
          </a:xfrm>
          <a:prstGeom prst="ellipse">
            <a:avLst/>
          </a:prstGeom>
          <a:solidFill>
            <a:srgbClr val="1976D2">
              <a:alpha val="35000"/>
            </a:srgbClr>
          </a:solidFill>
          <a:ln w="12700">
            <a:solidFill>
              <a:srgbClr val="1976D2">
                <a:alpha val="35000"/>
              </a:srgbClr>
            </a:solidFill>
            <a:prstDash val="solid"/>
          </a:ln>
        </p:spPr>
      </p:sp>
      <p:pic>
        <p:nvPicPr>
          <p:cNvPr id="5" name="Image 0" descr="preencoded.png"/>
          <p:cNvPicPr>
            <a:picLocks noChangeAspect="1"/>
          </p:cNvPicPr>
          <p:nvPr/>
        </p:nvPicPr>
        <p:blipFill>
          <a:blip r:embed="rId3"/>
          <a:stretch>
            <a:fillRect/>
          </a:stretch>
        </p:blipFill>
        <p:spPr>
          <a:xfrm>
            <a:off x="6720840" y="1097280"/>
            <a:ext cx="1371600" cy="1371600"/>
          </a:xfrm>
          <a:prstGeom prst="rect">
            <a:avLst/>
          </a:prstGeom>
        </p:spPr>
      </p:pic>
      <p:sp>
        <p:nvSpPr>
          <p:cNvPr id="6" name="Text 3"/>
          <p:cNvSpPr/>
          <p:nvPr/>
        </p:nvSpPr>
        <p:spPr>
          <a:xfrm>
            <a:off x="320040" y="1463040"/>
            <a:ext cx="566928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Diagnostic des</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Systèmes Existants</a:t>
            </a:r>
            <a:endParaRPr lang="en-US" sz="3600" dirty="0"/>
          </a:p>
        </p:txBody>
      </p:sp>
      <p:sp>
        <p:nvSpPr>
          <p:cNvPr id="7" name="Text 4"/>
          <p:cNvSpPr/>
          <p:nvPr/>
        </p:nvSpPr>
        <p:spPr>
          <a:xfrm>
            <a:off x="320040" y="2514600"/>
            <a:ext cx="5486400" cy="731520"/>
          </a:xfrm>
          <a:prstGeom prst="rect">
            <a:avLst/>
          </a:prstGeom>
          <a:noFill/>
          <a:ln/>
        </p:spPr>
        <p:txBody>
          <a:bodyPr wrap="square" rtlCol="0" anchor="ctr"/>
          <a:lstStyle/>
          <a:p>
            <a:pPr marL="0" indent="0">
              <a:buNone/>
            </a:pPr>
            <a:r>
              <a:rPr lang="en-US" sz="1400" i="1" dirty="0">
                <a:solidFill>
                  <a:srgbClr val="42A5F5"/>
                </a:solidFill>
                <a:latin typeface="Calibri" pitchFamily="34" charset="0"/>
                <a:ea typeface="Calibri" pitchFamily="34" charset="-122"/>
                <a:cs typeface="Calibri" pitchFamily="34" charset="-120"/>
              </a:rPr>
              <a:t>Cartographie &amp; analyse des silos de données de Vision Bank</a:t>
            </a:r>
            <a:endParaRPr lang="en-US" sz="1400" dirty="0"/>
          </a:p>
        </p:txBody>
      </p:sp>
      <p:sp>
        <p:nvSpPr>
          <p:cNvPr id="8" name="Shape 5"/>
          <p:cNvSpPr/>
          <p:nvPr/>
        </p:nvSpPr>
        <p:spPr>
          <a:xfrm>
            <a:off x="320040" y="4114800"/>
            <a:ext cx="1097280" cy="347472"/>
          </a:xfrm>
          <a:prstGeom prst="roundRect">
            <a:avLst>
              <a:gd name="adj" fmla="val 13158"/>
            </a:avLst>
          </a:prstGeom>
          <a:solidFill>
            <a:srgbClr val="F9A825"/>
          </a:solidFill>
          <a:ln w="12700">
            <a:solidFill>
              <a:srgbClr val="F9A825"/>
            </a:solidFill>
            <a:prstDash val="solid"/>
          </a:ln>
        </p:spPr>
      </p:sp>
      <p:sp>
        <p:nvSpPr>
          <p:cNvPr id="9" name="Text 6"/>
          <p:cNvSpPr/>
          <p:nvPr/>
        </p:nvSpPr>
        <p:spPr>
          <a:xfrm>
            <a:off x="320040" y="4114800"/>
            <a:ext cx="1097280" cy="347472"/>
          </a:xfrm>
          <a:prstGeom prst="rect">
            <a:avLst/>
          </a:prstGeom>
          <a:noFill/>
          <a:ln/>
        </p:spPr>
        <p:txBody>
          <a:bodyPr wrap="square" lIns="0" tIns="0" rIns="0" bIns="0" rtlCol="0" anchor="ctr"/>
          <a:lstStyle/>
          <a:p>
            <a:pPr marL="0" indent="0" algn="ctr">
              <a:buNone/>
            </a:pPr>
            <a:r>
              <a:rPr lang="en-US" sz="950" b="1" dirty="0">
                <a:solidFill>
                  <a:srgbClr val="0B1D3A"/>
                </a:solidFill>
              </a:rPr>
              <a:t>ÉTAPE 01</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Shape 1"/>
          <p:cNvSpPr/>
          <p:nvPr/>
        </p:nvSpPr>
        <p:spPr>
          <a:xfrm>
            <a:off x="0" y="0"/>
            <a:ext cx="54864" cy="5143500"/>
          </a:xfrm>
          <a:prstGeom prst="rect">
            <a:avLst/>
          </a:prstGeom>
          <a:solidFill>
            <a:srgbClr val="F9A825"/>
          </a:solidFill>
          <a:ln w="12700">
            <a:solidFill>
              <a:srgbClr val="F9A825"/>
            </a:solidFill>
            <a:prstDash val="solid"/>
          </a:ln>
        </p:spPr>
      </p:sp>
      <p:sp>
        <p:nvSpPr>
          <p:cNvPr id="4" name="Text 2"/>
          <p:cNvSpPr/>
          <p:nvPr/>
        </p:nvSpPr>
        <p:spPr>
          <a:xfrm>
            <a:off x="228600" y="137160"/>
            <a:ext cx="8686800" cy="6858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02 – Diagnostic : Cartographie des Silos de Données</a:t>
            </a:r>
            <a:endParaRPr lang="en-US" sz="2200" dirty="0"/>
          </a:p>
        </p:txBody>
      </p:sp>
      <p:sp>
        <p:nvSpPr>
          <p:cNvPr id="5" name="Shape 3"/>
          <p:cNvSpPr/>
          <p:nvPr/>
        </p:nvSpPr>
        <p:spPr>
          <a:xfrm>
            <a:off x="182880" y="1051560"/>
            <a:ext cx="2834640" cy="1783080"/>
          </a:xfrm>
          <a:prstGeom prst="rect">
            <a:avLst/>
          </a:prstGeom>
          <a:solidFill>
            <a:srgbClr val="FFFFFF"/>
          </a:solidFill>
          <a:ln w="12700">
            <a:solidFill>
              <a:srgbClr val="1565C0"/>
            </a:solidFill>
            <a:prstDash val="solid"/>
          </a:ln>
          <a:effectLst>
            <a:outerShdw blurRad="101600" dist="38100" dir="8100000" algn="bl" rotWithShape="0">
              <a:srgbClr val="000000">
                <a:alpha val="14000"/>
              </a:srgbClr>
            </a:outerShdw>
          </a:effectLst>
        </p:spPr>
      </p:sp>
      <p:sp>
        <p:nvSpPr>
          <p:cNvPr id="6" name="Shape 4"/>
          <p:cNvSpPr/>
          <p:nvPr/>
        </p:nvSpPr>
        <p:spPr>
          <a:xfrm>
            <a:off x="182880" y="1051560"/>
            <a:ext cx="2834640" cy="457200"/>
          </a:xfrm>
          <a:prstGeom prst="rect">
            <a:avLst/>
          </a:prstGeom>
          <a:solidFill>
            <a:srgbClr val="1565C0"/>
          </a:solidFill>
          <a:ln w="12700">
            <a:solidFill>
              <a:srgbClr val="1565C0"/>
            </a:solidFill>
            <a:prstDash val="solid"/>
          </a:ln>
        </p:spPr>
      </p:sp>
      <p:pic>
        <p:nvPicPr>
          <p:cNvPr id="7" name="Image 0" descr="preencoded.png"/>
          <p:cNvPicPr>
            <a:picLocks noChangeAspect="1"/>
          </p:cNvPicPr>
          <p:nvPr/>
        </p:nvPicPr>
        <p:blipFill>
          <a:blip r:embed="rId3"/>
          <a:stretch>
            <a:fillRect/>
          </a:stretch>
        </p:blipFill>
        <p:spPr>
          <a:xfrm>
            <a:off x="274320" y="1133856"/>
            <a:ext cx="292608" cy="292608"/>
          </a:xfrm>
          <a:prstGeom prst="rect">
            <a:avLst/>
          </a:prstGeom>
        </p:spPr>
      </p:pic>
      <p:sp>
        <p:nvSpPr>
          <p:cNvPr id="8" name="Text 5"/>
          <p:cNvSpPr/>
          <p:nvPr/>
        </p:nvSpPr>
        <p:spPr>
          <a:xfrm>
            <a:off x="640080" y="1106424"/>
            <a:ext cx="2331720" cy="365760"/>
          </a:xfrm>
          <a:prstGeom prst="rect">
            <a:avLst/>
          </a:prstGeom>
          <a:noFill/>
          <a:ln/>
        </p:spPr>
        <p:txBody>
          <a:bodyPr wrap="square" rtlCol="0" anchor="ctr"/>
          <a:lstStyle/>
          <a:p>
            <a:pPr marL="0" indent="0">
              <a:buNone/>
            </a:pPr>
            <a:r>
              <a:rPr lang="en-US" sz="1050" b="1" dirty="0">
                <a:solidFill>
                  <a:srgbClr val="FFFFFF"/>
                </a:solidFill>
              </a:rPr>
              <a:t>Core Banking System</a:t>
            </a:r>
            <a:endParaRPr lang="en-US" sz="1050" dirty="0"/>
          </a:p>
        </p:txBody>
      </p:sp>
      <p:sp>
        <p:nvSpPr>
          <p:cNvPr id="9" name="Text 6"/>
          <p:cNvSpPr/>
          <p:nvPr/>
        </p:nvSpPr>
        <p:spPr>
          <a:xfrm>
            <a:off x="292608" y="1581912"/>
            <a:ext cx="2615184" cy="1170432"/>
          </a:xfrm>
          <a:prstGeom prst="rect">
            <a:avLst/>
          </a:prstGeom>
          <a:noFill/>
          <a:ln/>
        </p:spPr>
        <p:txBody>
          <a:bodyPr wrap="square" rtlCol="0" anchor="ctr"/>
          <a:lstStyle/>
          <a:p>
            <a:pPr marL="0" indent="0">
              <a:buNone/>
            </a:pPr>
            <a:r>
              <a:rPr lang="en-US" sz="950" dirty="0">
                <a:solidFill>
                  <a:srgbClr val="455A64"/>
                </a:solidFill>
              </a:rPr>
              <a:t>Données clients, comptes, opérations.</a:t>
            </a:r>
            <a:endParaRPr lang="en-US" sz="950" dirty="0"/>
          </a:p>
          <a:p>
            <a:pPr marL="0" indent="0">
              <a:buNone/>
            </a:pPr>
            <a:r>
              <a:rPr lang="en-US" sz="950" dirty="0">
                <a:solidFill>
                  <a:srgbClr val="455A64"/>
                </a:solidFill>
              </a:rPr>
              <a:t>Source principale mais non partagée.</a:t>
            </a:r>
            <a:endParaRPr lang="en-US" sz="950" dirty="0"/>
          </a:p>
        </p:txBody>
      </p:sp>
      <p:sp>
        <p:nvSpPr>
          <p:cNvPr id="10" name="Shape 7"/>
          <p:cNvSpPr/>
          <p:nvPr/>
        </p:nvSpPr>
        <p:spPr>
          <a:xfrm>
            <a:off x="3172968" y="1051560"/>
            <a:ext cx="2834640" cy="1783080"/>
          </a:xfrm>
          <a:prstGeom prst="rect">
            <a:avLst/>
          </a:prstGeom>
          <a:solidFill>
            <a:srgbClr val="FFFFFF"/>
          </a:solidFill>
          <a:ln w="12700">
            <a:solidFill>
              <a:srgbClr val="1976D2"/>
            </a:solidFill>
            <a:prstDash val="solid"/>
          </a:ln>
          <a:effectLst>
            <a:outerShdw blurRad="101600" dist="38100" dir="8100000" algn="bl" rotWithShape="0">
              <a:srgbClr val="000000">
                <a:alpha val="14000"/>
              </a:srgbClr>
            </a:outerShdw>
          </a:effectLst>
        </p:spPr>
      </p:sp>
      <p:sp>
        <p:nvSpPr>
          <p:cNvPr id="11" name="Shape 8"/>
          <p:cNvSpPr/>
          <p:nvPr/>
        </p:nvSpPr>
        <p:spPr>
          <a:xfrm>
            <a:off x="3172968" y="1051560"/>
            <a:ext cx="2834640" cy="457200"/>
          </a:xfrm>
          <a:prstGeom prst="rect">
            <a:avLst/>
          </a:prstGeom>
          <a:solidFill>
            <a:srgbClr val="1976D2"/>
          </a:solidFill>
          <a:ln w="12700">
            <a:solidFill>
              <a:srgbClr val="1976D2"/>
            </a:solidFill>
            <a:prstDash val="solid"/>
          </a:ln>
        </p:spPr>
      </p:sp>
      <p:pic>
        <p:nvPicPr>
          <p:cNvPr id="12" name="Image 1" descr="preencoded.png"/>
          <p:cNvPicPr>
            <a:picLocks noChangeAspect="1"/>
          </p:cNvPicPr>
          <p:nvPr/>
        </p:nvPicPr>
        <p:blipFill>
          <a:blip r:embed="rId4"/>
          <a:stretch>
            <a:fillRect/>
          </a:stretch>
        </p:blipFill>
        <p:spPr>
          <a:xfrm>
            <a:off x="3264408" y="1133856"/>
            <a:ext cx="292608" cy="292608"/>
          </a:xfrm>
          <a:prstGeom prst="rect">
            <a:avLst/>
          </a:prstGeom>
        </p:spPr>
      </p:pic>
      <p:sp>
        <p:nvSpPr>
          <p:cNvPr id="13" name="Text 9"/>
          <p:cNvSpPr/>
          <p:nvPr/>
        </p:nvSpPr>
        <p:spPr>
          <a:xfrm>
            <a:off x="3630168" y="1106424"/>
            <a:ext cx="2331720" cy="365760"/>
          </a:xfrm>
          <a:prstGeom prst="rect">
            <a:avLst/>
          </a:prstGeom>
          <a:noFill/>
          <a:ln/>
        </p:spPr>
        <p:txBody>
          <a:bodyPr wrap="square" rtlCol="0" anchor="ctr"/>
          <a:lstStyle/>
          <a:p>
            <a:pPr marL="0" indent="0">
              <a:buNone/>
            </a:pPr>
            <a:r>
              <a:rPr lang="en-US" sz="1050" b="1" dirty="0">
                <a:solidFill>
                  <a:srgbClr val="FFFFFF"/>
                </a:solidFill>
              </a:rPr>
              <a:t>Gestion des Crédits</a:t>
            </a:r>
            <a:endParaRPr lang="en-US" sz="1050" dirty="0"/>
          </a:p>
        </p:txBody>
      </p:sp>
      <p:sp>
        <p:nvSpPr>
          <p:cNvPr id="14" name="Text 10"/>
          <p:cNvSpPr/>
          <p:nvPr/>
        </p:nvSpPr>
        <p:spPr>
          <a:xfrm>
            <a:off x="3282696" y="1581912"/>
            <a:ext cx="2615184" cy="1170432"/>
          </a:xfrm>
          <a:prstGeom prst="rect">
            <a:avLst/>
          </a:prstGeom>
          <a:noFill/>
          <a:ln/>
        </p:spPr>
        <p:txBody>
          <a:bodyPr wrap="square" rtlCol="0" anchor="ctr"/>
          <a:lstStyle/>
          <a:p>
            <a:pPr marL="0" indent="0">
              <a:buNone/>
            </a:pPr>
            <a:r>
              <a:rPr lang="en-US" sz="950" dirty="0">
                <a:solidFill>
                  <a:srgbClr val="455A64"/>
                </a:solidFill>
              </a:rPr>
              <a:t>Données prêts, encours, échéances.</a:t>
            </a:r>
            <a:endParaRPr lang="en-US" sz="950" dirty="0"/>
          </a:p>
          <a:p>
            <a:pPr marL="0" indent="0">
              <a:buNone/>
            </a:pPr>
            <a:r>
              <a:rPr lang="en-US" sz="950" dirty="0">
                <a:solidFill>
                  <a:srgbClr val="455A64"/>
                </a:solidFill>
              </a:rPr>
              <a:t>Définitions divergentes avec CBS.</a:t>
            </a:r>
            <a:endParaRPr lang="en-US" sz="950" dirty="0"/>
          </a:p>
        </p:txBody>
      </p:sp>
      <p:sp>
        <p:nvSpPr>
          <p:cNvPr id="15" name="Shape 11"/>
          <p:cNvSpPr/>
          <p:nvPr/>
        </p:nvSpPr>
        <p:spPr>
          <a:xfrm>
            <a:off x="6163056" y="1051560"/>
            <a:ext cx="2834640" cy="1783080"/>
          </a:xfrm>
          <a:prstGeom prst="rect">
            <a:avLst/>
          </a:prstGeom>
          <a:solidFill>
            <a:srgbClr val="FFFFFF"/>
          </a:solidFill>
          <a:ln w="12700">
            <a:solidFill>
              <a:srgbClr val="00796B"/>
            </a:solidFill>
            <a:prstDash val="solid"/>
          </a:ln>
          <a:effectLst>
            <a:outerShdw blurRad="101600" dist="38100" dir="8100000" algn="bl" rotWithShape="0">
              <a:srgbClr val="000000">
                <a:alpha val="14000"/>
              </a:srgbClr>
            </a:outerShdw>
          </a:effectLst>
        </p:spPr>
      </p:sp>
      <p:sp>
        <p:nvSpPr>
          <p:cNvPr id="16" name="Shape 12"/>
          <p:cNvSpPr/>
          <p:nvPr/>
        </p:nvSpPr>
        <p:spPr>
          <a:xfrm>
            <a:off x="6163056" y="1051560"/>
            <a:ext cx="2834640" cy="457200"/>
          </a:xfrm>
          <a:prstGeom prst="rect">
            <a:avLst/>
          </a:prstGeom>
          <a:solidFill>
            <a:srgbClr val="00796B"/>
          </a:solidFill>
          <a:ln w="12700">
            <a:solidFill>
              <a:srgbClr val="00796B"/>
            </a:solidFill>
            <a:prstDash val="solid"/>
          </a:ln>
        </p:spPr>
      </p:sp>
      <p:pic>
        <p:nvPicPr>
          <p:cNvPr id="17" name="Image 2" descr="preencoded.png"/>
          <p:cNvPicPr>
            <a:picLocks noChangeAspect="1"/>
          </p:cNvPicPr>
          <p:nvPr/>
        </p:nvPicPr>
        <p:blipFill>
          <a:blip r:embed="rId5"/>
          <a:stretch>
            <a:fillRect/>
          </a:stretch>
        </p:blipFill>
        <p:spPr>
          <a:xfrm>
            <a:off x="6254496" y="1133856"/>
            <a:ext cx="292608" cy="292608"/>
          </a:xfrm>
          <a:prstGeom prst="rect">
            <a:avLst/>
          </a:prstGeom>
        </p:spPr>
      </p:pic>
      <p:sp>
        <p:nvSpPr>
          <p:cNvPr id="18" name="Text 13"/>
          <p:cNvSpPr/>
          <p:nvPr/>
        </p:nvSpPr>
        <p:spPr>
          <a:xfrm>
            <a:off x="6620256" y="1106424"/>
            <a:ext cx="2331720" cy="365760"/>
          </a:xfrm>
          <a:prstGeom prst="rect">
            <a:avLst/>
          </a:prstGeom>
          <a:noFill/>
          <a:ln/>
        </p:spPr>
        <p:txBody>
          <a:bodyPr wrap="square" rtlCol="0" anchor="ctr"/>
          <a:lstStyle/>
          <a:p>
            <a:pPr marL="0" indent="0">
              <a:buNone/>
            </a:pPr>
            <a:r>
              <a:rPr lang="en-US" sz="1050" b="1" dirty="0">
                <a:solidFill>
                  <a:srgbClr val="FFFFFF"/>
                </a:solidFill>
              </a:rPr>
              <a:t>Comptabilité Bancaire</a:t>
            </a:r>
            <a:endParaRPr lang="en-US" sz="1050" dirty="0"/>
          </a:p>
        </p:txBody>
      </p:sp>
      <p:sp>
        <p:nvSpPr>
          <p:cNvPr id="19" name="Text 14"/>
          <p:cNvSpPr/>
          <p:nvPr/>
        </p:nvSpPr>
        <p:spPr>
          <a:xfrm>
            <a:off x="6272784" y="1581912"/>
            <a:ext cx="2615184" cy="1170432"/>
          </a:xfrm>
          <a:prstGeom prst="rect">
            <a:avLst/>
          </a:prstGeom>
          <a:noFill/>
          <a:ln/>
        </p:spPr>
        <p:txBody>
          <a:bodyPr wrap="square" rtlCol="0" anchor="ctr"/>
          <a:lstStyle/>
          <a:p>
            <a:pPr marL="0" indent="0">
              <a:buNone/>
            </a:pPr>
            <a:r>
              <a:rPr lang="en-US" sz="950" dirty="0">
                <a:solidFill>
                  <a:srgbClr val="455A64"/>
                </a:solidFill>
              </a:rPr>
              <a:t>Plan comptable, écritures, bilans.</a:t>
            </a:r>
            <a:endParaRPr lang="en-US" sz="950" dirty="0"/>
          </a:p>
          <a:p>
            <a:pPr marL="0" indent="0">
              <a:buNone/>
            </a:pPr>
            <a:r>
              <a:rPr lang="en-US" sz="950" dirty="0">
                <a:solidFill>
                  <a:srgbClr val="455A64"/>
                </a:solidFill>
              </a:rPr>
              <a:t>Décalages fréquents avec CBS.</a:t>
            </a:r>
            <a:endParaRPr lang="en-US" sz="950" dirty="0"/>
          </a:p>
        </p:txBody>
      </p:sp>
      <p:sp>
        <p:nvSpPr>
          <p:cNvPr id="20" name="Shape 15"/>
          <p:cNvSpPr/>
          <p:nvPr/>
        </p:nvSpPr>
        <p:spPr>
          <a:xfrm>
            <a:off x="182880" y="2971800"/>
            <a:ext cx="2834640" cy="1783080"/>
          </a:xfrm>
          <a:prstGeom prst="rect">
            <a:avLst/>
          </a:prstGeom>
          <a:solidFill>
            <a:srgbClr val="FFFFFF"/>
          </a:solidFill>
          <a:ln w="12700">
            <a:solidFill>
              <a:srgbClr val="2E7D32"/>
            </a:solidFill>
            <a:prstDash val="solid"/>
          </a:ln>
          <a:effectLst>
            <a:outerShdw blurRad="101600" dist="38100" dir="8100000" algn="bl" rotWithShape="0">
              <a:srgbClr val="000000">
                <a:alpha val="14000"/>
              </a:srgbClr>
            </a:outerShdw>
          </a:effectLst>
        </p:spPr>
      </p:sp>
      <p:sp>
        <p:nvSpPr>
          <p:cNvPr id="21" name="Shape 16"/>
          <p:cNvSpPr/>
          <p:nvPr/>
        </p:nvSpPr>
        <p:spPr>
          <a:xfrm>
            <a:off x="182880" y="2971800"/>
            <a:ext cx="2834640" cy="457200"/>
          </a:xfrm>
          <a:prstGeom prst="rect">
            <a:avLst/>
          </a:prstGeom>
          <a:solidFill>
            <a:srgbClr val="2E7D32"/>
          </a:solidFill>
          <a:ln w="12700">
            <a:solidFill>
              <a:srgbClr val="2E7D32"/>
            </a:solidFill>
            <a:prstDash val="solid"/>
          </a:ln>
        </p:spPr>
      </p:sp>
      <p:pic>
        <p:nvPicPr>
          <p:cNvPr id="22" name="Image 3" descr="preencoded.png"/>
          <p:cNvPicPr>
            <a:picLocks noChangeAspect="1"/>
          </p:cNvPicPr>
          <p:nvPr/>
        </p:nvPicPr>
        <p:blipFill>
          <a:blip r:embed="rId6"/>
          <a:stretch>
            <a:fillRect/>
          </a:stretch>
        </p:blipFill>
        <p:spPr>
          <a:xfrm>
            <a:off x="274320" y="3054096"/>
            <a:ext cx="292608" cy="292608"/>
          </a:xfrm>
          <a:prstGeom prst="rect">
            <a:avLst/>
          </a:prstGeom>
        </p:spPr>
      </p:pic>
      <p:sp>
        <p:nvSpPr>
          <p:cNvPr id="23" name="Text 17"/>
          <p:cNvSpPr/>
          <p:nvPr/>
        </p:nvSpPr>
        <p:spPr>
          <a:xfrm>
            <a:off x="640080" y="3026664"/>
            <a:ext cx="2331720" cy="365760"/>
          </a:xfrm>
          <a:prstGeom prst="rect">
            <a:avLst/>
          </a:prstGeom>
          <a:noFill/>
          <a:ln/>
        </p:spPr>
        <p:txBody>
          <a:bodyPr wrap="square" rtlCol="0" anchor="ctr"/>
          <a:lstStyle/>
          <a:p>
            <a:pPr marL="0" indent="0">
              <a:buNone/>
            </a:pPr>
            <a:r>
              <a:rPr lang="en-US" sz="1050" b="1" dirty="0">
                <a:solidFill>
                  <a:srgbClr val="FFFFFF"/>
                </a:solidFill>
              </a:rPr>
              <a:t>Mobile / Digital Banking</a:t>
            </a:r>
            <a:endParaRPr lang="en-US" sz="1050" dirty="0"/>
          </a:p>
        </p:txBody>
      </p:sp>
      <p:sp>
        <p:nvSpPr>
          <p:cNvPr id="24" name="Text 18"/>
          <p:cNvSpPr/>
          <p:nvPr/>
        </p:nvSpPr>
        <p:spPr>
          <a:xfrm>
            <a:off x="292608" y="3502152"/>
            <a:ext cx="2615184" cy="1170432"/>
          </a:xfrm>
          <a:prstGeom prst="rect">
            <a:avLst/>
          </a:prstGeom>
          <a:noFill/>
          <a:ln/>
        </p:spPr>
        <p:txBody>
          <a:bodyPr wrap="square" rtlCol="0" anchor="ctr"/>
          <a:lstStyle/>
          <a:p>
            <a:pPr marL="0" indent="0">
              <a:buNone/>
            </a:pPr>
            <a:r>
              <a:rPr lang="en-US" sz="950" dirty="0">
                <a:solidFill>
                  <a:srgbClr val="455A64"/>
                </a:solidFill>
              </a:rPr>
              <a:t>Transactions digitales, profils mobiles.</a:t>
            </a:r>
            <a:endParaRPr lang="en-US" sz="950" dirty="0"/>
          </a:p>
          <a:p>
            <a:pPr marL="0" indent="0">
              <a:buNone/>
            </a:pPr>
            <a:r>
              <a:rPr lang="en-US" sz="950" dirty="0">
                <a:solidFill>
                  <a:srgbClr val="455A64"/>
                </a:solidFill>
              </a:rPr>
              <a:t>Non reliés au CBS en temps réel.</a:t>
            </a:r>
            <a:endParaRPr lang="en-US" sz="950" dirty="0"/>
          </a:p>
        </p:txBody>
      </p:sp>
      <p:sp>
        <p:nvSpPr>
          <p:cNvPr id="25" name="Shape 19"/>
          <p:cNvSpPr/>
          <p:nvPr/>
        </p:nvSpPr>
        <p:spPr>
          <a:xfrm>
            <a:off x="3172968" y="2971800"/>
            <a:ext cx="2834640" cy="1783080"/>
          </a:xfrm>
          <a:prstGeom prst="rect">
            <a:avLst/>
          </a:prstGeom>
          <a:solidFill>
            <a:srgbClr val="FFFFFF"/>
          </a:solidFill>
          <a:ln w="12700">
            <a:solidFill>
              <a:srgbClr val="455A64"/>
            </a:solidFill>
            <a:prstDash val="solid"/>
          </a:ln>
          <a:effectLst>
            <a:outerShdw blurRad="101600" dist="38100" dir="8100000" algn="bl" rotWithShape="0">
              <a:srgbClr val="000000">
                <a:alpha val="14000"/>
              </a:srgbClr>
            </a:outerShdw>
          </a:effectLst>
        </p:spPr>
      </p:sp>
      <p:sp>
        <p:nvSpPr>
          <p:cNvPr id="26" name="Shape 20"/>
          <p:cNvSpPr/>
          <p:nvPr/>
        </p:nvSpPr>
        <p:spPr>
          <a:xfrm>
            <a:off x="3172968" y="2971800"/>
            <a:ext cx="2834640" cy="457200"/>
          </a:xfrm>
          <a:prstGeom prst="rect">
            <a:avLst/>
          </a:prstGeom>
          <a:solidFill>
            <a:srgbClr val="455A64"/>
          </a:solidFill>
          <a:ln w="12700">
            <a:solidFill>
              <a:srgbClr val="455A64"/>
            </a:solidFill>
            <a:prstDash val="solid"/>
          </a:ln>
        </p:spPr>
      </p:sp>
      <p:pic>
        <p:nvPicPr>
          <p:cNvPr id="27" name="Image 4" descr="preencoded.png"/>
          <p:cNvPicPr>
            <a:picLocks noChangeAspect="1"/>
          </p:cNvPicPr>
          <p:nvPr/>
        </p:nvPicPr>
        <p:blipFill>
          <a:blip r:embed="rId7"/>
          <a:stretch>
            <a:fillRect/>
          </a:stretch>
        </p:blipFill>
        <p:spPr>
          <a:xfrm>
            <a:off x="3264408" y="3054096"/>
            <a:ext cx="292608" cy="292608"/>
          </a:xfrm>
          <a:prstGeom prst="rect">
            <a:avLst/>
          </a:prstGeom>
        </p:spPr>
      </p:pic>
      <p:sp>
        <p:nvSpPr>
          <p:cNvPr id="28" name="Text 21"/>
          <p:cNvSpPr/>
          <p:nvPr/>
        </p:nvSpPr>
        <p:spPr>
          <a:xfrm>
            <a:off x="3630168" y="3026664"/>
            <a:ext cx="2331720" cy="365760"/>
          </a:xfrm>
          <a:prstGeom prst="rect">
            <a:avLst/>
          </a:prstGeom>
          <a:noFill/>
          <a:ln/>
        </p:spPr>
        <p:txBody>
          <a:bodyPr wrap="square" rtlCol="0" anchor="ctr"/>
          <a:lstStyle/>
          <a:p>
            <a:pPr marL="0" indent="0">
              <a:buNone/>
            </a:pPr>
            <a:r>
              <a:rPr lang="en-US" sz="1050" b="1" dirty="0">
                <a:solidFill>
                  <a:srgbClr val="FFFFFF"/>
                </a:solidFill>
              </a:rPr>
              <a:t>Reporting &amp; BI</a:t>
            </a:r>
            <a:endParaRPr lang="en-US" sz="1050" dirty="0"/>
          </a:p>
        </p:txBody>
      </p:sp>
      <p:sp>
        <p:nvSpPr>
          <p:cNvPr id="29" name="Text 22"/>
          <p:cNvSpPr/>
          <p:nvPr/>
        </p:nvSpPr>
        <p:spPr>
          <a:xfrm>
            <a:off x="3282696" y="3502152"/>
            <a:ext cx="2615184" cy="1170432"/>
          </a:xfrm>
          <a:prstGeom prst="rect">
            <a:avLst/>
          </a:prstGeom>
          <a:noFill/>
          <a:ln/>
        </p:spPr>
        <p:txBody>
          <a:bodyPr wrap="square" rtlCol="0" anchor="ctr"/>
          <a:lstStyle/>
          <a:p>
            <a:pPr marL="0" indent="0">
              <a:buNone/>
            </a:pPr>
            <a:r>
              <a:rPr lang="en-US" sz="950" dirty="0">
                <a:solidFill>
                  <a:srgbClr val="455A64"/>
                </a:solidFill>
              </a:rPr>
              <a:t>Tableaux de bord, KPIs, analytique.</a:t>
            </a:r>
            <a:endParaRPr lang="en-US" sz="950" dirty="0"/>
          </a:p>
          <a:p>
            <a:pPr marL="0" indent="0">
              <a:buNone/>
            </a:pPr>
            <a:r>
              <a:rPr lang="en-US" sz="950" dirty="0">
                <a:solidFill>
                  <a:srgbClr val="455A64"/>
                </a:solidFill>
              </a:rPr>
              <a:t>Alimenté par exports manuels Excel.</a:t>
            </a:r>
            <a:endParaRPr lang="en-US" sz="950" dirty="0"/>
          </a:p>
        </p:txBody>
      </p:sp>
      <p:sp>
        <p:nvSpPr>
          <p:cNvPr id="30" name="Shape 23"/>
          <p:cNvSpPr/>
          <p:nvPr/>
        </p:nvSpPr>
        <p:spPr>
          <a:xfrm>
            <a:off x="6163056" y="2971800"/>
            <a:ext cx="2834640" cy="1783080"/>
          </a:xfrm>
          <a:prstGeom prst="rect">
            <a:avLst/>
          </a:prstGeom>
          <a:solidFill>
            <a:srgbClr val="FFFFFF"/>
          </a:solidFill>
          <a:ln w="12700">
            <a:solidFill>
              <a:srgbClr val="C62828"/>
            </a:solidFill>
            <a:prstDash val="solid"/>
          </a:ln>
          <a:effectLst>
            <a:outerShdw blurRad="101600" dist="38100" dir="8100000" algn="bl" rotWithShape="0">
              <a:srgbClr val="000000">
                <a:alpha val="14000"/>
              </a:srgbClr>
            </a:outerShdw>
          </a:effectLst>
        </p:spPr>
      </p:sp>
      <p:sp>
        <p:nvSpPr>
          <p:cNvPr id="31" name="Shape 24"/>
          <p:cNvSpPr/>
          <p:nvPr/>
        </p:nvSpPr>
        <p:spPr>
          <a:xfrm>
            <a:off x="6163056" y="2971800"/>
            <a:ext cx="2834640" cy="457200"/>
          </a:xfrm>
          <a:prstGeom prst="rect">
            <a:avLst/>
          </a:prstGeom>
          <a:solidFill>
            <a:srgbClr val="C62828"/>
          </a:solidFill>
          <a:ln w="12700">
            <a:solidFill>
              <a:srgbClr val="C62828"/>
            </a:solidFill>
            <a:prstDash val="solid"/>
          </a:ln>
        </p:spPr>
      </p:sp>
      <p:pic>
        <p:nvPicPr>
          <p:cNvPr id="32" name="Image 5" descr="preencoded.png"/>
          <p:cNvPicPr>
            <a:picLocks noChangeAspect="1"/>
          </p:cNvPicPr>
          <p:nvPr/>
        </p:nvPicPr>
        <p:blipFill>
          <a:blip r:embed="rId8"/>
          <a:stretch>
            <a:fillRect/>
          </a:stretch>
        </p:blipFill>
        <p:spPr>
          <a:xfrm>
            <a:off x="6254496" y="3054096"/>
            <a:ext cx="292608" cy="292608"/>
          </a:xfrm>
          <a:prstGeom prst="rect">
            <a:avLst/>
          </a:prstGeom>
        </p:spPr>
      </p:pic>
      <p:sp>
        <p:nvSpPr>
          <p:cNvPr id="33" name="Text 25"/>
          <p:cNvSpPr/>
          <p:nvPr/>
        </p:nvSpPr>
        <p:spPr>
          <a:xfrm>
            <a:off x="6620256" y="3026664"/>
            <a:ext cx="2331720" cy="365760"/>
          </a:xfrm>
          <a:prstGeom prst="rect">
            <a:avLst/>
          </a:prstGeom>
          <a:noFill/>
          <a:ln/>
        </p:spPr>
        <p:txBody>
          <a:bodyPr wrap="square" rtlCol="0" anchor="ctr"/>
          <a:lstStyle/>
          <a:p>
            <a:pPr marL="0" indent="0">
              <a:buNone/>
            </a:pPr>
            <a:r>
              <a:rPr lang="en-US" sz="1050" b="1" dirty="0">
                <a:solidFill>
                  <a:srgbClr val="FFFFFF"/>
                </a:solidFill>
              </a:rPr>
              <a:t>Applications Agences &amp; Excel</a:t>
            </a:r>
            <a:endParaRPr lang="en-US" sz="1050" dirty="0"/>
          </a:p>
        </p:txBody>
      </p:sp>
      <p:sp>
        <p:nvSpPr>
          <p:cNvPr id="34" name="Text 26"/>
          <p:cNvSpPr/>
          <p:nvPr/>
        </p:nvSpPr>
        <p:spPr>
          <a:xfrm>
            <a:off x="6272784" y="3502152"/>
            <a:ext cx="2615184" cy="1170432"/>
          </a:xfrm>
          <a:prstGeom prst="rect">
            <a:avLst/>
          </a:prstGeom>
          <a:noFill/>
          <a:ln/>
        </p:spPr>
        <p:txBody>
          <a:bodyPr wrap="square" rtlCol="0" anchor="ctr"/>
          <a:lstStyle/>
          <a:p>
            <a:pPr marL="0" indent="0">
              <a:buNone/>
            </a:pPr>
            <a:r>
              <a:rPr lang="en-US" sz="950" dirty="0">
                <a:solidFill>
                  <a:srgbClr val="455A64"/>
                </a:solidFill>
              </a:rPr>
              <a:t>Saisies locales, fichiers isolés.</a:t>
            </a:r>
            <a:endParaRPr lang="en-US" sz="950" dirty="0"/>
          </a:p>
          <a:p>
            <a:pPr marL="0" indent="0">
              <a:buNone/>
            </a:pPr>
            <a:r>
              <a:rPr lang="en-US" sz="950" dirty="0">
                <a:solidFill>
                  <a:srgbClr val="455A64"/>
                </a:solidFill>
              </a:rPr>
              <a:t>Source majeure de doublons clients.</a:t>
            </a:r>
            <a:endParaRPr lang="en-US" sz="950" dirty="0"/>
          </a:p>
        </p:txBody>
      </p:sp>
      <p:sp>
        <p:nvSpPr>
          <p:cNvPr id="35" name="Shape 27"/>
          <p:cNvSpPr/>
          <p:nvPr/>
        </p:nvSpPr>
        <p:spPr>
          <a:xfrm>
            <a:off x="182880" y="4828032"/>
            <a:ext cx="8778240" cy="256032"/>
          </a:xfrm>
          <a:prstGeom prst="rect">
            <a:avLst/>
          </a:prstGeom>
          <a:solidFill>
            <a:srgbClr val="0B1D3A"/>
          </a:solidFill>
          <a:ln w="12700">
            <a:solidFill>
              <a:srgbClr val="0B1D3A"/>
            </a:solidFill>
            <a:prstDash val="solid"/>
          </a:ln>
        </p:spPr>
      </p:sp>
      <p:sp>
        <p:nvSpPr>
          <p:cNvPr id="36" name="Text 28"/>
          <p:cNvSpPr/>
          <p:nvPr/>
        </p:nvSpPr>
        <p:spPr>
          <a:xfrm>
            <a:off x="182880" y="4828032"/>
            <a:ext cx="8778240" cy="256032"/>
          </a:xfrm>
          <a:prstGeom prst="rect">
            <a:avLst/>
          </a:prstGeom>
          <a:noFill/>
          <a:ln/>
        </p:spPr>
        <p:txBody>
          <a:bodyPr wrap="square" lIns="0" tIns="0" rIns="0" bIns="0" rtlCol="0" anchor="ctr"/>
          <a:lstStyle/>
          <a:p>
            <a:pPr marL="0" indent="0" algn="ctr">
              <a:buNone/>
            </a:pPr>
            <a:r>
              <a:rPr lang="en-US" sz="1000" b="1" dirty="0">
                <a:solidFill>
                  <a:srgbClr val="FFD54F"/>
                </a:solidFill>
              </a:rPr>
              <a:t>Résultat : Chaque système possède sa propre version du client — aucune vue consolidée n'existe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9A825"/>
          </a:solidFill>
          <a:ln w="12700">
            <a:solidFill>
              <a:srgbClr val="F9A825"/>
            </a:solidFill>
            <a:prstDash val="solid"/>
          </a:ln>
        </p:spPr>
      </p:sp>
      <p:sp>
        <p:nvSpPr>
          <p:cNvPr id="3" name="Shape 1"/>
          <p:cNvSpPr/>
          <p:nvPr/>
        </p:nvSpPr>
        <p:spPr>
          <a:xfrm>
            <a:off x="0" y="64008"/>
            <a:ext cx="54864" cy="5079492"/>
          </a:xfrm>
          <a:prstGeom prst="rect">
            <a:avLst/>
          </a:prstGeom>
          <a:solidFill>
            <a:srgbClr val="F9A825"/>
          </a:solidFill>
          <a:ln w="12700">
            <a:solidFill>
              <a:srgbClr val="F9A825"/>
            </a:solidFill>
            <a:prstDash val="solid"/>
          </a:ln>
        </p:spPr>
      </p:sp>
      <p:sp>
        <p:nvSpPr>
          <p:cNvPr id="4" name="Shape 2"/>
          <p:cNvSpPr/>
          <p:nvPr/>
        </p:nvSpPr>
        <p:spPr>
          <a:xfrm>
            <a:off x="6217920" y="731520"/>
            <a:ext cx="2377440" cy="2377440"/>
          </a:xfrm>
          <a:prstGeom prst="ellipse">
            <a:avLst/>
          </a:prstGeom>
          <a:solidFill>
            <a:srgbClr val="1976D2">
              <a:alpha val="35000"/>
            </a:srgbClr>
          </a:solidFill>
          <a:ln w="12700">
            <a:solidFill>
              <a:srgbClr val="1976D2">
                <a:alpha val="35000"/>
              </a:srgbClr>
            </a:solidFill>
            <a:prstDash val="solid"/>
          </a:ln>
        </p:spPr>
      </p:sp>
      <p:pic>
        <p:nvPicPr>
          <p:cNvPr id="5" name="Image 0" descr="preencoded.png"/>
          <p:cNvPicPr>
            <a:picLocks noChangeAspect="1"/>
          </p:cNvPicPr>
          <p:nvPr/>
        </p:nvPicPr>
        <p:blipFill>
          <a:blip r:embed="rId3"/>
          <a:stretch>
            <a:fillRect/>
          </a:stretch>
        </p:blipFill>
        <p:spPr>
          <a:xfrm>
            <a:off x="6720840" y="1097280"/>
            <a:ext cx="1371600" cy="1371600"/>
          </a:xfrm>
          <a:prstGeom prst="rect">
            <a:avLst/>
          </a:prstGeom>
        </p:spPr>
      </p:pic>
      <p:sp>
        <p:nvSpPr>
          <p:cNvPr id="6" name="Text 3"/>
          <p:cNvSpPr/>
          <p:nvPr/>
        </p:nvSpPr>
        <p:spPr>
          <a:xfrm>
            <a:off x="320040" y="1463040"/>
            <a:ext cx="566928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Concepts</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Fondamentaux</a:t>
            </a:r>
            <a:endParaRPr lang="en-US" sz="3600" dirty="0"/>
          </a:p>
        </p:txBody>
      </p:sp>
      <p:sp>
        <p:nvSpPr>
          <p:cNvPr id="7" name="Text 4"/>
          <p:cNvSpPr/>
          <p:nvPr/>
        </p:nvSpPr>
        <p:spPr>
          <a:xfrm>
            <a:off x="320040" y="2514600"/>
            <a:ext cx="5486400" cy="731520"/>
          </a:xfrm>
          <a:prstGeom prst="rect">
            <a:avLst/>
          </a:prstGeom>
          <a:noFill/>
          <a:ln/>
        </p:spPr>
        <p:txBody>
          <a:bodyPr wrap="square" rtlCol="0" anchor="ctr"/>
          <a:lstStyle/>
          <a:p>
            <a:pPr marL="0" indent="0">
              <a:buNone/>
            </a:pPr>
            <a:r>
              <a:rPr lang="en-US" sz="1400" i="1" dirty="0">
                <a:solidFill>
                  <a:srgbClr val="42A5F5"/>
                </a:solidFill>
                <a:latin typeface="Calibri" pitchFamily="34" charset="0"/>
                <a:ea typeface="Calibri" pitchFamily="34" charset="-122"/>
                <a:cs typeface="Calibri" pitchFamily="34" charset="-120"/>
              </a:rPr>
              <a:t>SSOT · Master Data · MDM · Golden Record · Data Quality</a:t>
            </a:r>
            <a:endParaRPr lang="en-US" sz="1400" dirty="0"/>
          </a:p>
        </p:txBody>
      </p:sp>
      <p:sp>
        <p:nvSpPr>
          <p:cNvPr id="8" name="Shape 5"/>
          <p:cNvSpPr/>
          <p:nvPr/>
        </p:nvSpPr>
        <p:spPr>
          <a:xfrm>
            <a:off x="320040" y="4114800"/>
            <a:ext cx="1097280" cy="347472"/>
          </a:xfrm>
          <a:prstGeom prst="roundRect">
            <a:avLst>
              <a:gd name="adj" fmla="val 13158"/>
            </a:avLst>
          </a:prstGeom>
          <a:solidFill>
            <a:srgbClr val="F9A825"/>
          </a:solidFill>
          <a:ln w="12700">
            <a:solidFill>
              <a:srgbClr val="F9A825"/>
            </a:solidFill>
            <a:prstDash val="solid"/>
          </a:ln>
        </p:spPr>
      </p:sp>
      <p:sp>
        <p:nvSpPr>
          <p:cNvPr id="9" name="Text 6"/>
          <p:cNvSpPr/>
          <p:nvPr/>
        </p:nvSpPr>
        <p:spPr>
          <a:xfrm>
            <a:off x="320040" y="4114800"/>
            <a:ext cx="1097280" cy="347472"/>
          </a:xfrm>
          <a:prstGeom prst="rect">
            <a:avLst/>
          </a:prstGeom>
          <a:noFill/>
          <a:ln/>
        </p:spPr>
        <p:txBody>
          <a:bodyPr wrap="square" lIns="0" tIns="0" rIns="0" bIns="0" rtlCol="0" anchor="ctr"/>
          <a:lstStyle/>
          <a:p>
            <a:pPr marL="0" indent="0" algn="ctr">
              <a:buNone/>
            </a:pPr>
            <a:r>
              <a:rPr lang="en-US" sz="950" b="1" dirty="0">
                <a:solidFill>
                  <a:srgbClr val="0B1D3A"/>
                </a:solidFill>
              </a:rPr>
              <a:t>ÉTAPE 02</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Shape 1"/>
          <p:cNvSpPr/>
          <p:nvPr/>
        </p:nvSpPr>
        <p:spPr>
          <a:xfrm>
            <a:off x="0" y="0"/>
            <a:ext cx="54864" cy="5143500"/>
          </a:xfrm>
          <a:prstGeom prst="rect">
            <a:avLst/>
          </a:prstGeom>
          <a:solidFill>
            <a:srgbClr val="F9A825"/>
          </a:solidFill>
          <a:ln w="12700">
            <a:solidFill>
              <a:srgbClr val="F9A825"/>
            </a:solidFill>
            <a:prstDash val="solid"/>
          </a:ln>
        </p:spPr>
      </p:sp>
      <p:sp>
        <p:nvSpPr>
          <p:cNvPr id="4" name="Text 2"/>
          <p:cNvSpPr/>
          <p:nvPr/>
        </p:nvSpPr>
        <p:spPr>
          <a:xfrm>
            <a:off x="228600" y="137160"/>
            <a:ext cx="8686800" cy="6858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03a – SSOT : Single Source of Truth</a:t>
            </a:r>
            <a:endParaRPr lang="en-US" sz="2200" dirty="0"/>
          </a:p>
        </p:txBody>
      </p:sp>
      <p:sp>
        <p:nvSpPr>
          <p:cNvPr id="5" name="Shape 3"/>
          <p:cNvSpPr/>
          <p:nvPr/>
        </p:nvSpPr>
        <p:spPr>
          <a:xfrm>
            <a:off x="3246120" y="1143000"/>
            <a:ext cx="2651760" cy="1005840"/>
          </a:xfrm>
          <a:prstGeom prst="rect">
            <a:avLst/>
          </a:prstGeom>
          <a:solidFill>
            <a:srgbClr val="F9A825"/>
          </a:solidFill>
          <a:ln w="12700">
            <a:solidFill>
              <a:srgbClr val="F9A825"/>
            </a:solidFill>
            <a:prstDash val="solid"/>
          </a:ln>
          <a:effectLst>
            <a:outerShdw blurRad="101600" dist="38100" dir="8100000" algn="bl" rotWithShape="0">
              <a:srgbClr val="000000">
                <a:alpha val="14000"/>
              </a:srgbClr>
            </a:outerShdw>
          </a:effectLst>
        </p:spPr>
      </p:sp>
      <p:pic>
        <p:nvPicPr>
          <p:cNvPr id="6" name="Image 0" descr="preencoded.png"/>
          <p:cNvPicPr>
            <a:picLocks noChangeAspect="1"/>
          </p:cNvPicPr>
          <p:nvPr/>
        </p:nvPicPr>
        <p:blipFill>
          <a:blip r:embed="rId3"/>
          <a:stretch>
            <a:fillRect/>
          </a:stretch>
        </p:blipFill>
        <p:spPr>
          <a:xfrm>
            <a:off x="3429000" y="1188720"/>
            <a:ext cx="457200" cy="457200"/>
          </a:xfrm>
          <a:prstGeom prst="rect">
            <a:avLst/>
          </a:prstGeom>
        </p:spPr>
      </p:pic>
      <p:sp>
        <p:nvSpPr>
          <p:cNvPr id="7" name="Text 4"/>
          <p:cNvSpPr/>
          <p:nvPr/>
        </p:nvSpPr>
        <p:spPr>
          <a:xfrm>
            <a:off x="3913632" y="1188720"/>
            <a:ext cx="1828800" cy="457200"/>
          </a:xfrm>
          <a:prstGeom prst="rect">
            <a:avLst/>
          </a:prstGeom>
          <a:noFill/>
          <a:ln/>
        </p:spPr>
        <p:txBody>
          <a:bodyPr wrap="square" rtlCol="0" anchor="ctr"/>
          <a:lstStyle/>
          <a:p>
            <a:pPr marL="0" indent="0">
              <a:buNone/>
            </a:pPr>
            <a:r>
              <a:rPr lang="en-US" sz="2200" b="1" dirty="0">
                <a:solidFill>
                  <a:srgbClr val="0B1D3A"/>
                </a:solidFill>
              </a:rPr>
              <a:t>SSOT</a:t>
            </a:r>
            <a:endParaRPr lang="en-US" sz="2200" dirty="0"/>
          </a:p>
        </p:txBody>
      </p:sp>
      <p:sp>
        <p:nvSpPr>
          <p:cNvPr id="8" name="Text 5"/>
          <p:cNvSpPr/>
          <p:nvPr/>
        </p:nvSpPr>
        <p:spPr>
          <a:xfrm>
            <a:off x="3246120" y="1627632"/>
            <a:ext cx="2651760" cy="502920"/>
          </a:xfrm>
          <a:prstGeom prst="rect">
            <a:avLst/>
          </a:prstGeom>
          <a:noFill/>
          <a:ln/>
        </p:spPr>
        <p:txBody>
          <a:bodyPr wrap="square" rtlCol="0" anchor="ctr"/>
          <a:lstStyle/>
          <a:p>
            <a:pPr marL="0" indent="0" algn="ctr">
              <a:buNone/>
            </a:pPr>
            <a:r>
              <a:rPr lang="en-US" sz="1000" dirty="0">
                <a:solidFill>
                  <a:srgbClr val="0B1D3A"/>
                </a:solidFill>
              </a:rPr>
              <a:t>Référentiel Unique</a:t>
            </a:r>
            <a:endParaRPr lang="en-US" sz="1000" dirty="0"/>
          </a:p>
        </p:txBody>
      </p:sp>
      <p:sp>
        <p:nvSpPr>
          <p:cNvPr id="9" name="Shape 6"/>
          <p:cNvSpPr/>
          <p:nvPr/>
        </p:nvSpPr>
        <p:spPr>
          <a:xfrm>
            <a:off x="164592" y="1051560"/>
            <a:ext cx="2514600" cy="822960"/>
          </a:xfrm>
          <a:prstGeom prst="rect">
            <a:avLst/>
          </a:prstGeom>
          <a:solidFill>
            <a:srgbClr val="0B1D3A"/>
          </a:solidFill>
          <a:ln w="12700">
            <a:solidFill>
              <a:srgbClr val="1565C0"/>
            </a:solidFill>
            <a:prstDash val="solid"/>
          </a:ln>
          <a:effectLst>
            <a:outerShdw blurRad="101600" dist="38100" dir="8100000" algn="bl" rotWithShape="0">
              <a:srgbClr val="000000">
                <a:alpha val="14000"/>
              </a:srgbClr>
            </a:outerShdw>
          </a:effectLst>
        </p:spPr>
      </p:sp>
      <p:sp>
        <p:nvSpPr>
          <p:cNvPr id="10" name="Text 7"/>
          <p:cNvSpPr/>
          <p:nvPr/>
        </p:nvSpPr>
        <p:spPr>
          <a:xfrm>
            <a:off x="164592" y="1088136"/>
            <a:ext cx="2514600" cy="420624"/>
          </a:xfrm>
          <a:prstGeom prst="rect">
            <a:avLst/>
          </a:prstGeom>
          <a:noFill/>
          <a:ln/>
        </p:spPr>
        <p:txBody>
          <a:bodyPr wrap="square" rtlCol="0" anchor="ctr"/>
          <a:lstStyle/>
          <a:p>
            <a:pPr marL="0" indent="0" algn="ctr">
              <a:buNone/>
            </a:pPr>
            <a:r>
              <a:rPr lang="en-US" sz="1100" b="1" dirty="0">
                <a:solidFill>
                  <a:srgbClr val="FFFFFF"/>
                </a:solidFill>
              </a:rPr>
              <a:t>CBS</a:t>
            </a:r>
            <a:endParaRPr lang="en-US" sz="1100" dirty="0"/>
          </a:p>
        </p:txBody>
      </p:sp>
      <p:sp>
        <p:nvSpPr>
          <p:cNvPr id="11" name="Text 8"/>
          <p:cNvSpPr/>
          <p:nvPr/>
        </p:nvSpPr>
        <p:spPr>
          <a:xfrm>
            <a:off x="164592" y="1481328"/>
            <a:ext cx="2514600" cy="365760"/>
          </a:xfrm>
          <a:prstGeom prst="rect">
            <a:avLst/>
          </a:prstGeom>
          <a:noFill/>
          <a:ln/>
        </p:spPr>
        <p:txBody>
          <a:bodyPr wrap="square" rtlCol="0" anchor="ctr"/>
          <a:lstStyle/>
          <a:p>
            <a:pPr marL="0" indent="0" algn="ctr">
              <a:buNone/>
            </a:pPr>
            <a:r>
              <a:rPr lang="en-US" sz="900" dirty="0">
                <a:solidFill>
                  <a:srgbClr val="90A4AE"/>
                </a:solidFill>
              </a:rPr>
              <a:t>Comptes &amp; Opérations</a:t>
            </a:r>
            <a:endParaRPr lang="en-US" sz="900" dirty="0"/>
          </a:p>
        </p:txBody>
      </p:sp>
      <p:sp>
        <p:nvSpPr>
          <p:cNvPr id="12" name="Shape 9"/>
          <p:cNvSpPr/>
          <p:nvPr/>
        </p:nvSpPr>
        <p:spPr>
          <a:xfrm>
            <a:off x="3246120" y="2331720"/>
            <a:ext cx="2514600" cy="822960"/>
          </a:xfrm>
          <a:prstGeom prst="rect">
            <a:avLst/>
          </a:prstGeom>
          <a:solidFill>
            <a:srgbClr val="0B1D3A"/>
          </a:solidFill>
          <a:ln w="12700">
            <a:solidFill>
              <a:srgbClr val="1565C0"/>
            </a:solidFill>
            <a:prstDash val="solid"/>
          </a:ln>
          <a:effectLst>
            <a:outerShdw blurRad="101600" dist="38100" dir="8100000" algn="bl" rotWithShape="0">
              <a:srgbClr val="000000">
                <a:alpha val="14000"/>
              </a:srgbClr>
            </a:outerShdw>
          </a:effectLst>
        </p:spPr>
      </p:sp>
      <p:sp>
        <p:nvSpPr>
          <p:cNvPr id="13" name="Text 10"/>
          <p:cNvSpPr/>
          <p:nvPr/>
        </p:nvSpPr>
        <p:spPr>
          <a:xfrm>
            <a:off x="3246120" y="2368296"/>
            <a:ext cx="2514600" cy="420624"/>
          </a:xfrm>
          <a:prstGeom prst="rect">
            <a:avLst/>
          </a:prstGeom>
          <a:noFill/>
          <a:ln/>
        </p:spPr>
        <p:txBody>
          <a:bodyPr wrap="square" rtlCol="0" anchor="ctr"/>
          <a:lstStyle/>
          <a:p>
            <a:pPr marL="0" indent="0" algn="ctr">
              <a:buNone/>
            </a:pPr>
            <a:r>
              <a:rPr lang="en-US" sz="1100" b="1" dirty="0">
                <a:solidFill>
                  <a:srgbClr val="FFFFFF"/>
                </a:solidFill>
              </a:rPr>
              <a:t>Mobile Banking</a:t>
            </a:r>
            <a:endParaRPr lang="en-US" sz="1100" dirty="0"/>
          </a:p>
        </p:txBody>
      </p:sp>
      <p:sp>
        <p:nvSpPr>
          <p:cNvPr id="14" name="Text 11"/>
          <p:cNvSpPr/>
          <p:nvPr/>
        </p:nvSpPr>
        <p:spPr>
          <a:xfrm>
            <a:off x="3246120" y="2761488"/>
            <a:ext cx="2514600" cy="365760"/>
          </a:xfrm>
          <a:prstGeom prst="rect">
            <a:avLst/>
          </a:prstGeom>
          <a:noFill/>
          <a:ln/>
        </p:spPr>
        <p:txBody>
          <a:bodyPr wrap="square" rtlCol="0" anchor="ctr"/>
          <a:lstStyle/>
          <a:p>
            <a:pPr marL="0" indent="0" algn="ctr">
              <a:buNone/>
            </a:pPr>
            <a:r>
              <a:rPr lang="en-US" sz="900" dirty="0">
                <a:solidFill>
                  <a:srgbClr val="90A4AE"/>
                </a:solidFill>
              </a:rPr>
              <a:t>Transactions digitales</a:t>
            </a:r>
            <a:endParaRPr lang="en-US" sz="900" dirty="0"/>
          </a:p>
        </p:txBody>
      </p:sp>
      <p:sp>
        <p:nvSpPr>
          <p:cNvPr id="15" name="Shape 12"/>
          <p:cNvSpPr/>
          <p:nvPr/>
        </p:nvSpPr>
        <p:spPr>
          <a:xfrm>
            <a:off x="6327648" y="1051560"/>
            <a:ext cx="2514600" cy="822960"/>
          </a:xfrm>
          <a:prstGeom prst="rect">
            <a:avLst/>
          </a:prstGeom>
          <a:solidFill>
            <a:srgbClr val="0B1D3A"/>
          </a:solidFill>
          <a:ln w="12700">
            <a:solidFill>
              <a:srgbClr val="1565C0"/>
            </a:solidFill>
            <a:prstDash val="solid"/>
          </a:ln>
          <a:effectLst>
            <a:outerShdw blurRad="101600" dist="38100" dir="8100000" algn="bl" rotWithShape="0">
              <a:srgbClr val="000000">
                <a:alpha val="14000"/>
              </a:srgbClr>
            </a:outerShdw>
          </a:effectLst>
        </p:spPr>
      </p:sp>
      <p:sp>
        <p:nvSpPr>
          <p:cNvPr id="16" name="Text 13"/>
          <p:cNvSpPr/>
          <p:nvPr/>
        </p:nvSpPr>
        <p:spPr>
          <a:xfrm>
            <a:off x="6327648" y="1088136"/>
            <a:ext cx="2514600" cy="420624"/>
          </a:xfrm>
          <a:prstGeom prst="rect">
            <a:avLst/>
          </a:prstGeom>
          <a:noFill/>
          <a:ln/>
        </p:spPr>
        <p:txBody>
          <a:bodyPr wrap="square" rtlCol="0" anchor="ctr"/>
          <a:lstStyle/>
          <a:p>
            <a:pPr marL="0" indent="0" algn="ctr">
              <a:buNone/>
            </a:pPr>
            <a:r>
              <a:rPr lang="en-US" sz="1100" b="1" dirty="0">
                <a:solidFill>
                  <a:srgbClr val="FFFFFF"/>
                </a:solidFill>
              </a:rPr>
              <a:t>Crédits &amp; Finance</a:t>
            </a:r>
            <a:endParaRPr lang="en-US" sz="1100" dirty="0"/>
          </a:p>
        </p:txBody>
      </p:sp>
      <p:sp>
        <p:nvSpPr>
          <p:cNvPr id="17" name="Text 14"/>
          <p:cNvSpPr/>
          <p:nvPr/>
        </p:nvSpPr>
        <p:spPr>
          <a:xfrm>
            <a:off x="6327648" y="1481328"/>
            <a:ext cx="2514600" cy="365760"/>
          </a:xfrm>
          <a:prstGeom prst="rect">
            <a:avLst/>
          </a:prstGeom>
          <a:noFill/>
          <a:ln/>
        </p:spPr>
        <p:txBody>
          <a:bodyPr wrap="square" rtlCol="0" anchor="ctr"/>
          <a:lstStyle/>
          <a:p>
            <a:pPr marL="0" indent="0" algn="ctr">
              <a:buNone/>
            </a:pPr>
            <a:r>
              <a:rPr lang="en-US" sz="900" dirty="0">
                <a:solidFill>
                  <a:srgbClr val="90A4AE"/>
                </a:solidFill>
              </a:rPr>
              <a:t>Encours, Comptabilité</a:t>
            </a:r>
            <a:endParaRPr lang="en-US" sz="900" dirty="0"/>
          </a:p>
        </p:txBody>
      </p:sp>
      <p:sp>
        <p:nvSpPr>
          <p:cNvPr id="18" name="Shape 15"/>
          <p:cNvSpPr/>
          <p:nvPr/>
        </p:nvSpPr>
        <p:spPr>
          <a:xfrm>
            <a:off x="3246120" y="73152"/>
            <a:ext cx="2514600" cy="822960"/>
          </a:xfrm>
          <a:prstGeom prst="rect">
            <a:avLst/>
          </a:prstGeom>
          <a:solidFill>
            <a:srgbClr val="0B1D3A"/>
          </a:solidFill>
          <a:ln w="12700">
            <a:solidFill>
              <a:srgbClr val="1565C0"/>
            </a:solidFill>
            <a:prstDash val="solid"/>
          </a:ln>
          <a:effectLst>
            <a:outerShdw blurRad="101600" dist="38100" dir="8100000" algn="bl" rotWithShape="0">
              <a:srgbClr val="000000">
                <a:alpha val="14000"/>
              </a:srgbClr>
            </a:outerShdw>
          </a:effectLst>
        </p:spPr>
      </p:sp>
      <p:sp>
        <p:nvSpPr>
          <p:cNvPr id="19" name="Text 16"/>
          <p:cNvSpPr/>
          <p:nvPr/>
        </p:nvSpPr>
        <p:spPr>
          <a:xfrm>
            <a:off x="3246120" y="109728"/>
            <a:ext cx="2514600" cy="420624"/>
          </a:xfrm>
          <a:prstGeom prst="rect">
            <a:avLst/>
          </a:prstGeom>
          <a:noFill/>
          <a:ln/>
        </p:spPr>
        <p:txBody>
          <a:bodyPr wrap="square" rtlCol="0" anchor="ctr"/>
          <a:lstStyle/>
          <a:p>
            <a:pPr marL="0" indent="0" algn="ctr">
              <a:buNone/>
            </a:pPr>
            <a:r>
              <a:rPr lang="en-US" sz="1100" b="1" dirty="0">
                <a:solidFill>
                  <a:srgbClr val="FFFFFF"/>
                </a:solidFill>
              </a:rPr>
              <a:t>Reporting &amp; BI</a:t>
            </a:r>
            <a:endParaRPr lang="en-US" sz="1100" dirty="0"/>
          </a:p>
        </p:txBody>
      </p:sp>
      <p:sp>
        <p:nvSpPr>
          <p:cNvPr id="20" name="Text 17"/>
          <p:cNvSpPr/>
          <p:nvPr/>
        </p:nvSpPr>
        <p:spPr>
          <a:xfrm>
            <a:off x="3246120" y="502920"/>
            <a:ext cx="2514600" cy="365760"/>
          </a:xfrm>
          <a:prstGeom prst="rect">
            <a:avLst/>
          </a:prstGeom>
          <a:noFill/>
          <a:ln/>
        </p:spPr>
        <p:txBody>
          <a:bodyPr wrap="square" rtlCol="0" anchor="ctr"/>
          <a:lstStyle/>
          <a:p>
            <a:pPr marL="0" indent="0" algn="ctr">
              <a:buNone/>
            </a:pPr>
            <a:r>
              <a:rPr lang="en-US" sz="900" dirty="0">
                <a:solidFill>
                  <a:srgbClr val="90A4AE"/>
                </a:solidFill>
              </a:rPr>
              <a:t>Tableaux de bord unifiés</a:t>
            </a:r>
            <a:endParaRPr lang="en-US" sz="900" dirty="0"/>
          </a:p>
        </p:txBody>
      </p:sp>
      <p:sp>
        <p:nvSpPr>
          <p:cNvPr id="21" name="Shape 18"/>
          <p:cNvSpPr/>
          <p:nvPr/>
        </p:nvSpPr>
        <p:spPr>
          <a:xfrm>
            <a:off x="2679192" y="1417320"/>
            <a:ext cx="566928" cy="0"/>
          </a:xfrm>
          <a:prstGeom prst="line">
            <a:avLst/>
          </a:prstGeom>
          <a:noFill/>
          <a:ln w="25400">
            <a:solidFill>
              <a:srgbClr val="F9A825"/>
            </a:solidFill>
            <a:prstDash val="sysDot"/>
          </a:ln>
        </p:spPr>
      </p:sp>
      <p:sp>
        <p:nvSpPr>
          <p:cNvPr id="22" name="Shape 19"/>
          <p:cNvSpPr/>
          <p:nvPr/>
        </p:nvSpPr>
        <p:spPr>
          <a:xfrm>
            <a:off x="4572000" y="896112"/>
            <a:ext cx="0" cy="246888"/>
          </a:xfrm>
          <a:prstGeom prst="line">
            <a:avLst/>
          </a:prstGeom>
          <a:noFill/>
          <a:ln w="25400">
            <a:solidFill>
              <a:srgbClr val="F9A825"/>
            </a:solidFill>
            <a:prstDash val="sysDot"/>
          </a:ln>
        </p:spPr>
      </p:sp>
      <p:sp>
        <p:nvSpPr>
          <p:cNvPr id="23" name="Shape 20"/>
          <p:cNvSpPr/>
          <p:nvPr/>
        </p:nvSpPr>
        <p:spPr>
          <a:xfrm>
            <a:off x="5897880" y="1417320"/>
            <a:ext cx="429768" cy="0"/>
          </a:xfrm>
          <a:prstGeom prst="line">
            <a:avLst/>
          </a:prstGeom>
          <a:noFill/>
          <a:ln w="25400">
            <a:solidFill>
              <a:srgbClr val="F9A825"/>
            </a:solidFill>
            <a:prstDash val="sysDot"/>
          </a:ln>
        </p:spPr>
      </p:sp>
      <p:sp>
        <p:nvSpPr>
          <p:cNvPr id="24" name="Shape 21"/>
          <p:cNvSpPr/>
          <p:nvPr/>
        </p:nvSpPr>
        <p:spPr>
          <a:xfrm>
            <a:off x="4572000" y="2148840"/>
            <a:ext cx="0" cy="182880"/>
          </a:xfrm>
          <a:prstGeom prst="line">
            <a:avLst/>
          </a:prstGeom>
          <a:noFill/>
          <a:ln w="25400">
            <a:solidFill>
              <a:srgbClr val="F9A825"/>
            </a:solidFill>
            <a:prstDash val="sysDot"/>
          </a:ln>
        </p:spPr>
      </p:sp>
      <p:sp>
        <p:nvSpPr>
          <p:cNvPr id="25" name="Shape 22"/>
          <p:cNvSpPr/>
          <p:nvPr/>
        </p:nvSpPr>
        <p:spPr>
          <a:xfrm>
            <a:off x="164592" y="3429000"/>
            <a:ext cx="8814816" cy="1508760"/>
          </a:xfrm>
          <a:prstGeom prst="rect">
            <a:avLst/>
          </a:prstGeom>
          <a:solidFill>
            <a:srgbClr val="0D2545"/>
          </a:solidFill>
          <a:ln w="12700">
            <a:solidFill>
              <a:srgbClr val="0D2545"/>
            </a:solidFill>
            <a:prstDash val="solid"/>
          </a:ln>
          <a:effectLst>
            <a:outerShdw blurRad="101600" dist="38100" dir="8100000" algn="bl" rotWithShape="0">
              <a:srgbClr val="000000">
                <a:alpha val="14000"/>
              </a:srgbClr>
            </a:outerShdw>
          </a:effectLst>
        </p:spPr>
      </p:sp>
      <p:sp>
        <p:nvSpPr>
          <p:cNvPr id="26" name="Text 23"/>
          <p:cNvSpPr/>
          <p:nvPr/>
        </p:nvSpPr>
        <p:spPr>
          <a:xfrm>
            <a:off x="347472" y="3493008"/>
            <a:ext cx="1828800" cy="347472"/>
          </a:xfrm>
          <a:prstGeom prst="rect">
            <a:avLst/>
          </a:prstGeom>
          <a:noFill/>
          <a:ln/>
        </p:spPr>
        <p:txBody>
          <a:bodyPr wrap="square" rtlCol="0" anchor="ctr"/>
          <a:lstStyle/>
          <a:p>
            <a:pPr marL="0" indent="0">
              <a:buNone/>
            </a:pPr>
            <a:r>
              <a:rPr lang="en-US" sz="1100" b="1" dirty="0">
                <a:solidFill>
                  <a:srgbClr val="F9A825"/>
                </a:solidFill>
              </a:rPr>
              <a:t>Définition</a:t>
            </a:r>
            <a:endParaRPr lang="en-US" sz="1100" dirty="0"/>
          </a:p>
        </p:txBody>
      </p:sp>
      <p:sp>
        <p:nvSpPr>
          <p:cNvPr id="27" name="Text 24"/>
          <p:cNvSpPr/>
          <p:nvPr/>
        </p:nvSpPr>
        <p:spPr>
          <a:xfrm>
            <a:off x="347472" y="3822192"/>
            <a:ext cx="8485632" cy="1051560"/>
          </a:xfrm>
          <a:prstGeom prst="rect">
            <a:avLst/>
          </a:prstGeom>
          <a:noFill/>
          <a:ln/>
        </p:spPr>
        <p:txBody>
          <a:bodyPr wrap="square" rtlCol="0" anchor="ctr"/>
          <a:lstStyle/>
          <a:p>
            <a:pPr marL="0" indent="0">
              <a:buNone/>
            </a:pPr>
            <a:r>
              <a:rPr lang="en-US" sz="1000" dirty="0">
                <a:solidFill>
                  <a:srgbClr val="ECEFF1"/>
                </a:solidFill>
              </a:rPr>
              <a:t>Le SSOT (Single Source of Truth) est le principe selon lequel chaque donnée de référence n'existe qu'en un seul endroit officiel dans le SI. Pour Vision Bank, il s'agit d'éliminer les contradictions entre CBS, Crédits, Mobile et Reporting en désignant une source autoritaire pour chaque concept métier : client, compte, produit.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Shape 1"/>
          <p:cNvSpPr/>
          <p:nvPr/>
        </p:nvSpPr>
        <p:spPr>
          <a:xfrm>
            <a:off x="0" y="0"/>
            <a:ext cx="54864" cy="5143500"/>
          </a:xfrm>
          <a:prstGeom prst="rect">
            <a:avLst/>
          </a:prstGeom>
          <a:solidFill>
            <a:srgbClr val="F9A825"/>
          </a:solidFill>
          <a:ln w="12700">
            <a:solidFill>
              <a:srgbClr val="F9A825"/>
            </a:solidFill>
            <a:prstDash val="solid"/>
          </a:ln>
        </p:spPr>
      </p:sp>
      <p:sp>
        <p:nvSpPr>
          <p:cNvPr id="4" name="Text 2"/>
          <p:cNvSpPr/>
          <p:nvPr/>
        </p:nvSpPr>
        <p:spPr>
          <a:xfrm>
            <a:off x="228600" y="137160"/>
            <a:ext cx="8686800" cy="6858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03b – Master Data Management (MDM)</a:t>
            </a:r>
            <a:endParaRPr lang="en-US" sz="2200" dirty="0"/>
          </a:p>
        </p:txBody>
      </p:sp>
      <p:sp>
        <p:nvSpPr>
          <p:cNvPr id="5" name="Shape 3"/>
          <p:cNvSpPr/>
          <p:nvPr/>
        </p:nvSpPr>
        <p:spPr>
          <a:xfrm>
            <a:off x="182880" y="1051560"/>
            <a:ext cx="2788920" cy="3931920"/>
          </a:xfrm>
          <a:prstGeom prst="rect">
            <a:avLst/>
          </a:prstGeom>
          <a:solidFill>
            <a:srgbClr val="FFFFFF"/>
          </a:solidFill>
          <a:ln w="12700">
            <a:solidFill>
              <a:srgbClr val="1565C0"/>
            </a:solidFill>
            <a:prstDash val="solid"/>
          </a:ln>
          <a:effectLst>
            <a:outerShdw blurRad="101600" dist="38100" dir="8100000" algn="bl" rotWithShape="0">
              <a:srgbClr val="000000">
                <a:alpha val="14000"/>
              </a:srgbClr>
            </a:outerShdw>
          </a:effectLst>
        </p:spPr>
      </p:sp>
      <p:sp>
        <p:nvSpPr>
          <p:cNvPr id="6" name="Shape 4"/>
          <p:cNvSpPr/>
          <p:nvPr/>
        </p:nvSpPr>
        <p:spPr>
          <a:xfrm>
            <a:off x="182880" y="1051560"/>
            <a:ext cx="2788920" cy="566928"/>
          </a:xfrm>
          <a:prstGeom prst="rect">
            <a:avLst/>
          </a:prstGeom>
          <a:solidFill>
            <a:srgbClr val="1565C0"/>
          </a:solidFill>
          <a:ln w="12700">
            <a:solidFill>
              <a:srgbClr val="1565C0"/>
            </a:solidFill>
            <a:prstDash val="solid"/>
          </a:ln>
        </p:spPr>
      </p:sp>
      <p:pic>
        <p:nvPicPr>
          <p:cNvPr id="7" name="Image 0" descr="preencoded.png"/>
          <p:cNvPicPr>
            <a:picLocks noChangeAspect="1"/>
          </p:cNvPicPr>
          <p:nvPr/>
        </p:nvPicPr>
        <p:blipFill>
          <a:blip r:embed="rId3"/>
          <a:stretch>
            <a:fillRect/>
          </a:stretch>
        </p:blipFill>
        <p:spPr>
          <a:xfrm>
            <a:off x="274320" y="1115568"/>
            <a:ext cx="365760" cy="365760"/>
          </a:xfrm>
          <a:prstGeom prst="rect">
            <a:avLst/>
          </a:prstGeom>
        </p:spPr>
      </p:pic>
      <p:sp>
        <p:nvSpPr>
          <p:cNvPr id="8" name="Text 5"/>
          <p:cNvSpPr/>
          <p:nvPr/>
        </p:nvSpPr>
        <p:spPr>
          <a:xfrm>
            <a:off x="713232" y="1078992"/>
            <a:ext cx="2194560" cy="502920"/>
          </a:xfrm>
          <a:prstGeom prst="rect">
            <a:avLst/>
          </a:prstGeom>
          <a:noFill/>
          <a:ln/>
        </p:spPr>
        <p:txBody>
          <a:bodyPr wrap="square" rtlCol="0" anchor="ctr"/>
          <a:lstStyle/>
          <a:p>
            <a:pPr marL="0" indent="0">
              <a:buNone/>
            </a:pPr>
            <a:r>
              <a:rPr lang="en-US" sz="1200" b="1" dirty="0">
                <a:solidFill>
                  <a:srgbClr val="FFFFFF"/>
                </a:solidFill>
              </a:rPr>
              <a:t>Master Data</a:t>
            </a:r>
            <a:endParaRPr lang="en-US" sz="1200" dirty="0"/>
          </a:p>
        </p:txBody>
      </p:sp>
      <p:sp>
        <p:nvSpPr>
          <p:cNvPr id="9" name="Shape 6"/>
          <p:cNvSpPr/>
          <p:nvPr/>
        </p:nvSpPr>
        <p:spPr>
          <a:xfrm>
            <a:off x="347472" y="1828800"/>
            <a:ext cx="182880" cy="182880"/>
          </a:xfrm>
          <a:prstGeom prst="ellipse">
            <a:avLst/>
          </a:prstGeom>
          <a:solidFill>
            <a:srgbClr val="1565C0"/>
          </a:solidFill>
          <a:ln w="12700">
            <a:solidFill>
              <a:srgbClr val="1565C0"/>
            </a:solidFill>
            <a:prstDash val="solid"/>
          </a:ln>
        </p:spPr>
      </p:sp>
      <p:sp>
        <p:nvSpPr>
          <p:cNvPr id="10" name="Text 7"/>
          <p:cNvSpPr/>
          <p:nvPr/>
        </p:nvSpPr>
        <p:spPr>
          <a:xfrm>
            <a:off x="621792" y="1737360"/>
            <a:ext cx="2240280" cy="731520"/>
          </a:xfrm>
          <a:prstGeom prst="rect">
            <a:avLst/>
          </a:prstGeom>
          <a:noFill/>
          <a:ln/>
        </p:spPr>
        <p:txBody>
          <a:bodyPr wrap="square" rtlCol="0" anchor="ctr"/>
          <a:lstStyle/>
          <a:p>
            <a:pPr marL="0" indent="0">
              <a:buNone/>
            </a:pPr>
            <a:r>
              <a:rPr lang="en-US" sz="1000" dirty="0">
                <a:solidFill>
                  <a:srgbClr val="455A64"/>
                </a:solidFill>
              </a:rPr>
              <a:t>Données de référence stables</a:t>
            </a:r>
            <a:endParaRPr lang="en-US" sz="1000" dirty="0"/>
          </a:p>
        </p:txBody>
      </p:sp>
      <p:sp>
        <p:nvSpPr>
          <p:cNvPr id="11" name="Shape 8"/>
          <p:cNvSpPr/>
          <p:nvPr/>
        </p:nvSpPr>
        <p:spPr>
          <a:xfrm>
            <a:off x="347472" y="2633472"/>
            <a:ext cx="182880" cy="182880"/>
          </a:xfrm>
          <a:prstGeom prst="ellipse">
            <a:avLst/>
          </a:prstGeom>
          <a:solidFill>
            <a:srgbClr val="1565C0"/>
          </a:solidFill>
          <a:ln w="12700">
            <a:solidFill>
              <a:srgbClr val="1565C0"/>
            </a:solidFill>
            <a:prstDash val="solid"/>
          </a:ln>
        </p:spPr>
      </p:sp>
      <p:sp>
        <p:nvSpPr>
          <p:cNvPr id="12" name="Text 9"/>
          <p:cNvSpPr/>
          <p:nvPr/>
        </p:nvSpPr>
        <p:spPr>
          <a:xfrm>
            <a:off x="621792" y="2542032"/>
            <a:ext cx="2240280" cy="731520"/>
          </a:xfrm>
          <a:prstGeom prst="rect">
            <a:avLst/>
          </a:prstGeom>
          <a:noFill/>
          <a:ln/>
        </p:spPr>
        <p:txBody>
          <a:bodyPr wrap="square" rtlCol="0" anchor="ctr"/>
          <a:lstStyle/>
          <a:p>
            <a:pPr marL="0" indent="0">
              <a:buNone/>
            </a:pPr>
            <a:r>
              <a:rPr lang="en-US" sz="1000" dirty="0">
                <a:solidFill>
                  <a:srgbClr val="455A64"/>
                </a:solidFill>
              </a:rPr>
              <a:t>Entités partagées entre systèmes</a:t>
            </a:r>
            <a:endParaRPr lang="en-US" sz="1000" dirty="0"/>
          </a:p>
        </p:txBody>
      </p:sp>
      <p:sp>
        <p:nvSpPr>
          <p:cNvPr id="13" name="Shape 10"/>
          <p:cNvSpPr/>
          <p:nvPr/>
        </p:nvSpPr>
        <p:spPr>
          <a:xfrm>
            <a:off x="347472" y="3438144"/>
            <a:ext cx="182880" cy="182880"/>
          </a:xfrm>
          <a:prstGeom prst="ellipse">
            <a:avLst/>
          </a:prstGeom>
          <a:solidFill>
            <a:srgbClr val="1565C0"/>
          </a:solidFill>
          <a:ln w="12700">
            <a:solidFill>
              <a:srgbClr val="1565C0"/>
            </a:solidFill>
            <a:prstDash val="solid"/>
          </a:ln>
        </p:spPr>
      </p:sp>
      <p:sp>
        <p:nvSpPr>
          <p:cNvPr id="14" name="Text 11"/>
          <p:cNvSpPr/>
          <p:nvPr/>
        </p:nvSpPr>
        <p:spPr>
          <a:xfrm>
            <a:off x="621792" y="3346704"/>
            <a:ext cx="2240280" cy="731520"/>
          </a:xfrm>
          <a:prstGeom prst="rect">
            <a:avLst/>
          </a:prstGeom>
          <a:noFill/>
          <a:ln/>
        </p:spPr>
        <p:txBody>
          <a:bodyPr wrap="square" rtlCol="0" anchor="ctr"/>
          <a:lstStyle/>
          <a:p>
            <a:pPr marL="0" indent="0">
              <a:buNone/>
            </a:pPr>
            <a:r>
              <a:rPr lang="en-US" sz="1000" dirty="0">
                <a:solidFill>
                  <a:srgbClr val="455A64"/>
                </a:solidFill>
              </a:rPr>
              <a:t>Exemples : Client, Compte, Produit</a:t>
            </a:r>
            <a:endParaRPr lang="en-US" sz="1000" dirty="0"/>
          </a:p>
        </p:txBody>
      </p:sp>
      <p:sp>
        <p:nvSpPr>
          <p:cNvPr id="15" name="Shape 12"/>
          <p:cNvSpPr/>
          <p:nvPr/>
        </p:nvSpPr>
        <p:spPr>
          <a:xfrm>
            <a:off x="347472" y="4242816"/>
            <a:ext cx="182880" cy="182880"/>
          </a:xfrm>
          <a:prstGeom prst="ellipse">
            <a:avLst/>
          </a:prstGeom>
          <a:solidFill>
            <a:srgbClr val="1565C0"/>
          </a:solidFill>
          <a:ln w="12700">
            <a:solidFill>
              <a:srgbClr val="1565C0"/>
            </a:solidFill>
            <a:prstDash val="solid"/>
          </a:ln>
        </p:spPr>
      </p:sp>
      <p:sp>
        <p:nvSpPr>
          <p:cNvPr id="16" name="Text 13"/>
          <p:cNvSpPr/>
          <p:nvPr/>
        </p:nvSpPr>
        <p:spPr>
          <a:xfrm>
            <a:off x="621792" y="4151376"/>
            <a:ext cx="2240280" cy="731520"/>
          </a:xfrm>
          <a:prstGeom prst="rect">
            <a:avLst/>
          </a:prstGeom>
          <a:noFill/>
          <a:ln/>
        </p:spPr>
        <p:txBody>
          <a:bodyPr wrap="square" rtlCol="0" anchor="ctr"/>
          <a:lstStyle/>
          <a:p>
            <a:pPr marL="0" indent="0">
              <a:buNone/>
            </a:pPr>
            <a:r>
              <a:rPr lang="en-US" sz="1000" dirty="0">
                <a:solidFill>
                  <a:srgbClr val="455A64"/>
                </a:solidFill>
              </a:rPr>
              <a:t>Non transactionnelles, peu volatiles</a:t>
            </a:r>
            <a:endParaRPr lang="en-US" sz="1000" dirty="0"/>
          </a:p>
        </p:txBody>
      </p:sp>
      <p:sp>
        <p:nvSpPr>
          <p:cNvPr id="17" name="Shape 14"/>
          <p:cNvSpPr/>
          <p:nvPr/>
        </p:nvSpPr>
        <p:spPr>
          <a:xfrm>
            <a:off x="3154680" y="1051560"/>
            <a:ext cx="2788920" cy="3931920"/>
          </a:xfrm>
          <a:prstGeom prst="rect">
            <a:avLst/>
          </a:prstGeom>
          <a:solidFill>
            <a:srgbClr val="FFFFFF"/>
          </a:solidFill>
          <a:ln w="12700">
            <a:solidFill>
              <a:srgbClr val="00796B"/>
            </a:solidFill>
            <a:prstDash val="solid"/>
          </a:ln>
          <a:effectLst>
            <a:outerShdw blurRad="101600" dist="38100" dir="8100000" algn="bl" rotWithShape="0">
              <a:srgbClr val="000000">
                <a:alpha val="14000"/>
              </a:srgbClr>
            </a:outerShdw>
          </a:effectLst>
        </p:spPr>
      </p:sp>
      <p:sp>
        <p:nvSpPr>
          <p:cNvPr id="18" name="Shape 15"/>
          <p:cNvSpPr/>
          <p:nvPr/>
        </p:nvSpPr>
        <p:spPr>
          <a:xfrm>
            <a:off x="3154680" y="1051560"/>
            <a:ext cx="2788920" cy="566928"/>
          </a:xfrm>
          <a:prstGeom prst="rect">
            <a:avLst/>
          </a:prstGeom>
          <a:solidFill>
            <a:srgbClr val="00796B"/>
          </a:solidFill>
          <a:ln w="12700">
            <a:solidFill>
              <a:srgbClr val="00796B"/>
            </a:solidFill>
            <a:prstDash val="solid"/>
          </a:ln>
        </p:spPr>
      </p:sp>
      <p:pic>
        <p:nvPicPr>
          <p:cNvPr id="19" name="Image 1" descr="preencoded.png"/>
          <p:cNvPicPr>
            <a:picLocks noChangeAspect="1"/>
          </p:cNvPicPr>
          <p:nvPr/>
        </p:nvPicPr>
        <p:blipFill>
          <a:blip r:embed="rId4"/>
          <a:stretch>
            <a:fillRect/>
          </a:stretch>
        </p:blipFill>
        <p:spPr>
          <a:xfrm>
            <a:off x="3246120" y="1115568"/>
            <a:ext cx="365760" cy="365760"/>
          </a:xfrm>
          <a:prstGeom prst="rect">
            <a:avLst/>
          </a:prstGeom>
        </p:spPr>
      </p:pic>
      <p:sp>
        <p:nvSpPr>
          <p:cNvPr id="20" name="Text 16"/>
          <p:cNvSpPr/>
          <p:nvPr/>
        </p:nvSpPr>
        <p:spPr>
          <a:xfrm>
            <a:off x="3685032" y="1078992"/>
            <a:ext cx="2194560" cy="502920"/>
          </a:xfrm>
          <a:prstGeom prst="rect">
            <a:avLst/>
          </a:prstGeom>
          <a:noFill/>
          <a:ln/>
        </p:spPr>
        <p:txBody>
          <a:bodyPr wrap="square" rtlCol="0" anchor="ctr"/>
          <a:lstStyle/>
          <a:p>
            <a:pPr marL="0" indent="0">
              <a:buNone/>
            </a:pPr>
            <a:r>
              <a:rPr lang="en-US" sz="1200" b="1" dirty="0">
                <a:solidFill>
                  <a:srgbClr val="FFFFFF"/>
                </a:solidFill>
              </a:rPr>
              <a:t>Plateforme MDM</a:t>
            </a:r>
            <a:endParaRPr lang="en-US" sz="1200" dirty="0"/>
          </a:p>
        </p:txBody>
      </p:sp>
      <p:sp>
        <p:nvSpPr>
          <p:cNvPr id="21" name="Shape 17"/>
          <p:cNvSpPr/>
          <p:nvPr/>
        </p:nvSpPr>
        <p:spPr>
          <a:xfrm>
            <a:off x="3319272" y="1828800"/>
            <a:ext cx="182880" cy="182880"/>
          </a:xfrm>
          <a:prstGeom prst="ellipse">
            <a:avLst/>
          </a:prstGeom>
          <a:solidFill>
            <a:srgbClr val="00796B"/>
          </a:solidFill>
          <a:ln w="12700">
            <a:solidFill>
              <a:srgbClr val="00796B"/>
            </a:solidFill>
            <a:prstDash val="solid"/>
          </a:ln>
        </p:spPr>
      </p:sp>
      <p:sp>
        <p:nvSpPr>
          <p:cNvPr id="22" name="Text 18"/>
          <p:cNvSpPr/>
          <p:nvPr/>
        </p:nvSpPr>
        <p:spPr>
          <a:xfrm>
            <a:off x="3593592" y="1737360"/>
            <a:ext cx="2240280" cy="731520"/>
          </a:xfrm>
          <a:prstGeom prst="rect">
            <a:avLst/>
          </a:prstGeom>
          <a:noFill/>
          <a:ln/>
        </p:spPr>
        <p:txBody>
          <a:bodyPr wrap="square" rtlCol="0" anchor="ctr"/>
          <a:lstStyle/>
          <a:p>
            <a:pPr marL="0" indent="0">
              <a:buNone/>
            </a:pPr>
            <a:r>
              <a:rPr lang="en-US" sz="1000" dirty="0">
                <a:solidFill>
                  <a:srgbClr val="455A64"/>
                </a:solidFill>
              </a:rPr>
              <a:t>Consolide les données de référence</a:t>
            </a:r>
            <a:endParaRPr lang="en-US" sz="1000" dirty="0"/>
          </a:p>
        </p:txBody>
      </p:sp>
      <p:sp>
        <p:nvSpPr>
          <p:cNvPr id="23" name="Shape 19"/>
          <p:cNvSpPr/>
          <p:nvPr/>
        </p:nvSpPr>
        <p:spPr>
          <a:xfrm>
            <a:off x="3319272" y="2633472"/>
            <a:ext cx="182880" cy="182880"/>
          </a:xfrm>
          <a:prstGeom prst="ellipse">
            <a:avLst/>
          </a:prstGeom>
          <a:solidFill>
            <a:srgbClr val="00796B"/>
          </a:solidFill>
          <a:ln w="12700">
            <a:solidFill>
              <a:srgbClr val="00796B"/>
            </a:solidFill>
            <a:prstDash val="solid"/>
          </a:ln>
        </p:spPr>
      </p:sp>
      <p:sp>
        <p:nvSpPr>
          <p:cNvPr id="24" name="Text 20"/>
          <p:cNvSpPr/>
          <p:nvPr/>
        </p:nvSpPr>
        <p:spPr>
          <a:xfrm>
            <a:off x="3593592" y="2542032"/>
            <a:ext cx="2240280" cy="731520"/>
          </a:xfrm>
          <a:prstGeom prst="rect">
            <a:avLst/>
          </a:prstGeom>
          <a:noFill/>
          <a:ln/>
        </p:spPr>
        <p:txBody>
          <a:bodyPr wrap="square" rtlCol="0" anchor="ctr"/>
          <a:lstStyle/>
          <a:p>
            <a:pPr marL="0" indent="0">
              <a:buNone/>
            </a:pPr>
            <a:r>
              <a:rPr lang="en-US" sz="1000" dirty="0">
                <a:solidFill>
                  <a:srgbClr val="455A64"/>
                </a:solidFill>
              </a:rPr>
              <a:t>Déduplique et normalise les entrées</a:t>
            </a:r>
            <a:endParaRPr lang="en-US" sz="1000" dirty="0"/>
          </a:p>
        </p:txBody>
      </p:sp>
      <p:sp>
        <p:nvSpPr>
          <p:cNvPr id="25" name="Shape 21"/>
          <p:cNvSpPr/>
          <p:nvPr/>
        </p:nvSpPr>
        <p:spPr>
          <a:xfrm>
            <a:off x="3319272" y="3438144"/>
            <a:ext cx="182880" cy="182880"/>
          </a:xfrm>
          <a:prstGeom prst="ellipse">
            <a:avLst/>
          </a:prstGeom>
          <a:solidFill>
            <a:srgbClr val="00796B"/>
          </a:solidFill>
          <a:ln w="12700">
            <a:solidFill>
              <a:srgbClr val="00796B"/>
            </a:solidFill>
            <a:prstDash val="solid"/>
          </a:ln>
        </p:spPr>
      </p:sp>
      <p:sp>
        <p:nvSpPr>
          <p:cNvPr id="26" name="Text 22"/>
          <p:cNvSpPr/>
          <p:nvPr/>
        </p:nvSpPr>
        <p:spPr>
          <a:xfrm>
            <a:off x="3593592" y="3346704"/>
            <a:ext cx="2240280" cy="731520"/>
          </a:xfrm>
          <a:prstGeom prst="rect">
            <a:avLst/>
          </a:prstGeom>
          <a:noFill/>
          <a:ln/>
        </p:spPr>
        <p:txBody>
          <a:bodyPr wrap="square" rtlCol="0" anchor="ctr"/>
          <a:lstStyle/>
          <a:p>
            <a:pPr marL="0" indent="0">
              <a:buNone/>
            </a:pPr>
            <a:r>
              <a:rPr lang="en-US" sz="1000" dirty="0">
                <a:solidFill>
                  <a:srgbClr val="455A64"/>
                </a:solidFill>
              </a:rPr>
              <a:t>Distribue vers les systèmes cibles</a:t>
            </a:r>
            <a:endParaRPr lang="en-US" sz="1000" dirty="0"/>
          </a:p>
        </p:txBody>
      </p:sp>
      <p:sp>
        <p:nvSpPr>
          <p:cNvPr id="27" name="Shape 23"/>
          <p:cNvSpPr/>
          <p:nvPr/>
        </p:nvSpPr>
        <p:spPr>
          <a:xfrm>
            <a:off x="3319272" y="4242816"/>
            <a:ext cx="182880" cy="182880"/>
          </a:xfrm>
          <a:prstGeom prst="ellipse">
            <a:avLst/>
          </a:prstGeom>
          <a:solidFill>
            <a:srgbClr val="00796B"/>
          </a:solidFill>
          <a:ln w="12700">
            <a:solidFill>
              <a:srgbClr val="00796B"/>
            </a:solidFill>
            <a:prstDash val="solid"/>
          </a:ln>
        </p:spPr>
      </p:sp>
      <p:sp>
        <p:nvSpPr>
          <p:cNvPr id="28" name="Text 24"/>
          <p:cNvSpPr/>
          <p:nvPr/>
        </p:nvSpPr>
        <p:spPr>
          <a:xfrm>
            <a:off x="3593592" y="4151376"/>
            <a:ext cx="2240280" cy="731520"/>
          </a:xfrm>
          <a:prstGeom prst="rect">
            <a:avLst/>
          </a:prstGeom>
          <a:noFill/>
          <a:ln/>
        </p:spPr>
        <p:txBody>
          <a:bodyPr wrap="square" rtlCol="0" anchor="ctr"/>
          <a:lstStyle/>
          <a:p>
            <a:pPr marL="0" indent="0">
              <a:buNone/>
            </a:pPr>
            <a:r>
              <a:rPr lang="en-US" sz="1000" dirty="0">
                <a:solidFill>
                  <a:srgbClr val="455A64"/>
                </a:solidFill>
              </a:rPr>
              <a:t>Historise les modifications</a:t>
            </a:r>
            <a:endParaRPr lang="en-US" sz="1000" dirty="0"/>
          </a:p>
        </p:txBody>
      </p:sp>
      <p:sp>
        <p:nvSpPr>
          <p:cNvPr id="29" name="Shape 25"/>
          <p:cNvSpPr/>
          <p:nvPr/>
        </p:nvSpPr>
        <p:spPr>
          <a:xfrm>
            <a:off x="6126480" y="1051560"/>
            <a:ext cx="2788920" cy="3931920"/>
          </a:xfrm>
          <a:prstGeom prst="rect">
            <a:avLst/>
          </a:prstGeom>
          <a:solidFill>
            <a:srgbClr val="FFFFFF"/>
          </a:solidFill>
          <a:ln w="12700">
            <a:solidFill>
              <a:srgbClr val="2E7D32"/>
            </a:solidFill>
            <a:prstDash val="solid"/>
          </a:ln>
          <a:effectLst>
            <a:outerShdw blurRad="101600" dist="38100" dir="8100000" algn="bl" rotWithShape="0">
              <a:srgbClr val="000000">
                <a:alpha val="14000"/>
              </a:srgbClr>
            </a:outerShdw>
          </a:effectLst>
        </p:spPr>
      </p:sp>
      <p:sp>
        <p:nvSpPr>
          <p:cNvPr id="30" name="Shape 26"/>
          <p:cNvSpPr/>
          <p:nvPr/>
        </p:nvSpPr>
        <p:spPr>
          <a:xfrm>
            <a:off x="6126480" y="1051560"/>
            <a:ext cx="2788920" cy="566928"/>
          </a:xfrm>
          <a:prstGeom prst="rect">
            <a:avLst/>
          </a:prstGeom>
          <a:solidFill>
            <a:srgbClr val="2E7D32"/>
          </a:solidFill>
          <a:ln w="12700">
            <a:solidFill>
              <a:srgbClr val="2E7D32"/>
            </a:solidFill>
            <a:prstDash val="solid"/>
          </a:ln>
        </p:spPr>
      </p:sp>
      <p:pic>
        <p:nvPicPr>
          <p:cNvPr id="31" name="Image 2" descr="preencoded.png"/>
          <p:cNvPicPr>
            <a:picLocks noChangeAspect="1"/>
          </p:cNvPicPr>
          <p:nvPr/>
        </p:nvPicPr>
        <p:blipFill>
          <a:blip r:embed="rId5"/>
          <a:stretch>
            <a:fillRect/>
          </a:stretch>
        </p:blipFill>
        <p:spPr>
          <a:xfrm>
            <a:off x="6217920" y="1115568"/>
            <a:ext cx="365760" cy="365760"/>
          </a:xfrm>
          <a:prstGeom prst="rect">
            <a:avLst/>
          </a:prstGeom>
        </p:spPr>
      </p:pic>
      <p:sp>
        <p:nvSpPr>
          <p:cNvPr id="32" name="Text 27"/>
          <p:cNvSpPr/>
          <p:nvPr/>
        </p:nvSpPr>
        <p:spPr>
          <a:xfrm>
            <a:off x="6656832" y="1078992"/>
            <a:ext cx="2194560" cy="502920"/>
          </a:xfrm>
          <a:prstGeom prst="rect">
            <a:avLst/>
          </a:prstGeom>
          <a:noFill/>
          <a:ln/>
        </p:spPr>
        <p:txBody>
          <a:bodyPr wrap="square" rtlCol="0" anchor="ctr"/>
          <a:lstStyle/>
          <a:p>
            <a:pPr marL="0" indent="0">
              <a:buNone/>
            </a:pPr>
            <a:r>
              <a:rPr lang="en-US" sz="1200" b="1" dirty="0">
                <a:solidFill>
                  <a:srgbClr val="FFFFFF"/>
                </a:solidFill>
              </a:rPr>
              <a:t>Domaines MDM – Vision Bank</a:t>
            </a:r>
            <a:endParaRPr lang="en-US" sz="1200" dirty="0"/>
          </a:p>
        </p:txBody>
      </p:sp>
      <p:sp>
        <p:nvSpPr>
          <p:cNvPr id="33" name="Shape 28"/>
          <p:cNvSpPr/>
          <p:nvPr/>
        </p:nvSpPr>
        <p:spPr>
          <a:xfrm>
            <a:off x="6291072" y="1828800"/>
            <a:ext cx="182880" cy="182880"/>
          </a:xfrm>
          <a:prstGeom prst="ellipse">
            <a:avLst/>
          </a:prstGeom>
          <a:solidFill>
            <a:srgbClr val="2E7D32"/>
          </a:solidFill>
          <a:ln w="12700">
            <a:solidFill>
              <a:srgbClr val="2E7D32"/>
            </a:solidFill>
            <a:prstDash val="solid"/>
          </a:ln>
        </p:spPr>
      </p:sp>
      <p:sp>
        <p:nvSpPr>
          <p:cNvPr id="34" name="Text 29"/>
          <p:cNvSpPr/>
          <p:nvPr/>
        </p:nvSpPr>
        <p:spPr>
          <a:xfrm>
            <a:off x="6565392" y="1737360"/>
            <a:ext cx="2240280" cy="731520"/>
          </a:xfrm>
          <a:prstGeom prst="rect">
            <a:avLst/>
          </a:prstGeom>
          <a:noFill/>
          <a:ln/>
        </p:spPr>
        <p:txBody>
          <a:bodyPr wrap="square" rtlCol="0" anchor="ctr"/>
          <a:lstStyle/>
          <a:p>
            <a:pPr marL="0" indent="0">
              <a:buNone/>
            </a:pPr>
            <a:r>
              <a:rPr lang="en-US" sz="1000" dirty="0">
                <a:solidFill>
                  <a:srgbClr val="455A64"/>
                </a:solidFill>
              </a:rPr>
              <a:t>CLIENT : identité, KYC, coordonnées</a:t>
            </a:r>
            <a:endParaRPr lang="en-US" sz="1000" dirty="0"/>
          </a:p>
        </p:txBody>
      </p:sp>
      <p:sp>
        <p:nvSpPr>
          <p:cNvPr id="35" name="Shape 30"/>
          <p:cNvSpPr/>
          <p:nvPr/>
        </p:nvSpPr>
        <p:spPr>
          <a:xfrm>
            <a:off x="6291072" y="2633472"/>
            <a:ext cx="182880" cy="182880"/>
          </a:xfrm>
          <a:prstGeom prst="ellipse">
            <a:avLst/>
          </a:prstGeom>
          <a:solidFill>
            <a:srgbClr val="2E7D32"/>
          </a:solidFill>
          <a:ln w="12700">
            <a:solidFill>
              <a:srgbClr val="2E7D32"/>
            </a:solidFill>
            <a:prstDash val="solid"/>
          </a:ln>
        </p:spPr>
      </p:sp>
      <p:sp>
        <p:nvSpPr>
          <p:cNvPr id="36" name="Text 31"/>
          <p:cNvSpPr/>
          <p:nvPr/>
        </p:nvSpPr>
        <p:spPr>
          <a:xfrm>
            <a:off x="6565392" y="2542032"/>
            <a:ext cx="2240280" cy="731520"/>
          </a:xfrm>
          <a:prstGeom prst="rect">
            <a:avLst/>
          </a:prstGeom>
          <a:noFill/>
          <a:ln/>
        </p:spPr>
        <p:txBody>
          <a:bodyPr wrap="square" rtlCol="0" anchor="ctr"/>
          <a:lstStyle/>
          <a:p>
            <a:pPr marL="0" indent="0">
              <a:buNone/>
            </a:pPr>
            <a:r>
              <a:rPr lang="en-US" sz="1000" dirty="0">
                <a:solidFill>
                  <a:srgbClr val="455A64"/>
                </a:solidFill>
              </a:rPr>
              <a:t>COMPTE : numéro, type, statut</a:t>
            </a:r>
            <a:endParaRPr lang="en-US" sz="1000" dirty="0"/>
          </a:p>
        </p:txBody>
      </p:sp>
      <p:sp>
        <p:nvSpPr>
          <p:cNvPr id="37" name="Shape 32"/>
          <p:cNvSpPr/>
          <p:nvPr/>
        </p:nvSpPr>
        <p:spPr>
          <a:xfrm>
            <a:off x="6291072" y="3438144"/>
            <a:ext cx="182880" cy="182880"/>
          </a:xfrm>
          <a:prstGeom prst="ellipse">
            <a:avLst/>
          </a:prstGeom>
          <a:solidFill>
            <a:srgbClr val="2E7D32"/>
          </a:solidFill>
          <a:ln w="12700">
            <a:solidFill>
              <a:srgbClr val="2E7D32"/>
            </a:solidFill>
            <a:prstDash val="solid"/>
          </a:ln>
        </p:spPr>
      </p:sp>
      <p:sp>
        <p:nvSpPr>
          <p:cNvPr id="38" name="Text 33"/>
          <p:cNvSpPr/>
          <p:nvPr/>
        </p:nvSpPr>
        <p:spPr>
          <a:xfrm>
            <a:off x="6565392" y="3346704"/>
            <a:ext cx="2240280" cy="731520"/>
          </a:xfrm>
          <a:prstGeom prst="rect">
            <a:avLst/>
          </a:prstGeom>
          <a:noFill/>
          <a:ln/>
        </p:spPr>
        <p:txBody>
          <a:bodyPr wrap="square" rtlCol="0" anchor="ctr"/>
          <a:lstStyle/>
          <a:p>
            <a:pPr marL="0" indent="0">
              <a:buNone/>
            </a:pPr>
            <a:r>
              <a:rPr lang="en-US" sz="1000" dirty="0">
                <a:solidFill>
                  <a:srgbClr val="455A64"/>
                </a:solidFill>
              </a:rPr>
              <a:t>PRODUIT : offres, tarifs du catalogue</a:t>
            </a:r>
            <a:endParaRPr lang="en-US" sz="1000" dirty="0"/>
          </a:p>
        </p:txBody>
      </p:sp>
      <p:sp>
        <p:nvSpPr>
          <p:cNvPr id="39" name="Shape 34"/>
          <p:cNvSpPr/>
          <p:nvPr/>
        </p:nvSpPr>
        <p:spPr>
          <a:xfrm>
            <a:off x="6291072" y="4242816"/>
            <a:ext cx="182880" cy="182880"/>
          </a:xfrm>
          <a:prstGeom prst="ellipse">
            <a:avLst/>
          </a:prstGeom>
          <a:solidFill>
            <a:srgbClr val="2E7D32"/>
          </a:solidFill>
          <a:ln w="12700">
            <a:solidFill>
              <a:srgbClr val="2E7D32"/>
            </a:solidFill>
            <a:prstDash val="solid"/>
          </a:ln>
        </p:spPr>
      </p:sp>
      <p:sp>
        <p:nvSpPr>
          <p:cNvPr id="40" name="Text 35"/>
          <p:cNvSpPr/>
          <p:nvPr/>
        </p:nvSpPr>
        <p:spPr>
          <a:xfrm>
            <a:off x="6565392" y="4151376"/>
            <a:ext cx="2240280" cy="731520"/>
          </a:xfrm>
          <a:prstGeom prst="rect">
            <a:avLst/>
          </a:prstGeom>
          <a:noFill/>
          <a:ln/>
        </p:spPr>
        <p:txBody>
          <a:bodyPr wrap="square" rtlCol="0" anchor="ctr"/>
          <a:lstStyle/>
          <a:p>
            <a:pPr marL="0" indent="0">
              <a:buNone/>
            </a:pPr>
            <a:r>
              <a:rPr lang="en-US" sz="1000" dirty="0">
                <a:solidFill>
                  <a:srgbClr val="455A64"/>
                </a:solidFill>
              </a:rPr>
              <a:t>AGENCE : code, localisation, région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Shape 1"/>
          <p:cNvSpPr/>
          <p:nvPr/>
        </p:nvSpPr>
        <p:spPr>
          <a:xfrm>
            <a:off x="0" y="0"/>
            <a:ext cx="54864" cy="5143500"/>
          </a:xfrm>
          <a:prstGeom prst="rect">
            <a:avLst/>
          </a:prstGeom>
          <a:solidFill>
            <a:srgbClr val="F9A825"/>
          </a:solidFill>
          <a:ln w="12700">
            <a:solidFill>
              <a:srgbClr val="F9A825"/>
            </a:solidFill>
            <a:prstDash val="solid"/>
          </a:ln>
        </p:spPr>
      </p:sp>
      <p:sp>
        <p:nvSpPr>
          <p:cNvPr id="4" name="Text 2"/>
          <p:cNvSpPr/>
          <p:nvPr/>
        </p:nvSpPr>
        <p:spPr>
          <a:xfrm>
            <a:off x="228600" y="137160"/>
            <a:ext cx="8686800" cy="6858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03c – Golden Record : La Vue Client Unifiée</a:t>
            </a:r>
            <a:endParaRPr lang="en-US" sz="2200" dirty="0"/>
          </a:p>
        </p:txBody>
      </p:sp>
      <p:sp>
        <p:nvSpPr>
          <p:cNvPr id="5" name="Shape 3"/>
          <p:cNvSpPr/>
          <p:nvPr/>
        </p:nvSpPr>
        <p:spPr>
          <a:xfrm>
            <a:off x="137160" y="1078992"/>
            <a:ext cx="1719072" cy="1828800"/>
          </a:xfrm>
          <a:prstGeom prst="rect">
            <a:avLst/>
          </a:prstGeom>
          <a:solidFill>
            <a:srgbClr val="455A64"/>
          </a:solidFill>
          <a:ln w="12700">
            <a:solidFill>
              <a:srgbClr val="455A64"/>
            </a:solidFill>
            <a:prstDash val="solid"/>
          </a:ln>
          <a:effectLst>
            <a:outerShdw blurRad="101600" dist="38100" dir="8100000" algn="bl" rotWithShape="0">
              <a:srgbClr val="000000">
                <a:alpha val="14000"/>
              </a:srgbClr>
            </a:outerShdw>
          </a:effectLst>
        </p:spPr>
      </p:sp>
      <p:pic>
        <p:nvPicPr>
          <p:cNvPr id="6" name="Image 0" descr="preencoded.png"/>
          <p:cNvPicPr>
            <a:picLocks noChangeAspect="1"/>
          </p:cNvPicPr>
          <p:nvPr/>
        </p:nvPicPr>
        <p:blipFill>
          <a:blip r:embed="rId3"/>
          <a:stretch>
            <a:fillRect/>
          </a:stretch>
        </p:blipFill>
        <p:spPr>
          <a:xfrm>
            <a:off x="722376" y="1170432"/>
            <a:ext cx="548640" cy="548640"/>
          </a:xfrm>
          <a:prstGeom prst="rect">
            <a:avLst/>
          </a:prstGeom>
        </p:spPr>
      </p:pic>
      <p:sp>
        <p:nvSpPr>
          <p:cNvPr id="7" name="Text 4"/>
          <p:cNvSpPr/>
          <p:nvPr/>
        </p:nvSpPr>
        <p:spPr>
          <a:xfrm>
            <a:off x="182880" y="1755648"/>
            <a:ext cx="1627632" cy="594360"/>
          </a:xfrm>
          <a:prstGeom prst="rect">
            <a:avLst/>
          </a:prstGeom>
          <a:noFill/>
          <a:ln/>
        </p:spPr>
        <p:txBody>
          <a:bodyPr wrap="square" rtlCol="0" anchor="ctr"/>
          <a:lstStyle/>
          <a:p>
            <a:pPr marL="0" indent="0" algn="ctr">
              <a:buNone/>
            </a:pPr>
            <a:r>
              <a:rPr lang="en-US" sz="1050" b="1" dirty="0">
                <a:solidFill>
                  <a:srgbClr val="FFFFFF"/>
                </a:solidFill>
              </a:rPr>
              <a:t>Sources</a:t>
            </a:r>
            <a:endParaRPr lang="en-US" sz="1050" dirty="0"/>
          </a:p>
        </p:txBody>
      </p:sp>
      <p:sp>
        <p:nvSpPr>
          <p:cNvPr id="8" name="Text 5"/>
          <p:cNvSpPr/>
          <p:nvPr/>
        </p:nvSpPr>
        <p:spPr>
          <a:xfrm>
            <a:off x="182880" y="2331720"/>
            <a:ext cx="1627632" cy="502920"/>
          </a:xfrm>
          <a:prstGeom prst="rect">
            <a:avLst/>
          </a:prstGeom>
          <a:noFill/>
          <a:ln/>
        </p:spPr>
        <p:txBody>
          <a:bodyPr wrap="square" rtlCol="0" anchor="ctr"/>
          <a:lstStyle/>
          <a:p>
            <a:pPr marL="0" indent="0" algn="ctr">
              <a:buNone/>
            </a:pPr>
            <a:r>
              <a:rPr lang="en-US" sz="900" dirty="0">
                <a:solidFill>
                  <a:srgbClr val="ECEFF1"/>
                </a:solidFill>
              </a:rPr>
              <a:t>CBS · Crédits</a:t>
            </a:r>
            <a:endParaRPr lang="en-US" sz="900" dirty="0"/>
          </a:p>
          <a:p>
            <a:pPr marL="0" indent="0" algn="ctr">
              <a:buNone/>
            </a:pPr>
            <a:r>
              <a:rPr lang="en-US" sz="900" dirty="0">
                <a:solidFill>
                  <a:srgbClr val="ECEFF1"/>
                </a:solidFill>
              </a:rPr>
              <a:t>Mobile · Agences</a:t>
            </a:r>
            <a:endParaRPr lang="en-US" sz="900" dirty="0"/>
          </a:p>
        </p:txBody>
      </p:sp>
      <p:sp>
        <p:nvSpPr>
          <p:cNvPr id="9" name="Shape 6"/>
          <p:cNvSpPr/>
          <p:nvPr/>
        </p:nvSpPr>
        <p:spPr>
          <a:xfrm>
            <a:off x="1865376" y="1874520"/>
            <a:ext cx="265176" cy="164592"/>
          </a:xfrm>
          <a:prstGeom prst="rect">
            <a:avLst/>
          </a:prstGeom>
          <a:solidFill>
            <a:srgbClr val="F9A825"/>
          </a:solidFill>
          <a:ln w="12700">
            <a:solidFill>
              <a:srgbClr val="F9A825"/>
            </a:solidFill>
            <a:prstDash val="solid"/>
          </a:ln>
        </p:spPr>
      </p:sp>
      <p:sp>
        <p:nvSpPr>
          <p:cNvPr id="10" name="Shape 7"/>
          <p:cNvSpPr/>
          <p:nvPr/>
        </p:nvSpPr>
        <p:spPr>
          <a:xfrm>
            <a:off x="2011680" y="1078992"/>
            <a:ext cx="1719072" cy="1828800"/>
          </a:xfrm>
          <a:prstGeom prst="rect">
            <a:avLst/>
          </a:prstGeom>
          <a:solidFill>
            <a:srgbClr val="1565C0"/>
          </a:solidFill>
          <a:ln w="12700">
            <a:solidFill>
              <a:srgbClr val="1565C0"/>
            </a:solidFill>
            <a:prstDash val="solid"/>
          </a:ln>
          <a:effectLst>
            <a:outerShdw blurRad="101600" dist="38100" dir="8100000" algn="bl" rotWithShape="0">
              <a:srgbClr val="000000">
                <a:alpha val="14000"/>
              </a:srgbClr>
            </a:outerShdw>
          </a:effectLst>
        </p:spPr>
      </p:sp>
      <p:pic>
        <p:nvPicPr>
          <p:cNvPr id="11" name="Image 1" descr="preencoded.png"/>
          <p:cNvPicPr>
            <a:picLocks noChangeAspect="1"/>
          </p:cNvPicPr>
          <p:nvPr/>
        </p:nvPicPr>
        <p:blipFill>
          <a:blip r:embed="rId4"/>
          <a:stretch>
            <a:fillRect/>
          </a:stretch>
        </p:blipFill>
        <p:spPr>
          <a:xfrm>
            <a:off x="2596896" y="1170432"/>
            <a:ext cx="548640" cy="548640"/>
          </a:xfrm>
          <a:prstGeom prst="rect">
            <a:avLst/>
          </a:prstGeom>
        </p:spPr>
      </p:pic>
      <p:sp>
        <p:nvSpPr>
          <p:cNvPr id="12" name="Text 8"/>
          <p:cNvSpPr/>
          <p:nvPr/>
        </p:nvSpPr>
        <p:spPr>
          <a:xfrm>
            <a:off x="2057400" y="1755648"/>
            <a:ext cx="1627632" cy="594360"/>
          </a:xfrm>
          <a:prstGeom prst="rect">
            <a:avLst/>
          </a:prstGeom>
          <a:noFill/>
          <a:ln/>
        </p:spPr>
        <p:txBody>
          <a:bodyPr wrap="square" rtlCol="0" anchor="ctr"/>
          <a:lstStyle/>
          <a:p>
            <a:pPr marL="0" indent="0" algn="ctr">
              <a:buNone/>
            </a:pPr>
            <a:r>
              <a:rPr lang="en-US" sz="1050" b="1" dirty="0">
                <a:solidFill>
                  <a:srgbClr val="FFFFFF"/>
                </a:solidFill>
              </a:rPr>
              <a:t>Collecte &amp; Intégration</a:t>
            </a:r>
            <a:endParaRPr lang="en-US" sz="1050" dirty="0"/>
          </a:p>
        </p:txBody>
      </p:sp>
      <p:sp>
        <p:nvSpPr>
          <p:cNvPr id="13" name="Text 9"/>
          <p:cNvSpPr/>
          <p:nvPr/>
        </p:nvSpPr>
        <p:spPr>
          <a:xfrm>
            <a:off x="2057400" y="2331720"/>
            <a:ext cx="1627632" cy="502920"/>
          </a:xfrm>
          <a:prstGeom prst="rect">
            <a:avLst/>
          </a:prstGeom>
          <a:noFill/>
          <a:ln/>
        </p:spPr>
        <p:txBody>
          <a:bodyPr wrap="square" rtlCol="0" anchor="ctr"/>
          <a:lstStyle/>
          <a:p>
            <a:pPr marL="0" indent="0" algn="ctr">
              <a:buNone/>
            </a:pPr>
            <a:r>
              <a:rPr lang="en-US" sz="900" dirty="0">
                <a:solidFill>
                  <a:srgbClr val="ECEFF1"/>
                </a:solidFill>
              </a:rPr>
              <a:t>ETL / API</a:t>
            </a:r>
            <a:endParaRPr lang="en-US" sz="900" dirty="0"/>
          </a:p>
          <a:p>
            <a:pPr marL="0" indent="0" algn="ctr">
              <a:buNone/>
            </a:pPr>
            <a:r>
              <a:rPr lang="en-US" sz="900" dirty="0">
                <a:solidFill>
                  <a:srgbClr val="ECEFF1"/>
                </a:solidFill>
              </a:rPr>
              <a:t>Ingestion</a:t>
            </a:r>
            <a:endParaRPr lang="en-US" sz="900" dirty="0"/>
          </a:p>
        </p:txBody>
      </p:sp>
      <p:sp>
        <p:nvSpPr>
          <p:cNvPr id="14" name="Shape 10"/>
          <p:cNvSpPr/>
          <p:nvPr/>
        </p:nvSpPr>
        <p:spPr>
          <a:xfrm>
            <a:off x="3739896" y="1874520"/>
            <a:ext cx="265176" cy="164592"/>
          </a:xfrm>
          <a:prstGeom prst="rect">
            <a:avLst/>
          </a:prstGeom>
          <a:solidFill>
            <a:srgbClr val="F9A825"/>
          </a:solidFill>
          <a:ln w="12700">
            <a:solidFill>
              <a:srgbClr val="F9A825"/>
            </a:solidFill>
            <a:prstDash val="solid"/>
          </a:ln>
        </p:spPr>
      </p:sp>
      <p:sp>
        <p:nvSpPr>
          <p:cNvPr id="15" name="Shape 11"/>
          <p:cNvSpPr/>
          <p:nvPr/>
        </p:nvSpPr>
        <p:spPr>
          <a:xfrm>
            <a:off x="3886200" y="1078992"/>
            <a:ext cx="1719072" cy="1828800"/>
          </a:xfrm>
          <a:prstGeom prst="rect">
            <a:avLst/>
          </a:prstGeom>
          <a:solidFill>
            <a:srgbClr val="1976D2"/>
          </a:solidFill>
          <a:ln w="12700">
            <a:solidFill>
              <a:srgbClr val="1976D2"/>
            </a:solidFill>
            <a:prstDash val="solid"/>
          </a:ln>
          <a:effectLst>
            <a:outerShdw blurRad="101600" dist="38100" dir="8100000" algn="bl" rotWithShape="0">
              <a:srgbClr val="000000">
                <a:alpha val="14000"/>
              </a:srgbClr>
            </a:outerShdw>
          </a:effectLst>
        </p:spPr>
      </p:sp>
      <p:pic>
        <p:nvPicPr>
          <p:cNvPr id="16" name="Image 2" descr="preencoded.png"/>
          <p:cNvPicPr>
            <a:picLocks noChangeAspect="1"/>
          </p:cNvPicPr>
          <p:nvPr/>
        </p:nvPicPr>
        <p:blipFill>
          <a:blip r:embed="rId5"/>
          <a:stretch>
            <a:fillRect/>
          </a:stretch>
        </p:blipFill>
        <p:spPr>
          <a:xfrm>
            <a:off x="4471416" y="1170432"/>
            <a:ext cx="548640" cy="548640"/>
          </a:xfrm>
          <a:prstGeom prst="rect">
            <a:avLst/>
          </a:prstGeom>
        </p:spPr>
      </p:pic>
      <p:sp>
        <p:nvSpPr>
          <p:cNvPr id="17" name="Text 12"/>
          <p:cNvSpPr/>
          <p:nvPr/>
        </p:nvSpPr>
        <p:spPr>
          <a:xfrm>
            <a:off x="3931920" y="1755648"/>
            <a:ext cx="1627632" cy="594360"/>
          </a:xfrm>
          <a:prstGeom prst="rect">
            <a:avLst/>
          </a:prstGeom>
          <a:noFill/>
          <a:ln/>
        </p:spPr>
        <p:txBody>
          <a:bodyPr wrap="square" rtlCol="0" anchor="ctr"/>
          <a:lstStyle/>
          <a:p>
            <a:pPr marL="0" indent="0" algn="ctr">
              <a:buNone/>
            </a:pPr>
            <a:r>
              <a:rPr lang="en-US" sz="1050" b="1" dirty="0">
                <a:solidFill>
                  <a:srgbClr val="FFFFFF"/>
                </a:solidFill>
              </a:rPr>
              <a:t>Déduplication</a:t>
            </a:r>
            <a:endParaRPr lang="en-US" sz="1050" dirty="0"/>
          </a:p>
        </p:txBody>
      </p:sp>
      <p:sp>
        <p:nvSpPr>
          <p:cNvPr id="18" name="Text 13"/>
          <p:cNvSpPr/>
          <p:nvPr/>
        </p:nvSpPr>
        <p:spPr>
          <a:xfrm>
            <a:off x="3931920" y="2331720"/>
            <a:ext cx="1627632" cy="502920"/>
          </a:xfrm>
          <a:prstGeom prst="rect">
            <a:avLst/>
          </a:prstGeom>
          <a:noFill/>
          <a:ln/>
        </p:spPr>
        <p:txBody>
          <a:bodyPr wrap="square" rtlCol="0" anchor="ctr"/>
          <a:lstStyle/>
          <a:p>
            <a:pPr marL="0" indent="0" algn="ctr">
              <a:buNone/>
            </a:pPr>
            <a:r>
              <a:rPr lang="en-US" sz="900" dirty="0">
                <a:solidFill>
                  <a:srgbClr val="ECEFF1"/>
                </a:solidFill>
              </a:rPr>
              <a:t>Matching</a:t>
            </a:r>
            <a:endParaRPr lang="en-US" sz="900" dirty="0"/>
          </a:p>
          <a:p>
            <a:pPr marL="0" indent="0" algn="ctr">
              <a:buNone/>
            </a:pPr>
            <a:r>
              <a:rPr lang="en-US" sz="900" dirty="0">
                <a:solidFill>
                  <a:srgbClr val="ECEFF1"/>
                </a:solidFill>
              </a:rPr>
              <a:t>ID unique</a:t>
            </a:r>
            <a:endParaRPr lang="en-US" sz="900" dirty="0"/>
          </a:p>
        </p:txBody>
      </p:sp>
      <p:sp>
        <p:nvSpPr>
          <p:cNvPr id="19" name="Shape 14"/>
          <p:cNvSpPr/>
          <p:nvPr/>
        </p:nvSpPr>
        <p:spPr>
          <a:xfrm>
            <a:off x="5614416" y="1874520"/>
            <a:ext cx="265176" cy="164592"/>
          </a:xfrm>
          <a:prstGeom prst="rect">
            <a:avLst/>
          </a:prstGeom>
          <a:solidFill>
            <a:srgbClr val="F9A825"/>
          </a:solidFill>
          <a:ln w="12700">
            <a:solidFill>
              <a:srgbClr val="F9A825"/>
            </a:solidFill>
            <a:prstDash val="solid"/>
          </a:ln>
        </p:spPr>
      </p:sp>
      <p:sp>
        <p:nvSpPr>
          <p:cNvPr id="20" name="Shape 15"/>
          <p:cNvSpPr/>
          <p:nvPr/>
        </p:nvSpPr>
        <p:spPr>
          <a:xfrm>
            <a:off x="5760720" y="1078992"/>
            <a:ext cx="1719072" cy="1828800"/>
          </a:xfrm>
          <a:prstGeom prst="rect">
            <a:avLst/>
          </a:prstGeom>
          <a:solidFill>
            <a:srgbClr val="00796B"/>
          </a:solidFill>
          <a:ln w="12700">
            <a:solidFill>
              <a:srgbClr val="00796B"/>
            </a:solidFill>
            <a:prstDash val="solid"/>
          </a:ln>
          <a:effectLst>
            <a:outerShdw blurRad="101600" dist="38100" dir="8100000" algn="bl" rotWithShape="0">
              <a:srgbClr val="000000">
                <a:alpha val="14000"/>
              </a:srgbClr>
            </a:outerShdw>
          </a:effectLst>
        </p:spPr>
      </p:sp>
      <p:pic>
        <p:nvPicPr>
          <p:cNvPr id="21" name="Image 3" descr="preencoded.png"/>
          <p:cNvPicPr>
            <a:picLocks noChangeAspect="1"/>
          </p:cNvPicPr>
          <p:nvPr/>
        </p:nvPicPr>
        <p:blipFill>
          <a:blip r:embed="rId6"/>
          <a:stretch>
            <a:fillRect/>
          </a:stretch>
        </p:blipFill>
        <p:spPr>
          <a:xfrm>
            <a:off x="6345936" y="1170432"/>
            <a:ext cx="548640" cy="548640"/>
          </a:xfrm>
          <a:prstGeom prst="rect">
            <a:avLst/>
          </a:prstGeom>
        </p:spPr>
      </p:pic>
      <p:sp>
        <p:nvSpPr>
          <p:cNvPr id="22" name="Text 16"/>
          <p:cNvSpPr/>
          <p:nvPr/>
        </p:nvSpPr>
        <p:spPr>
          <a:xfrm>
            <a:off x="5806440" y="1755648"/>
            <a:ext cx="1627632" cy="594360"/>
          </a:xfrm>
          <a:prstGeom prst="rect">
            <a:avLst/>
          </a:prstGeom>
          <a:noFill/>
          <a:ln/>
        </p:spPr>
        <p:txBody>
          <a:bodyPr wrap="square" rtlCol="0" anchor="ctr"/>
          <a:lstStyle/>
          <a:p>
            <a:pPr marL="0" indent="0" algn="ctr">
              <a:buNone/>
            </a:pPr>
            <a:r>
              <a:rPr lang="en-US" sz="1050" b="1" dirty="0">
                <a:solidFill>
                  <a:srgbClr val="FFFFFF"/>
                </a:solidFill>
              </a:rPr>
              <a:t>Enrichissement</a:t>
            </a:r>
            <a:endParaRPr lang="en-US" sz="1050" dirty="0"/>
          </a:p>
        </p:txBody>
      </p:sp>
      <p:sp>
        <p:nvSpPr>
          <p:cNvPr id="23" name="Text 17"/>
          <p:cNvSpPr/>
          <p:nvPr/>
        </p:nvSpPr>
        <p:spPr>
          <a:xfrm>
            <a:off x="5806440" y="2331720"/>
            <a:ext cx="1627632" cy="502920"/>
          </a:xfrm>
          <a:prstGeom prst="rect">
            <a:avLst/>
          </a:prstGeom>
          <a:noFill/>
          <a:ln/>
        </p:spPr>
        <p:txBody>
          <a:bodyPr wrap="square" rtlCol="0" anchor="ctr"/>
          <a:lstStyle/>
          <a:p>
            <a:pPr marL="0" indent="0" algn="ctr">
              <a:buNone/>
            </a:pPr>
            <a:r>
              <a:rPr lang="en-US" sz="900" dirty="0">
                <a:solidFill>
                  <a:srgbClr val="ECEFF1"/>
                </a:solidFill>
              </a:rPr>
              <a:t>KYC · Scoring</a:t>
            </a:r>
            <a:endParaRPr lang="en-US" sz="900" dirty="0"/>
          </a:p>
          <a:p>
            <a:pPr marL="0" indent="0" algn="ctr">
              <a:buNone/>
            </a:pPr>
            <a:r>
              <a:rPr lang="en-US" sz="900" dirty="0">
                <a:solidFill>
                  <a:srgbClr val="ECEFF1"/>
                </a:solidFill>
              </a:rPr>
              <a:t>Normalisation</a:t>
            </a:r>
            <a:endParaRPr lang="en-US" sz="900" dirty="0"/>
          </a:p>
        </p:txBody>
      </p:sp>
      <p:sp>
        <p:nvSpPr>
          <p:cNvPr id="24" name="Shape 18"/>
          <p:cNvSpPr/>
          <p:nvPr/>
        </p:nvSpPr>
        <p:spPr>
          <a:xfrm>
            <a:off x="7488936" y="1874520"/>
            <a:ext cx="265176" cy="164592"/>
          </a:xfrm>
          <a:prstGeom prst="rect">
            <a:avLst/>
          </a:prstGeom>
          <a:solidFill>
            <a:srgbClr val="F9A825"/>
          </a:solidFill>
          <a:ln w="12700">
            <a:solidFill>
              <a:srgbClr val="F9A825"/>
            </a:solidFill>
            <a:prstDash val="solid"/>
          </a:ln>
        </p:spPr>
      </p:sp>
      <p:sp>
        <p:nvSpPr>
          <p:cNvPr id="25" name="Shape 19"/>
          <p:cNvSpPr/>
          <p:nvPr/>
        </p:nvSpPr>
        <p:spPr>
          <a:xfrm>
            <a:off x="7635240" y="1078992"/>
            <a:ext cx="1719072" cy="1828800"/>
          </a:xfrm>
          <a:prstGeom prst="rect">
            <a:avLst/>
          </a:prstGeom>
          <a:solidFill>
            <a:srgbClr val="F9A825"/>
          </a:solidFill>
          <a:ln w="12700">
            <a:solidFill>
              <a:srgbClr val="F9A825"/>
            </a:solidFill>
            <a:prstDash val="solid"/>
          </a:ln>
          <a:effectLst>
            <a:outerShdw blurRad="101600" dist="38100" dir="8100000" algn="bl" rotWithShape="0">
              <a:srgbClr val="000000">
                <a:alpha val="14000"/>
              </a:srgbClr>
            </a:outerShdw>
          </a:effectLst>
        </p:spPr>
      </p:sp>
      <p:pic>
        <p:nvPicPr>
          <p:cNvPr id="26" name="Image 4" descr="preencoded.png"/>
          <p:cNvPicPr>
            <a:picLocks noChangeAspect="1"/>
          </p:cNvPicPr>
          <p:nvPr/>
        </p:nvPicPr>
        <p:blipFill>
          <a:blip r:embed="rId7"/>
          <a:stretch>
            <a:fillRect/>
          </a:stretch>
        </p:blipFill>
        <p:spPr>
          <a:xfrm>
            <a:off x="8220456" y="1170432"/>
            <a:ext cx="548640" cy="548640"/>
          </a:xfrm>
          <a:prstGeom prst="rect">
            <a:avLst/>
          </a:prstGeom>
        </p:spPr>
      </p:pic>
      <p:sp>
        <p:nvSpPr>
          <p:cNvPr id="27" name="Text 20"/>
          <p:cNvSpPr/>
          <p:nvPr/>
        </p:nvSpPr>
        <p:spPr>
          <a:xfrm>
            <a:off x="7680960" y="1755648"/>
            <a:ext cx="1627632" cy="594360"/>
          </a:xfrm>
          <a:prstGeom prst="rect">
            <a:avLst/>
          </a:prstGeom>
          <a:noFill/>
          <a:ln/>
        </p:spPr>
        <p:txBody>
          <a:bodyPr wrap="square" rtlCol="0" anchor="ctr"/>
          <a:lstStyle/>
          <a:p>
            <a:pPr marL="0" indent="0" algn="ctr">
              <a:buNone/>
            </a:pPr>
            <a:r>
              <a:rPr lang="en-US" sz="1050" b="1" dirty="0">
                <a:solidFill>
                  <a:srgbClr val="FFFFFF"/>
                </a:solidFill>
              </a:rPr>
              <a:t>Golden Record</a:t>
            </a:r>
            <a:endParaRPr lang="en-US" sz="1050" dirty="0"/>
          </a:p>
        </p:txBody>
      </p:sp>
      <p:sp>
        <p:nvSpPr>
          <p:cNvPr id="28" name="Text 21"/>
          <p:cNvSpPr/>
          <p:nvPr/>
        </p:nvSpPr>
        <p:spPr>
          <a:xfrm>
            <a:off x="7680960" y="2331720"/>
            <a:ext cx="1627632" cy="502920"/>
          </a:xfrm>
          <a:prstGeom prst="rect">
            <a:avLst/>
          </a:prstGeom>
          <a:noFill/>
          <a:ln/>
        </p:spPr>
        <p:txBody>
          <a:bodyPr wrap="square" rtlCol="0" anchor="ctr"/>
          <a:lstStyle/>
          <a:p>
            <a:pPr marL="0" indent="0" algn="ctr">
              <a:buNone/>
            </a:pPr>
            <a:r>
              <a:rPr lang="en-US" sz="900" dirty="0">
                <a:solidFill>
                  <a:srgbClr val="0B1D3A"/>
                </a:solidFill>
              </a:rPr>
              <a:t>Vue Unique</a:t>
            </a:r>
            <a:endParaRPr lang="en-US" sz="900" dirty="0"/>
          </a:p>
          <a:p>
            <a:pPr marL="0" indent="0" algn="ctr">
              <a:buNone/>
            </a:pPr>
            <a:r>
              <a:rPr lang="en-US" sz="900" dirty="0">
                <a:solidFill>
                  <a:srgbClr val="0B1D3A"/>
                </a:solidFill>
              </a:rPr>
              <a:t>Client</a:t>
            </a:r>
            <a:endParaRPr lang="en-US" sz="900" dirty="0"/>
          </a:p>
        </p:txBody>
      </p:sp>
      <p:sp>
        <p:nvSpPr>
          <p:cNvPr id="29" name="Shape 22"/>
          <p:cNvSpPr/>
          <p:nvPr/>
        </p:nvSpPr>
        <p:spPr>
          <a:xfrm>
            <a:off x="137160" y="3090672"/>
            <a:ext cx="8869680" cy="1874520"/>
          </a:xfrm>
          <a:prstGeom prst="rect">
            <a:avLst/>
          </a:prstGeom>
          <a:solidFill>
            <a:srgbClr val="0D2545"/>
          </a:solidFill>
          <a:ln w="12700">
            <a:solidFill>
              <a:srgbClr val="0D2545"/>
            </a:solidFill>
            <a:prstDash val="solid"/>
          </a:ln>
          <a:effectLst>
            <a:outerShdw blurRad="101600" dist="38100" dir="8100000" algn="bl" rotWithShape="0">
              <a:srgbClr val="000000">
                <a:alpha val="14000"/>
              </a:srgbClr>
            </a:outerShdw>
          </a:effectLst>
        </p:spPr>
      </p:sp>
      <p:sp>
        <p:nvSpPr>
          <p:cNvPr id="30" name="Text 23"/>
          <p:cNvSpPr/>
          <p:nvPr/>
        </p:nvSpPr>
        <p:spPr>
          <a:xfrm>
            <a:off x="320040" y="3154680"/>
            <a:ext cx="8503920" cy="365760"/>
          </a:xfrm>
          <a:prstGeom prst="rect">
            <a:avLst/>
          </a:prstGeom>
          <a:noFill/>
          <a:ln/>
        </p:spPr>
        <p:txBody>
          <a:bodyPr wrap="square" rtlCol="0" anchor="ctr"/>
          <a:lstStyle/>
          <a:p>
            <a:pPr marL="0" indent="0">
              <a:buNone/>
            </a:pPr>
            <a:r>
              <a:rPr lang="en-US" sz="1200" b="1" dirty="0">
                <a:solidFill>
                  <a:srgbClr val="F9A825"/>
                </a:solidFill>
              </a:rPr>
              <a:t>Attributs du Golden Record Client – Vision Bank</a:t>
            </a:r>
            <a:endParaRPr lang="en-US" sz="1200" dirty="0"/>
          </a:p>
        </p:txBody>
      </p:sp>
      <p:sp>
        <p:nvSpPr>
          <p:cNvPr id="31" name="Shape 24"/>
          <p:cNvSpPr/>
          <p:nvPr/>
        </p:nvSpPr>
        <p:spPr>
          <a:xfrm>
            <a:off x="320040" y="3675888"/>
            <a:ext cx="146304" cy="146304"/>
          </a:xfrm>
          <a:prstGeom prst="ellipse">
            <a:avLst/>
          </a:prstGeom>
          <a:solidFill>
            <a:srgbClr val="F9A825"/>
          </a:solidFill>
          <a:ln w="12700">
            <a:solidFill>
              <a:srgbClr val="F9A825"/>
            </a:solidFill>
            <a:prstDash val="solid"/>
          </a:ln>
        </p:spPr>
      </p:sp>
      <p:sp>
        <p:nvSpPr>
          <p:cNvPr id="32" name="Text 25"/>
          <p:cNvSpPr/>
          <p:nvPr/>
        </p:nvSpPr>
        <p:spPr>
          <a:xfrm>
            <a:off x="539496" y="3584448"/>
            <a:ext cx="1965960" cy="365760"/>
          </a:xfrm>
          <a:prstGeom prst="rect">
            <a:avLst/>
          </a:prstGeom>
          <a:noFill/>
          <a:ln/>
        </p:spPr>
        <p:txBody>
          <a:bodyPr wrap="square" rtlCol="0" anchor="ctr"/>
          <a:lstStyle/>
          <a:p>
            <a:pPr marL="0" indent="0">
              <a:buNone/>
            </a:pPr>
            <a:r>
              <a:rPr lang="en-US" sz="950" dirty="0">
                <a:solidFill>
                  <a:srgbClr val="ECEFF1"/>
                </a:solidFill>
              </a:rPr>
              <a:t>ID Client Unique (UUID)</a:t>
            </a:r>
            <a:endParaRPr lang="en-US" sz="950" dirty="0"/>
          </a:p>
        </p:txBody>
      </p:sp>
      <p:sp>
        <p:nvSpPr>
          <p:cNvPr id="33" name="Shape 26"/>
          <p:cNvSpPr/>
          <p:nvPr/>
        </p:nvSpPr>
        <p:spPr>
          <a:xfrm>
            <a:off x="320040" y="4078224"/>
            <a:ext cx="146304" cy="146304"/>
          </a:xfrm>
          <a:prstGeom prst="ellipse">
            <a:avLst/>
          </a:prstGeom>
          <a:solidFill>
            <a:srgbClr val="F9A825"/>
          </a:solidFill>
          <a:ln w="12700">
            <a:solidFill>
              <a:srgbClr val="F9A825"/>
            </a:solidFill>
            <a:prstDash val="solid"/>
          </a:ln>
        </p:spPr>
      </p:sp>
      <p:sp>
        <p:nvSpPr>
          <p:cNvPr id="34" name="Text 27"/>
          <p:cNvSpPr/>
          <p:nvPr/>
        </p:nvSpPr>
        <p:spPr>
          <a:xfrm>
            <a:off x="539496" y="3986784"/>
            <a:ext cx="1965960" cy="365760"/>
          </a:xfrm>
          <a:prstGeom prst="rect">
            <a:avLst/>
          </a:prstGeom>
          <a:noFill/>
          <a:ln/>
        </p:spPr>
        <p:txBody>
          <a:bodyPr wrap="square" rtlCol="0" anchor="ctr"/>
          <a:lstStyle/>
          <a:p>
            <a:pPr marL="0" indent="0">
              <a:buNone/>
            </a:pPr>
            <a:r>
              <a:rPr lang="en-US" sz="950" dirty="0">
                <a:solidFill>
                  <a:srgbClr val="ECEFF1"/>
                </a:solidFill>
              </a:rPr>
              <a:t>Nom · Prénom · Date de naissance</a:t>
            </a:r>
            <a:endParaRPr lang="en-US" sz="950" dirty="0"/>
          </a:p>
        </p:txBody>
      </p:sp>
      <p:sp>
        <p:nvSpPr>
          <p:cNvPr id="35" name="Shape 28"/>
          <p:cNvSpPr/>
          <p:nvPr/>
        </p:nvSpPr>
        <p:spPr>
          <a:xfrm>
            <a:off x="320040" y="4480560"/>
            <a:ext cx="146304" cy="146304"/>
          </a:xfrm>
          <a:prstGeom prst="ellipse">
            <a:avLst/>
          </a:prstGeom>
          <a:solidFill>
            <a:srgbClr val="F9A825"/>
          </a:solidFill>
          <a:ln w="12700">
            <a:solidFill>
              <a:srgbClr val="F9A825"/>
            </a:solidFill>
            <a:prstDash val="solid"/>
          </a:ln>
        </p:spPr>
      </p:sp>
      <p:sp>
        <p:nvSpPr>
          <p:cNvPr id="36" name="Text 29"/>
          <p:cNvSpPr/>
          <p:nvPr/>
        </p:nvSpPr>
        <p:spPr>
          <a:xfrm>
            <a:off x="539496" y="4389120"/>
            <a:ext cx="1965960" cy="365760"/>
          </a:xfrm>
          <a:prstGeom prst="rect">
            <a:avLst/>
          </a:prstGeom>
          <a:noFill/>
          <a:ln/>
        </p:spPr>
        <p:txBody>
          <a:bodyPr wrap="square" rtlCol="0" anchor="ctr"/>
          <a:lstStyle/>
          <a:p>
            <a:pPr marL="0" indent="0">
              <a:buNone/>
            </a:pPr>
            <a:r>
              <a:rPr lang="en-US" sz="950" dirty="0">
                <a:solidFill>
                  <a:srgbClr val="ECEFF1"/>
                </a:solidFill>
              </a:rPr>
              <a:t>Numéro CNI / Passeport</a:t>
            </a:r>
            <a:endParaRPr lang="en-US" sz="950" dirty="0"/>
          </a:p>
        </p:txBody>
      </p:sp>
      <p:sp>
        <p:nvSpPr>
          <p:cNvPr id="37" name="Shape 30"/>
          <p:cNvSpPr/>
          <p:nvPr/>
        </p:nvSpPr>
        <p:spPr>
          <a:xfrm>
            <a:off x="2532888" y="3675888"/>
            <a:ext cx="146304" cy="146304"/>
          </a:xfrm>
          <a:prstGeom prst="ellipse">
            <a:avLst/>
          </a:prstGeom>
          <a:solidFill>
            <a:srgbClr val="F9A825"/>
          </a:solidFill>
          <a:ln w="12700">
            <a:solidFill>
              <a:srgbClr val="F9A825"/>
            </a:solidFill>
            <a:prstDash val="solid"/>
          </a:ln>
        </p:spPr>
      </p:sp>
      <p:sp>
        <p:nvSpPr>
          <p:cNvPr id="38" name="Text 31"/>
          <p:cNvSpPr/>
          <p:nvPr/>
        </p:nvSpPr>
        <p:spPr>
          <a:xfrm>
            <a:off x="2752344" y="3584448"/>
            <a:ext cx="1965960" cy="365760"/>
          </a:xfrm>
          <a:prstGeom prst="rect">
            <a:avLst/>
          </a:prstGeom>
          <a:noFill/>
          <a:ln/>
        </p:spPr>
        <p:txBody>
          <a:bodyPr wrap="square" rtlCol="0" anchor="ctr"/>
          <a:lstStyle/>
          <a:p>
            <a:pPr marL="0" indent="0">
              <a:buNone/>
            </a:pPr>
            <a:r>
              <a:rPr lang="en-US" sz="950" dirty="0">
                <a:solidFill>
                  <a:srgbClr val="ECEFF1"/>
                </a:solidFill>
              </a:rPr>
              <a:t>Adresse normalisée</a:t>
            </a:r>
            <a:endParaRPr lang="en-US" sz="950" dirty="0"/>
          </a:p>
        </p:txBody>
      </p:sp>
      <p:sp>
        <p:nvSpPr>
          <p:cNvPr id="39" name="Shape 32"/>
          <p:cNvSpPr/>
          <p:nvPr/>
        </p:nvSpPr>
        <p:spPr>
          <a:xfrm>
            <a:off x="2532888" y="4078224"/>
            <a:ext cx="146304" cy="146304"/>
          </a:xfrm>
          <a:prstGeom prst="ellipse">
            <a:avLst/>
          </a:prstGeom>
          <a:solidFill>
            <a:srgbClr val="F9A825"/>
          </a:solidFill>
          <a:ln w="12700">
            <a:solidFill>
              <a:srgbClr val="F9A825"/>
            </a:solidFill>
            <a:prstDash val="solid"/>
          </a:ln>
        </p:spPr>
      </p:sp>
      <p:sp>
        <p:nvSpPr>
          <p:cNvPr id="40" name="Text 33"/>
          <p:cNvSpPr/>
          <p:nvPr/>
        </p:nvSpPr>
        <p:spPr>
          <a:xfrm>
            <a:off x="2752344" y="3986784"/>
            <a:ext cx="1965960" cy="365760"/>
          </a:xfrm>
          <a:prstGeom prst="rect">
            <a:avLst/>
          </a:prstGeom>
          <a:noFill/>
          <a:ln/>
        </p:spPr>
        <p:txBody>
          <a:bodyPr wrap="square" rtlCol="0" anchor="ctr"/>
          <a:lstStyle/>
          <a:p>
            <a:pPr marL="0" indent="0">
              <a:buNone/>
            </a:pPr>
            <a:r>
              <a:rPr lang="en-US" sz="950" dirty="0">
                <a:solidFill>
                  <a:srgbClr val="ECEFF1"/>
                </a:solidFill>
              </a:rPr>
              <a:t>Téléphone principal vérifié</a:t>
            </a:r>
            <a:endParaRPr lang="en-US" sz="950" dirty="0"/>
          </a:p>
        </p:txBody>
      </p:sp>
      <p:sp>
        <p:nvSpPr>
          <p:cNvPr id="41" name="Shape 34"/>
          <p:cNvSpPr/>
          <p:nvPr/>
        </p:nvSpPr>
        <p:spPr>
          <a:xfrm>
            <a:off x="2532888" y="4480560"/>
            <a:ext cx="146304" cy="146304"/>
          </a:xfrm>
          <a:prstGeom prst="ellipse">
            <a:avLst/>
          </a:prstGeom>
          <a:solidFill>
            <a:srgbClr val="F9A825"/>
          </a:solidFill>
          <a:ln w="12700">
            <a:solidFill>
              <a:srgbClr val="F9A825"/>
            </a:solidFill>
            <a:prstDash val="solid"/>
          </a:ln>
        </p:spPr>
      </p:sp>
      <p:sp>
        <p:nvSpPr>
          <p:cNvPr id="42" name="Text 35"/>
          <p:cNvSpPr/>
          <p:nvPr/>
        </p:nvSpPr>
        <p:spPr>
          <a:xfrm>
            <a:off x="2752344" y="4389120"/>
            <a:ext cx="1965960" cy="365760"/>
          </a:xfrm>
          <a:prstGeom prst="rect">
            <a:avLst/>
          </a:prstGeom>
          <a:noFill/>
          <a:ln/>
        </p:spPr>
        <p:txBody>
          <a:bodyPr wrap="square" rtlCol="0" anchor="ctr"/>
          <a:lstStyle/>
          <a:p>
            <a:pPr marL="0" indent="0">
              <a:buNone/>
            </a:pPr>
            <a:r>
              <a:rPr lang="en-US" sz="950" dirty="0">
                <a:solidFill>
                  <a:srgbClr val="ECEFF1"/>
                </a:solidFill>
              </a:rPr>
              <a:t>Email principal vérifié</a:t>
            </a:r>
            <a:endParaRPr lang="en-US" sz="950" dirty="0"/>
          </a:p>
        </p:txBody>
      </p:sp>
      <p:sp>
        <p:nvSpPr>
          <p:cNvPr id="43" name="Shape 36"/>
          <p:cNvSpPr/>
          <p:nvPr/>
        </p:nvSpPr>
        <p:spPr>
          <a:xfrm>
            <a:off x="4745736" y="3675888"/>
            <a:ext cx="146304" cy="146304"/>
          </a:xfrm>
          <a:prstGeom prst="ellipse">
            <a:avLst/>
          </a:prstGeom>
          <a:solidFill>
            <a:srgbClr val="F9A825"/>
          </a:solidFill>
          <a:ln w="12700">
            <a:solidFill>
              <a:srgbClr val="F9A825"/>
            </a:solidFill>
            <a:prstDash val="solid"/>
          </a:ln>
        </p:spPr>
      </p:sp>
      <p:sp>
        <p:nvSpPr>
          <p:cNvPr id="44" name="Text 37"/>
          <p:cNvSpPr/>
          <p:nvPr/>
        </p:nvSpPr>
        <p:spPr>
          <a:xfrm>
            <a:off x="4965192" y="3584448"/>
            <a:ext cx="1965960" cy="365760"/>
          </a:xfrm>
          <a:prstGeom prst="rect">
            <a:avLst/>
          </a:prstGeom>
          <a:noFill/>
          <a:ln/>
        </p:spPr>
        <p:txBody>
          <a:bodyPr wrap="square" rtlCol="0" anchor="ctr"/>
          <a:lstStyle/>
          <a:p>
            <a:pPr marL="0" indent="0">
              <a:buNone/>
            </a:pPr>
            <a:r>
              <a:rPr lang="en-US" sz="950" dirty="0">
                <a:solidFill>
                  <a:srgbClr val="ECEFF1"/>
                </a:solidFill>
              </a:rPr>
              <a:t>Segment (Retail/Corporate)</a:t>
            </a:r>
            <a:endParaRPr lang="en-US" sz="950" dirty="0"/>
          </a:p>
        </p:txBody>
      </p:sp>
      <p:sp>
        <p:nvSpPr>
          <p:cNvPr id="45" name="Shape 38"/>
          <p:cNvSpPr/>
          <p:nvPr/>
        </p:nvSpPr>
        <p:spPr>
          <a:xfrm>
            <a:off x="4745736" y="4078224"/>
            <a:ext cx="146304" cy="146304"/>
          </a:xfrm>
          <a:prstGeom prst="ellipse">
            <a:avLst/>
          </a:prstGeom>
          <a:solidFill>
            <a:srgbClr val="F9A825"/>
          </a:solidFill>
          <a:ln w="12700">
            <a:solidFill>
              <a:srgbClr val="F9A825"/>
            </a:solidFill>
            <a:prstDash val="solid"/>
          </a:ln>
        </p:spPr>
      </p:sp>
      <p:sp>
        <p:nvSpPr>
          <p:cNvPr id="46" name="Text 39"/>
          <p:cNvSpPr/>
          <p:nvPr/>
        </p:nvSpPr>
        <p:spPr>
          <a:xfrm>
            <a:off x="4965192" y="3986784"/>
            <a:ext cx="1965960" cy="365760"/>
          </a:xfrm>
          <a:prstGeom prst="rect">
            <a:avLst/>
          </a:prstGeom>
          <a:noFill/>
          <a:ln/>
        </p:spPr>
        <p:txBody>
          <a:bodyPr wrap="square" rtlCol="0" anchor="ctr"/>
          <a:lstStyle/>
          <a:p>
            <a:pPr marL="0" indent="0">
              <a:buNone/>
            </a:pPr>
            <a:r>
              <a:rPr lang="en-US" sz="950" dirty="0">
                <a:solidFill>
                  <a:srgbClr val="ECEFF1"/>
                </a:solidFill>
              </a:rPr>
              <a:t>Score de risque KYC</a:t>
            </a:r>
            <a:endParaRPr lang="en-US" sz="950" dirty="0"/>
          </a:p>
        </p:txBody>
      </p:sp>
      <p:sp>
        <p:nvSpPr>
          <p:cNvPr id="47" name="Shape 40"/>
          <p:cNvSpPr/>
          <p:nvPr/>
        </p:nvSpPr>
        <p:spPr>
          <a:xfrm>
            <a:off x="4745736" y="4480560"/>
            <a:ext cx="146304" cy="146304"/>
          </a:xfrm>
          <a:prstGeom prst="ellipse">
            <a:avLst/>
          </a:prstGeom>
          <a:solidFill>
            <a:srgbClr val="F9A825"/>
          </a:solidFill>
          <a:ln w="12700">
            <a:solidFill>
              <a:srgbClr val="F9A825"/>
            </a:solidFill>
            <a:prstDash val="solid"/>
          </a:ln>
        </p:spPr>
      </p:sp>
      <p:sp>
        <p:nvSpPr>
          <p:cNvPr id="48" name="Text 41"/>
          <p:cNvSpPr/>
          <p:nvPr/>
        </p:nvSpPr>
        <p:spPr>
          <a:xfrm>
            <a:off x="4965192" y="4389120"/>
            <a:ext cx="1965960" cy="365760"/>
          </a:xfrm>
          <a:prstGeom prst="rect">
            <a:avLst/>
          </a:prstGeom>
          <a:noFill/>
          <a:ln/>
        </p:spPr>
        <p:txBody>
          <a:bodyPr wrap="square" rtlCol="0" anchor="ctr"/>
          <a:lstStyle/>
          <a:p>
            <a:pPr marL="0" indent="0">
              <a:buNone/>
            </a:pPr>
            <a:r>
              <a:rPr lang="en-US" sz="950" dirty="0">
                <a:solidFill>
                  <a:srgbClr val="ECEFF1"/>
                </a:solidFill>
              </a:rPr>
              <a:t>Statut : Actif / Inactif</a:t>
            </a:r>
            <a:endParaRPr lang="en-US" sz="950" dirty="0"/>
          </a:p>
        </p:txBody>
      </p:sp>
      <p:sp>
        <p:nvSpPr>
          <p:cNvPr id="49" name="Shape 42"/>
          <p:cNvSpPr/>
          <p:nvPr/>
        </p:nvSpPr>
        <p:spPr>
          <a:xfrm>
            <a:off x="6958584" y="3675888"/>
            <a:ext cx="146304" cy="146304"/>
          </a:xfrm>
          <a:prstGeom prst="ellipse">
            <a:avLst/>
          </a:prstGeom>
          <a:solidFill>
            <a:srgbClr val="F9A825"/>
          </a:solidFill>
          <a:ln w="12700">
            <a:solidFill>
              <a:srgbClr val="F9A825"/>
            </a:solidFill>
            <a:prstDash val="solid"/>
          </a:ln>
        </p:spPr>
      </p:sp>
      <p:sp>
        <p:nvSpPr>
          <p:cNvPr id="50" name="Text 43"/>
          <p:cNvSpPr/>
          <p:nvPr/>
        </p:nvSpPr>
        <p:spPr>
          <a:xfrm>
            <a:off x="7178040" y="3584448"/>
            <a:ext cx="1965960" cy="365760"/>
          </a:xfrm>
          <a:prstGeom prst="rect">
            <a:avLst/>
          </a:prstGeom>
          <a:noFill/>
          <a:ln/>
        </p:spPr>
        <p:txBody>
          <a:bodyPr wrap="square" rtlCol="0" anchor="ctr"/>
          <a:lstStyle/>
          <a:p>
            <a:pPr marL="0" indent="0">
              <a:buNone/>
            </a:pPr>
            <a:r>
              <a:rPr lang="en-US" sz="950" dirty="0">
                <a:solidFill>
                  <a:srgbClr val="ECEFF1"/>
                </a:solidFill>
              </a:rPr>
              <a:t>Date 1ère entrée en relation</a:t>
            </a:r>
            <a:endParaRPr lang="en-US" sz="950" dirty="0"/>
          </a:p>
        </p:txBody>
      </p:sp>
      <p:sp>
        <p:nvSpPr>
          <p:cNvPr id="51" name="Shape 44"/>
          <p:cNvSpPr/>
          <p:nvPr/>
        </p:nvSpPr>
        <p:spPr>
          <a:xfrm>
            <a:off x="6958584" y="4078224"/>
            <a:ext cx="146304" cy="146304"/>
          </a:xfrm>
          <a:prstGeom prst="ellipse">
            <a:avLst/>
          </a:prstGeom>
          <a:solidFill>
            <a:srgbClr val="F9A825"/>
          </a:solidFill>
          <a:ln w="12700">
            <a:solidFill>
              <a:srgbClr val="F9A825"/>
            </a:solidFill>
            <a:prstDash val="solid"/>
          </a:ln>
        </p:spPr>
      </p:sp>
      <p:sp>
        <p:nvSpPr>
          <p:cNvPr id="52" name="Text 45"/>
          <p:cNvSpPr/>
          <p:nvPr/>
        </p:nvSpPr>
        <p:spPr>
          <a:xfrm>
            <a:off x="7178040" y="3986784"/>
            <a:ext cx="1965960" cy="365760"/>
          </a:xfrm>
          <a:prstGeom prst="rect">
            <a:avLst/>
          </a:prstGeom>
          <a:noFill/>
          <a:ln/>
        </p:spPr>
        <p:txBody>
          <a:bodyPr wrap="square" rtlCol="0" anchor="ctr"/>
          <a:lstStyle/>
          <a:p>
            <a:pPr marL="0" indent="0">
              <a:buNone/>
            </a:pPr>
            <a:r>
              <a:rPr lang="en-US" sz="950" dirty="0">
                <a:solidFill>
                  <a:srgbClr val="ECEFF1"/>
                </a:solidFill>
              </a:rPr>
              <a:t>Agence de domiciliation</a:t>
            </a:r>
            <a:endParaRPr lang="en-US" sz="950" dirty="0"/>
          </a:p>
        </p:txBody>
      </p:sp>
      <p:sp>
        <p:nvSpPr>
          <p:cNvPr id="53" name="Shape 46"/>
          <p:cNvSpPr/>
          <p:nvPr/>
        </p:nvSpPr>
        <p:spPr>
          <a:xfrm>
            <a:off x="6958584" y="4480560"/>
            <a:ext cx="146304" cy="146304"/>
          </a:xfrm>
          <a:prstGeom prst="ellipse">
            <a:avLst/>
          </a:prstGeom>
          <a:solidFill>
            <a:srgbClr val="F9A825"/>
          </a:solidFill>
          <a:ln w="12700">
            <a:solidFill>
              <a:srgbClr val="F9A825"/>
            </a:solidFill>
            <a:prstDash val="solid"/>
          </a:ln>
        </p:spPr>
      </p:sp>
      <p:sp>
        <p:nvSpPr>
          <p:cNvPr id="54" name="Text 47"/>
          <p:cNvSpPr/>
          <p:nvPr/>
        </p:nvSpPr>
        <p:spPr>
          <a:xfrm>
            <a:off x="7178040" y="4389120"/>
            <a:ext cx="1965960" cy="365760"/>
          </a:xfrm>
          <a:prstGeom prst="rect">
            <a:avLst/>
          </a:prstGeom>
          <a:noFill/>
          <a:ln/>
        </p:spPr>
        <p:txBody>
          <a:bodyPr wrap="square" rtlCol="0" anchor="ctr"/>
          <a:lstStyle/>
          <a:p>
            <a:pPr marL="0" indent="0">
              <a:buNone/>
            </a:pPr>
            <a:r>
              <a:rPr lang="en-US" sz="950" dirty="0">
                <a:solidFill>
                  <a:srgbClr val="ECEFF1"/>
                </a:solidFill>
              </a:rPr>
              <a:t>Produits détenus (consolidés)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Shape 1"/>
          <p:cNvSpPr/>
          <p:nvPr/>
        </p:nvSpPr>
        <p:spPr>
          <a:xfrm>
            <a:off x="0" y="0"/>
            <a:ext cx="54864" cy="5143500"/>
          </a:xfrm>
          <a:prstGeom prst="rect">
            <a:avLst/>
          </a:prstGeom>
          <a:solidFill>
            <a:srgbClr val="F9A825"/>
          </a:solidFill>
          <a:ln w="12700">
            <a:solidFill>
              <a:srgbClr val="F9A825"/>
            </a:solidFill>
            <a:prstDash val="solid"/>
          </a:ln>
        </p:spPr>
      </p:sp>
      <p:sp>
        <p:nvSpPr>
          <p:cNvPr id="4" name="Text 2"/>
          <p:cNvSpPr/>
          <p:nvPr/>
        </p:nvSpPr>
        <p:spPr>
          <a:xfrm>
            <a:off x="228600" y="137160"/>
            <a:ext cx="8686800" cy="6858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03d – Qualité des Données (Data Quality)</a:t>
            </a:r>
            <a:endParaRPr lang="en-US" sz="2200" dirty="0"/>
          </a:p>
        </p:txBody>
      </p:sp>
      <p:sp>
        <p:nvSpPr>
          <p:cNvPr id="5" name="Shape 3"/>
          <p:cNvSpPr/>
          <p:nvPr/>
        </p:nvSpPr>
        <p:spPr>
          <a:xfrm>
            <a:off x="182880" y="1051560"/>
            <a:ext cx="2834640" cy="1828800"/>
          </a:xfrm>
          <a:prstGeom prst="rect">
            <a:avLst/>
          </a:prstGeom>
          <a:solidFill>
            <a:srgbClr val="FFFFFF"/>
          </a:solidFill>
          <a:ln w="12700">
            <a:solidFill>
              <a:srgbClr val="1565C0"/>
            </a:solidFill>
            <a:prstDash val="solid"/>
          </a:ln>
          <a:effectLst>
            <a:outerShdw blurRad="101600" dist="38100" dir="8100000" algn="bl" rotWithShape="0">
              <a:srgbClr val="000000">
                <a:alpha val="14000"/>
              </a:srgbClr>
            </a:outerShdw>
          </a:effectLst>
        </p:spPr>
      </p:sp>
      <p:sp>
        <p:nvSpPr>
          <p:cNvPr id="6" name="Shape 4"/>
          <p:cNvSpPr/>
          <p:nvPr/>
        </p:nvSpPr>
        <p:spPr>
          <a:xfrm>
            <a:off x="182880" y="1051560"/>
            <a:ext cx="2834640" cy="713232"/>
          </a:xfrm>
          <a:prstGeom prst="rect">
            <a:avLst/>
          </a:prstGeom>
          <a:solidFill>
            <a:srgbClr val="1565C0"/>
          </a:solidFill>
          <a:ln w="12700">
            <a:solidFill>
              <a:srgbClr val="1565C0"/>
            </a:solidFill>
            <a:prstDash val="solid"/>
          </a:ln>
        </p:spPr>
      </p:sp>
      <p:sp>
        <p:nvSpPr>
          <p:cNvPr id="7" name="Text 5"/>
          <p:cNvSpPr/>
          <p:nvPr/>
        </p:nvSpPr>
        <p:spPr>
          <a:xfrm>
            <a:off x="182880" y="1069848"/>
            <a:ext cx="960120" cy="676656"/>
          </a:xfrm>
          <a:prstGeom prst="rect">
            <a:avLst/>
          </a:prstGeom>
          <a:noFill/>
          <a:ln/>
        </p:spPr>
        <p:txBody>
          <a:bodyPr wrap="square" lIns="0" tIns="0" rIns="0" bIns="0" rtlCol="0" anchor="ctr"/>
          <a:lstStyle/>
          <a:p>
            <a:pPr marL="0" indent="0" algn="ctr">
              <a:buNone/>
            </a:pPr>
            <a:r>
              <a:rPr lang="en-US" sz="2600" b="1" dirty="0">
                <a:solidFill>
                  <a:srgbClr val="FFFFFF"/>
                </a:solidFill>
              </a:rPr>
              <a:t>85%</a:t>
            </a:r>
            <a:endParaRPr lang="en-US" sz="2600" dirty="0"/>
          </a:p>
        </p:txBody>
      </p:sp>
      <p:sp>
        <p:nvSpPr>
          <p:cNvPr id="8" name="Text 6"/>
          <p:cNvSpPr/>
          <p:nvPr/>
        </p:nvSpPr>
        <p:spPr>
          <a:xfrm>
            <a:off x="201168" y="1527048"/>
            <a:ext cx="914400" cy="201168"/>
          </a:xfrm>
          <a:prstGeom prst="rect">
            <a:avLst/>
          </a:prstGeom>
          <a:noFill/>
          <a:ln/>
        </p:spPr>
        <p:txBody>
          <a:bodyPr wrap="square" rtlCol="0" anchor="ctr"/>
          <a:lstStyle/>
          <a:p>
            <a:pPr marL="0" indent="0" algn="ctr">
              <a:buNone/>
            </a:pPr>
            <a:r>
              <a:rPr lang="en-US" sz="750" dirty="0">
                <a:solidFill>
                  <a:srgbClr val="FFFFFF"/>
                </a:solidFill>
              </a:rPr>
              <a:t>Objectif</a:t>
            </a:r>
            <a:endParaRPr lang="en-US" sz="750" dirty="0"/>
          </a:p>
        </p:txBody>
      </p:sp>
      <p:sp>
        <p:nvSpPr>
          <p:cNvPr id="9" name="Text 7"/>
          <p:cNvSpPr/>
          <p:nvPr/>
        </p:nvSpPr>
        <p:spPr>
          <a:xfrm>
            <a:off x="1188720" y="1161288"/>
            <a:ext cx="1737360" cy="502920"/>
          </a:xfrm>
          <a:prstGeom prst="rect">
            <a:avLst/>
          </a:prstGeom>
          <a:noFill/>
          <a:ln/>
        </p:spPr>
        <p:txBody>
          <a:bodyPr wrap="square" rtlCol="0" anchor="ctr"/>
          <a:lstStyle/>
          <a:p>
            <a:pPr marL="0" indent="0">
              <a:buNone/>
            </a:pPr>
            <a:r>
              <a:rPr lang="en-US" sz="1300" b="1" dirty="0">
                <a:solidFill>
                  <a:srgbClr val="FFFFFF"/>
                </a:solidFill>
              </a:rPr>
              <a:t>Complétude</a:t>
            </a:r>
            <a:endParaRPr lang="en-US" sz="1300" dirty="0"/>
          </a:p>
        </p:txBody>
      </p:sp>
      <p:sp>
        <p:nvSpPr>
          <p:cNvPr id="10" name="Text 8"/>
          <p:cNvSpPr/>
          <p:nvPr/>
        </p:nvSpPr>
        <p:spPr>
          <a:xfrm>
            <a:off x="292608" y="1837944"/>
            <a:ext cx="2615184" cy="969264"/>
          </a:xfrm>
          <a:prstGeom prst="rect">
            <a:avLst/>
          </a:prstGeom>
          <a:noFill/>
          <a:ln/>
        </p:spPr>
        <p:txBody>
          <a:bodyPr wrap="square" rtlCol="0" anchor="ctr"/>
          <a:lstStyle/>
          <a:p>
            <a:pPr marL="0" indent="0">
              <a:buNone/>
            </a:pPr>
            <a:r>
              <a:rPr lang="en-US" sz="950" dirty="0">
                <a:solidFill>
                  <a:srgbClr val="455A64"/>
                </a:solidFill>
              </a:rPr>
              <a:t>Tous les champs obligatoires du Golden Record sont renseignés.</a:t>
            </a:r>
            <a:endParaRPr lang="en-US" sz="950" dirty="0"/>
          </a:p>
        </p:txBody>
      </p:sp>
      <p:sp>
        <p:nvSpPr>
          <p:cNvPr id="11" name="Shape 9"/>
          <p:cNvSpPr/>
          <p:nvPr/>
        </p:nvSpPr>
        <p:spPr>
          <a:xfrm>
            <a:off x="3172968" y="1051560"/>
            <a:ext cx="2834640" cy="1828800"/>
          </a:xfrm>
          <a:prstGeom prst="rect">
            <a:avLst/>
          </a:prstGeom>
          <a:solidFill>
            <a:srgbClr val="FFFFFF"/>
          </a:solidFill>
          <a:ln w="12700">
            <a:solidFill>
              <a:srgbClr val="00796B"/>
            </a:solidFill>
            <a:prstDash val="solid"/>
          </a:ln>
          <a:effectLst>
            <a:outerShdw blurRad="101600" dist="38100" dir="8100000" algn="bl" rotWithShape="0">
              <a:srgbClr val="000000">
                <a:alpha val="14000"/>
              </a:srgbClr>
            </a:outerShdw>
          </a:effectLst>
        </p:spPr>
      </p:sp>
      <p:sp>
        <p:nvSpPr>
          <p:cNvPr id="12" name="Shape 10"/>
          <p:cNvSpPr/>
          <p:nvPr/>
        </p:nvSpPr>
        <p:spPr>
          <a:xfrm>
            <a:off x="3172968" y="1051560"/>
            <a:ext cx="2834640" cy="713232"/>
          </a:xfrm>
          <a:prstGeom prst="rect">
            <a:avLst/>
          </a:prstGeom>
          <a:solidFill>
            <a:srgbClr val="00796B"/>
          </a:solidFill>
          <a:ln w="12700">
            <a:solidFill>
              <a:srgbClr val="00796B"/>
            </a:solidFill>
            <a:prstDash val="solid"/>
          </a:ln>
        </p:spPr>
      </p:sp>
      <p:sp>
        <p:nvSpPr>
          <p:cNvPr id="13" name="Text 11"/>
          <p:cNvSpPr/>
          <p:nvPr/>
        </p:nvSpPr>
        <p:spPr>
          <a:xfrm>
            <a:off x="3172968" y="1069848"/>
            <a:ext cx="960120" cy="676656"/>
          </a:xfrm>
          <a:prstGeom prst="rect">
            <a:avLst/>
          </a:prstGeom>
          <a:noFill/>
          <a:ln/>
        </p:spPr>
        <p:txBody>
          <a:bodyPr wrap="square" lIns="0" tIns="0" rIns="0" bIns="0" rtlCol="0" anchor="ctr"/>
          <a:lstStyle/>
          <a:p>
            <a:pPr marL="0" indent="0" algn="ctr">
              <a:buNone/>
            </a:pPr>
            <a:r>
              <a:rPr lang="en-US" sz="2600" b="1" dirty="0">
                <a:solidFill>
                  <a:srgbClr val="FFFFFF"/>
                </a:solidFill>
              </a:rPr>
              <a:t>90%</a:t>
            </a:r>
            <a:endParaRPr lang="en-US" sz="2600" dirty="0"/>
          </a:p>
        </p:txBody>
      </p:sp>
      <p:sp>
        <p:nvSpPr>
          <p:cNvPr id="14" name="Text 12"/>
          <p:cNvSpPr/>
          <p:nvPr/>
        </p:nvSpPr>
        <p:spPr>
          <a:xfrm>
            <a:off x="3191256" y="1527048"/>
            <a:ext cx="914400" cy="201168"/>
          </a:xfrm>
          <a:prstGeom prst="rect">
            <a:avLst/>
          </a:prstGeom>
          <a:noFill/>
          <a:ln/>
        </p:spPr>
        <p:txBody>
          <a:bodyPr wrap="square" rtlCol="0" anchor="ctr"/>
          <a:lstStyle/>
          <a:p>
            <a:pPr marL="0" indent="0" algn="ctr">
              <a:buNone/>
            </a:pPr>
            <a:r>
              <a:rPr lang="en-US" sz="750" dirty="0">
                <a:solidFill>
                  <a:srgbClr val="FFFFFF"/>
                </a:solidFill>
              </a:rPr>
              <a:t>Objectif</a:t>
            </a:r>
            <a:endParaRPr lang="en-US" sz="750" dirty="0"/>
          </a:p>
        </p:txBody>
      </p:sp>
      <p:sp>
        <p:nvSpPr>
          <p:cNvPr id="15" name="Text 13"/>
          <p:cNvSpPr/>
          <p:nvPr/>
        </p:nvSpPr>
        <p:spPr>
          <a:xfrm>
            <a:off x="4178808" y="1161288"/>
            <a:ext cx="1737360" cy="502920"/>
          </a:xfrm>
          <a:prstGeom prst="rect">
            <a:avLst/>
          </a:prstGeom>
          <a:noFill/>
          <a:ln/>
        </p:spPr>
        <p:txBody>
          <a:bodyPr wrap="square" rtlCol="0" anchor="ctr"/>
          <a:lstStyle/>
          <a:p>
            <a:pPr marL="0" indent="0">
              <a:buNone/>
            </a:pPr>
            <a:r>
              <a:rPr lang="en-US" sz="1300" b="1" dirty="0">
                <a:solidFill>
                  <a:srgbClr val="FFFFFF"/>
                </a:solidFill>
              </a:rPr>
              <a:t>Exactitude</a:t>
            </a:r>
            <a:endParaRPr lang="en-US" sz="1300" dirty="0"/>
          </a:p>
        </p:txBody>
      </p:sp>
      <p:sp>
        <p:nvSpPr>
          <p:cNvPr id="16" name="Text 14"/>
          <p:cNvSpPr/>
          <p:nvPr/>
        </p:nvSpPr>
        <p:spPr>
          <a:xfrm>
            <a:off x="3282696" y="1837944"/>
            <a:ext cx="2615184" cy="969264"/>
          </a:xfrm>
          <a:prstGeom prst="rect">
            <a:avLst/>
          </a:prstGeom>
          <a:noFill/>
          <a:ln/>
        </p:spPr>
        <p:txBody>
          <a:bodyPr wrap="square" rtlCol="0" anchor="ctr"/>
          <a:lstStyle/>
          <a:p>
            <a:pPr marL="0" indent="0">
              <a:buNone/>
            </a:pPr>
            <a:r>
              <a:rPr lang="en-US" sz="950" dirty="0">
                <a:solidFill>
                  <a:srgbClr val="455A64"/>
                </a:solidFill>
              </a:rPr>
              <a:t>Les données correspondent à la réalité terrain (CNI, adresse, tél).</a:t>
            </a:r>
            <a:endParaRPr lang="en-US" sz="950" dirty="0"/>
          </a:p>
        </p:txBody>
      </p:sp>
      <p:sp>
        <p:nvSpPr>
          <p:cNvPr id="17" name="Shape 15"/>
          <p:cNvSpPr/>
          <p:nvPr/>
        </p:nvSpPr>
        <p:spPr>
          <a:xfrm>
            <a:off x="6163056" y="1051560"/>
            <a:ext cx="2834640" cy="1828800"/>
          </a:xfrm>
          <a:prstGeom prst="rect">
            <a:avLst/>
          </a:prstGeom>
          <a:solidFill>
            <a:srgbClr val="FFFFFF"/>
          </a:solidFill>
          <a:ln w="12700">
            <a:solidFill>
              <a:srgbClr val="2E7D32"/>
            </a:solidFill>
            <a:prstDash val="solid"/>
          </a:ln>
          <a:effectLst>
            <a:outerShdw blurRad="101600" dist="38100" dir="8100000" algn="bl" rotWithShape="0">
              <a:srgbClr val="000000">
                <a:alpha val="14000"/>
              </a:srgbClr>
            </a:outerShdw>
          </a:effectLst>
        </p:spPr>
      </p:sp>
      <p:sp>
        <p:nvSpPr>
          <p:cNvPr id="18" name="Shape 16"/>
          <p:cNvSpPr/>
          <p:nvPr/>
        </p:nvSpPr>
        <p:spPr>
          <a:xfrm>
            <a:off x="6163056" y="1051560"/>
            <a:ext cx="2834640" cy="713232"/>
          </a:xfrm>
          <a:prstGeom prst="rect">
            <a:avLst/>
          </a:prstGeom>
          <a:solidFill>
            <a:srgbClr val="2E7D32"/>
          </a:solidFill>
          <a:ln w="12700">
            <a:solidFill>
              <a:srgbClr val="2E7D32"/>
            </a:solidFill>
            <a:prstDash val="solid"/>
          </a:ln>
        </p:spPr>
      </p:sp>
      <p:sp>
        <p:nvSpPr>
          <p:cNvPr id="19" name="Text 17"/>
          <p:cNvSpPr/>
          <p:nvPr/>
        </p:nvSpPr>
        <p:spPr>
          <a:xfrm>
            <a:off x="6163056" y="1069848"/>
            <a:ext cx="960120" cy="676656"/>
          </a:xfrm>
          <a:prstGeom prst="rect">
            <a:avLst/>
          </a:prstGeom>
          <a:noFill/>
          <a:ln/>
        </p:spPr>
        <p:txBody>
          <a:bodyPr wrap="square" lIns="0" tIns="0" rIns="0" bIns="0" rtlCol="0" anchor="ctr"/>
          <a:lstStyle/>
          <a:p>
            <a:pPr marL="0" indent="0" algn="ctr">
              <a:buNone/>
            </a:pPr>
            <a:r>
              <a:rPr lang="en-US" sz="2600" b="1" dirty="0">
                <a:solidFill>
                  <a:srgbClr val="FFFFFF"/>
                </a:solidFill>
              </a:rPr>
              <a:t>95%</a:t>
            </a:r>
            <a:endParaRPr lang="en-US" sz="2600" dirty="0"/>
          </a:p>
        </p:txBody>
      </p:sp>
      <p:sp>
        <p:nvSpPr>
          <p:cNvPr id="20" name="Text 18"/>
          <p:cNvSpPr/>
          <p:nvPr/>
        </p:nvSpPr>
        <p:spPr>
          <a:xfrm>
            <a:off x="6181344" y="1527048"/>
            <a:ext cx="914400" cy="201168"/>
          </a:xfrm>
          <a:prstGeom prst="rect">
            <a:avLst/>
          </a:prstGeom>
          <a:noFill/>
          <a:ln/>
        </p:spPr>
        <p:txBody>
          <a:bodyPr wrap="square" rtlCol="0" anchor="ctr"/>
          <a:lstStyle/>
          <a:p>
            <a:pPr marL="0" indent="0" algn="ctr">
              <a:buNone/>
            </a:pPr>
            <a:r>
              <a:rPr lang="en-US" sz="750" dirty="0">
                <a:solidFill>
                  <a:srgbClr val="FFFFFF"/>
                </a:solidFill>
              </a:rPr>
              <a:t>Objectif</a:t>
            </a:r>
            <a:endParaRPr lang="en-US" sz="750" dirty="0"/>
          </a:p>
        </p:txBody>
      </p:sp>
      <p:sp>
        <p:nvSpPr>
          <p:cNvPr id="21" name="Text 19"/>
          <p:cNvSpPr/>
          <p:nvPr/>
        </p:nvSpPr>
        <p:spPr>
          <a:xfrm>
            <a:off x="7168896" y="1161288"/>
            <a:ext cx="1737360" cy="502920"/>
          </a:xfrm>
          <a:prstGeom prst="rect">
            <a:avLst/>
          </a:prstGeom>
          <a:noFill/>
          <a:ln/>
        </p:spPr>
        <p:txBody>
          <a:bodyPr wrap="square" rtlCol="0" anchor="ctr"/>
          <a:lstStyle/>
          <a:p>
            <a:pPr marL="0" indent="0">
              <a:buNone/>
            </a:pPr>
            <a:r>
              <a:rPr lang="en-US" sz="1300" b="1" dirty="0">
                <a:solidFill>
                  <a:srgbClr val="FFFFFF"/>
                </a:solidFill>
              </a:rPr>
              <a:t>Unicité</a:t>
            </a:r>
            <a:endParaRPr lang="en-US" sz="1300" dirty="0"/>
          </a:p>
        </p:txBody>
      </p:sp>
      <p:sp>
        <p:nvSpPr>
          <p:cNvPr id="22" name="Text 20"/>
          <p:cNvSpPr/>
          <p:nvPr/>
        </p:nvSpPr>
        <p:spPr>
          <a:xfrm>
            <a:off x="6272784" y="1837944"/>
            <a:ext cx="2615184" cy="969264"/>
          </a:xfrm>
          <a:prstGeom prst="rect">
            <a:avLst/>
          </a:prstGeom>
          <a:noFill/>
          <a:ln/>
        </p:spPr>
        <p:txBody>
          <a:bodyPr wrap="square" rtlCol="0" anchor="ctr"/>
          <a:lstStyle/>
          <a:p>
            <a:pPr marL="0" indent="0">
              <a:buNone/>
            </a:pPr>
            <a:r>
              <a:rPr lang="en-US" sz="950" dirty="0">
                <a:solidFill>
                  <a:srgbClr val="455A64"/>
                </a:solidFill>
              </a:rPr>
              <a:t>Absence de doublons : un client = un seul ID Golden Record.</a:t>
            </a:r>
            <a:endParaRPr lang="en-US" sz="950" dirty="0"/>
          </a:p>
        </p:txBody>
      </p:sp>
      <p:sp>
        <p:nvSpPr>
          <p:cNvPr id="23" name="Shape 21"/>
          <p:cNvSpPr/>
          <p:nvPr/>
        </p:nvSpPr>
        <p:spPr>
          <a:xfrm>
            <a:off x="182880" y="3017520"/>
            <a:ext cx="2834640" cy="1828800"/>
          </a:xfrm>
          <a:prstGeom prst="rect">
            <a:avLst/>
          </a:prstGeom>
          <a:solidFill>
            <a:srgbClr val="FFFFFF"/>
          </a:solidFill>
          <a:ln w="12700">
            <a:solidFill>
              <a:srgbClr val="1976D2"/>
            </a:solidFill>
            <a:prstDash val="solid"/>
          </a:ln>
          <a:effectLst>
            <a:outerShdw blurRad="101600" dist="38100" dir="8100000" algn="bl" rotWithShape="0">
              <a:srgbClr val="000000">
                <a:alpha val="14000"/>
              </a:srgbClr>
            </a:outerShdw>
          </a:effectLst>
        </p:spPr>
      </p:sp>
      <p:sp>
        <p:nvSpPr>
          <p:cNvPr id="24" name="Shape 22"/>
          <p:cNvSpPr/>
          <p:nvPr/>
        </p:nvSpPr>
        <p:spPr>
          <a:xfrm>
            <a:off x="182880" y="3017520"/>
            <a:ext cx="2834640" cy="713232"/>
          </a:xfrm>
          <a:prstGeom prst="rect">
            <a:avLst/>
          </a:prstGeom>
          <a:solidFill>
            <a:srgbClr val="1976D2"/>
          </a:solidFill>
          <a:ln w="12700">
            <a:solidFill>
              <a:srgbClr val="1976D2"/>
            </a:solidFill>
            <a:prstDash val="solid"/>
          </a:ln>
        </p:spPr>
      </p:sp>
      <p:sp>
        <p:nvSpPr>
          <p:cNvPr id="25" name="Text 23"/>
          <p:cNvSpPr/>
          <p:nvPr/>
        </p:nvSpPr>
        <p:spPr>
          <a:xfrm>
            <a:off x="182880" y="3035808"/>
            <a:ext cx="960120" cy="676656"/>
          </a:xfrm>
          <a:prstGeom prst="rect">
            <a:avLst/>
          </a:prstGeom>
          <a:noFill/>
          <a:ln/>
        </p:spPr>
        <p:txBody>
          <a:bodyPr wrap="square" lIns="0" tIns="0" rIns="0" bIns="0" rtlCol="0" anchor="ctr"/>
          <a:lstStyle/>
          <a:p>
            <a:pPr marL="0" indent="0" algn="ctr">
              <a:buNone/>
            </a:pPr>
            <a:r>
              <a:rPr lang="en-US" sz="2600" b="1" dirty="0">
                <a:solidFill>
                  <a:srgbClr val="FFFFFF"/>
                </a:solidFill>
              </a:rPr>
              <a:t>80%</a:t>
            </a:r>
            <a:endParaRPr lang="en-US" sz="2600" dirty="0"/>
          </a:p>
        </p:txBody>
      </p:sp>
      <p:sp>
        <p:nvSpPr>
          <p:cNvPr id="26" name="Text 24"/>
          <p:cNvSpPr/>
          <p:nvPr/>
        </p:nvSpPr>
        <p:spPr>
          <a:xfrm>
            <a:off x="201168" y="3493008"/>
            <a:ext cx="914400" cy="201168"/>
          </a:xfrm>
          <a:prstGeom prst="rect">
            <a:avLst/>
          </a:prstGeom>
          <a:noFill/>
          <a:ln/>
        </p:spPr>
        <p:txBody>
          <a:bodyPr wrap="square" rtlCol="0" anchor="ctr"/>
          <a:lstStyle/>
          <a:p>
            <a:pPr marL="0" indent="0" algn="ctr">
              <a:buNone/>
            </a:pPr>
            <a:r>
              <a:rPr lang="en-US" sz="750" dirty="0">
                <a:solidFill>
                  <a:srgbClr val="FFFFFF"/>
                </a:solidFill>
              </a:rPr>
              <a:t>Objectif</a:t>
            </a:r>
            <a:endParaRPr lang="en-US" sz="750" dirty="0"/>
          </a:p>
        </p:txBody>
      </p:sp>
      <p:sp>
        <p:nvSpPr>
          <p:cNvPr id="27" name="Text 25"/>
          <p:cNvSpPr/>
          <p:nvPr/>
        </p:nvSpPr>
        <p:spPr>
          <a:xfrm>
            <a:off x="1188720" y="3127248"/>
            <a:ext cx="1737360" cy="502920"/>
          </a:xfrm>
          <a:prstGeom prst="rect">
            <a:avLst/>
          </a:prstGeom>
          <a:noFill/>
          <a:ln/>
        </p:spPr>
        <p:txBody>
          <a:bodyPr wrap="square" rtlCol="0" anchor="ctr"/>
          <a:lstStyle/>
          <a:p>
            <a:pPr marL="0" indent="0">
              <a:buNone/>
            </a:pPr>
            <a:r>
              <a:rPr lang="en-US" sz="1300" b="1" dirty="0">
                <a:solidFill>
                  <a:srgbClr val="FFFFFF"/>
                </a:solidFill>
              </a:rPr>
              <a:t>Cohérence</a:t>
            </a:r>
            <a:endParaRPr lang="en-US" sz="1300" dirty="0"/>
          </a:p>
        </p:txBody>
      </p:sp>
      <p:sp>
        <p:nvSpPr>
          <p:cNvPr id="28" name="Text 26"/>
          <p:cNvSpPr/>
          <p:nvPr/>
        </p:nvSpPr>
        <p:spPr>
          <a:xfrm>
            <a:off x="292608" y="3803904"/>
            <a:ext cx="2615184" cy="969264"/>
          </a:xfrm>
          <a:prstGeom prst="rect">
            <a:avLst/>
          </a:prstGeom>
          <a:noFill/>
          <a:ln/>
        </p:spPr>
        <p:txBody>
          <a:bodyPr wrap="square" rtlCol="0" anchor="ctr"/>
          <a:lstStyle/>
          <a:p>
            <a:pPr marL="0" indent="0">
              <a:buNone/>
            </a:pPr>
            <a:r>
              <a:rPr lang="en-US" sz="950" dirty="0">
                <a:solidFill>
                  <a:srgbClr val="455A64"/>
                </a:solidFill>
              </a:rPr>
              <a:t>Même valeur pour un attribut dans tous les systèmes.</a:t>
            </a:r>
            <a:endParaRPr lang="en-US" sz="950" dirty="0"/>
          </a:p>
        </p:txBody>
      </p:sp>
      <p:sp>
        <p:nvSpPr>
          <p:cNvPr id="29" name="Shape 27"/>
          <p:cNvSpPr/>
          <p:nvPr/>
        </p:nvSpPr>
        <p:spPr>
          <a:xfrm>
            <a:off x="3172968" y="3017520"/>
            <a:ext cx="2834640" cy="1828800"/>
          </a:xfrm>
          <a:prstGeom prst="rect">
            <a:avLst/>
          </a:prstGeom>
          <a:solidFill>
            <a:srgbClr val="FFFFFF"/>
          </a:solidFill>
          <a:ln w="12700">
            <a:solidFill>
              <a:srgbClr val="455A64"/>
            </a:solidFill>
            <a:prstDash val="solid"/>
          </a:ln>
          <a:effectLst>
            <a:outerShdw blurRad="101600" dist="38100" dir="8100000" algn="bl" rotWithShape="0">
              <a:srgbClr val="000000">
                <a:alpha val="14000"/>
              </a:srgbClr>
            </a:outerShdw>
          </a:effectLst>
        </p:spPr>
      </p:sp>
      <p:sp>
        <p:nvSpPr>
          <p:cNvPr id="30" name="Shape 28"/>
          <p:cNvSpPr/>
          <p:nvPr/>
        </p:nvSpPr>
        <p:spPr>
          <a:xfrm>
            <a:off x="3172968" y="3017520"/>
            <a:ext cx="2834640" cy="713232"/>
          </a:xfrm>
          <a:prstGeom prst="rect">
            <a:avLst/>
          </a:prstGeom>
          <a:solidFill>
            <a:srgbClr val="455A64"/>
          </a:solidFill>
          <a:ln w="12700">
            <a:solidFill>
              <a:srgbClr val="455A64"/>
            </a:solidFill>
            <a:prstDash val="solid"/>
          </a:ln>
        </p:spPr>
      </p:sp>
      <p:sp>
        <p:nvSpPr>
          <p:cNvPr id="31" name="Text 29"/>
          <p:cNvSpPr/>
          <p:nvPr/>
        </p:nvSpPr>
        <p:spPr>
          <a:xfrm>
            <a:off x="3172968" y="3035808"/>
            <a:ext cx="960120" cy="676656"/>
          </a:xfrm>
          <a:prstGeom prst="rect">
            <a:avLst/>
          </a:prstGeom>
          <a:noFill/>
          <a:ln/>
        </p:spPr>
        <p:txBody>
          <a:bodyPr wrap="square" lIns="0" tIns="0" rIns="0" bIns="0" rtlCol="0" anchor="ctr"/>
          <a:lstStyle/>
          <a:p>
            <a:pPr marL="0" indent="0" algn="ctr">
              <a:buNone/>
            </a:pPr>
            <a:r>
              <a:rPr lang="en-US" sz="2600" b="1" dirty="0">
                <a:solidFill>
                  <a:srgbClr val="FFFFFF"/>
                </a:solidFill>
              </a:rPr>
              <a:t>75%</a:t>
            </a:r>
            <a:endParaRPr lang="en-US" sz="2600" dirty="0"/>
          </a:p>
        </p:txBody>
      </p:sp>
      <p:sp>
        <p:nvSpPr>
          <p:cNvPr id="32" name="Text 30"/>
          <p:cNvSpPr/>
          <p:nvPr/>
        </p:nvSpPr>
        <p:spPr>
          <a:xfrm>
            <a:off x="3191256" y="3493008"/>
            <a:ext cx="914400" cy="201168"/>
          </a:xfrm>
          <a:prstGeom prst="rect">
            <a:avLst/>
          </a:prstGeom>
          <a:noFill/>
          <a:ln/>
        </p:spPr>
        <p:txBody>
          <a:bodyPr wrap="square" rtlCol="0" anchor="ctr"/>
          <a:lstStyle/>
          <a:p>
            <a:pPr marL="0" indent="0" algn="ctr">
              <a:buNone/>
            </a:pPr>
            <a:r>
              <a:rPr lang="en-US" sz="750" dirty="0">
                <a:solidFill>
                  <a:srgbClr val="FFFFFF"/>
                </a:solidFill>
              </a:rPr>
              <a:t>Objectif</a:t>
            </a:r>
            <a:endParaRPr lang="en-US" sz="750" dirty="0"/>
          </a:p>
        </p:txBody>
      </p:sp>
      <p:sp>
        <p:nvSpPr>
          <p:cNvPr id="33" name="Text 31"/>
          <p:cNvSpPr/>
          <p:nvPr/>
        </p:nvSpPr>
        <p:spPr>
          <a:xfrm>
            <a:off x="4178808" y="3127248"/>
            <a:ext cx="1737360" cy="502920"/>
          </a:xfrm>
          <a:prstGeom prst="rect">
            <a:avLst/>
          </a:prstGeom>
          <a:noFill/>
          <a:ln/>
        </p:spPr>
        <p:txBody>
          <a:bodyPr wrap="square" rtlCol="0" anchor="ctr"/>
          <a:lstStyle/>
          <a:p>
            <a:pPr marL="0" indent="0">
              <a:buNone/>
            </a:pPr>
            <a:r>
              <a:rPr lang="en-US" sz="1300" b="1" dirty="0">
                <a:solidFill>
                  <a:srgbClr val="FFFFFF"/>
                </a:solidFill>
              </a:rPr>
              <a:t>Fraîcheur</a:t>
            </a:r>
            <a:endParaRPr lang="en-US" sz="1300" dirty="0"/>
          </a:p>
        </p:txBody>
      </p:sp>
      <p:sp>
        <p:nvSpPr>
          <p:cNvPr id="34" name="Text 32"/>
          <p:cNvSpPr/>
          <p:nvPr/>
        </p:nvSpPr>
        <p:spPr>
          <a:xfrm>
            <a:off x="3282696" y="3803904"/>
            <a:ext cx="2615184" cy="969264"/>
          </a:xfrm>
          <a:prstGeom prst="rect">
            <a:avLst/>
          </a:prstGeom>
          <a:noFill/>
          <a:ln/>
        </p:spPr>
        <p:txBody>
          <a:bodyPr wrap="square" rtlCol="0" anchor="ctr"/>
          <a:lstStyle/>
          <a:p>
            <a:pPr marL="0" indent="0">
              <a:buNone/>
            </a:pPr>
            <a:r>
              <a:rPr lang="en-US" sz="950" dirty="0">
                <a:solidFill>
                  <a:srgbClr val="455A64"/>
                </a:solidFill>
              </a:rPr>
              <a:t>Données mises à jour dans les délais requis (J+1 maximum).</a:t>
            </a:r>
            <a:endParaRPr lang="en-US" sz="950" dirty="0"/>
          </a:p>
        </p:txBody>
      </p:sp>
      <p:sp>
        <p:nvSpPr>
          <p:cNvPr id="35" name="Shape 33"/>
          <p:cNvSpPr/>
          <p:nvPr/>
        </p:nvSpPr>
        <p:spPr>
          <a:xfrm>
            <a:off x="6163056" y="3017520"/>
            <a:ext cx="2834640" cy="1828800"/>
          </a:xfrm>
          <a:prstGeom prst="rect">
            <a:avLst/>
          </a:prstGeom>
          <a:solidFill>
            <a:srgbClr val="FFFFFF"/>
          </a:solidFill>
          <a:ln w="12700">
            <a:solidFill>
              <a:srgbClr val="C62828"/>
            </a:solidFill>
            <a:prstDash val="solid"/>
          </a:ln>
          <a:effectLst>
            <a:outerShdw blurRad="101600" dist="38100" dir="8100000" algn="bl" rotWithShape="0">
              <a:srgbClr val="000000">
                <a:alpha val="14000"/>
              </a:srgbClr>
            </a:outerShdw>
          </a:effectLst>
        </p:spPr>
      </p:sp>
      <p:sp>
        <p:nvSpPr>
          <p:cNvPr id="36" name="Shape 34"/>
          <p:cNvSpPr/>
          <p:nvPr/>
        </p:nvSpPr>
        <p:spPr>
          <a:xfrm>
            <a:off x="6163056" y="3017520"/>
            <a:ext cx="2834640" cy="713232"/>
          </a:xfrm>
          <a:prstGeom prst="rect">
            <a:avLst/>
          </a:prstGeom>
          <a:solidFill>
            <a:srgbClr val="C62828"/>
          </a:solidFill>
          <a:ln w="12700">
            <a:solidFill>
              <a:srgbClr val="C62828"/>
            </a:solidFill>
            <a:prstDash val="solid"/>
          </a:ln>
        </p:spPr>
      </p:sp>
      <p:sp>
        <p:nvSpPr>
          <p:cNvPr id="37" name="Text 35"/>
          <p:cNvSpPr/>
          <p:nvPr/>
        </p:nvSpPr>
        <p:spPr>
          <a:xfrm>
            <a:off x="6163056" y="3035808"/>
            <a:ext cx="960120" cy="676656"/>
          </a:xfrm>
          <a:prstGeom prst="rect">
            <a:avLst/>
          </a:prstGeom>
          <a:noFill/>
          <a:ln/>
        </p:spPr>
        <p:txBody>
          <a:bodyPr wrap="square" lIns="0" tIns="0" rIns="0" bIns="0" rtlCol="0" anchor="ctr"/>
          <a:lstStyle/>
          <a:p>
            <a:pPr marL="0" indent="0" algn="ctr">
              <a:buNone/>
            </a:pPr>
            <a:r>
              <a:rPr lang="en-US" sz="2600" b="1" dirty="0">
                <a:solidFill>
                  <a:srgbClr val="FFFFFF"/>
                </a:solidFill>
              </a:rPr>
              <a:t>100%</a:t>
            </a:r>
            <a:endParaRPr lang="en-US" sz="2600" dirty="0"/>
          </a:p>
        </p:txBody>
      </p:sp>
      <p:sp>
        <p:nvSpPr>
          <p:cNvPr id="38" name="Text 36"/>
          <p:cNvSpPr/>
          <p:nvPr/>
        </p:nvSpPr>
        <p:spPr>
          <a:xfrm>
            <a:off x="6181344" y="3493008"/>
            <a:ext cx="914400" cy="201168"/>
          </a:xfrm>
          <a:prstGeom prst="rect">
            <a:avLst/>
          </a:prstGeom>
          <a:noFill/>
          <a:ln/>
        </p:spPr>
        <p:txBody>
          <a:bodyPr wrap="square" rtlCol="0" anchor="ctr"/>
          <a:lstStyle/>
          <a:p>
            <a:pPr marL="0" indent="0" algn="ctr">
              <a:buNone/>
            </a:pPr>
            <a:r>
              <a:rPr lang="en-US" sz="750" dirty="0">
                <a:solidFill>
                  <a:srgbClr val="FFFFFF"/>
                </a:solidFill>
              </a:rPr>
              <a:t>Objectif</a:t>
            </a:r>
            <a:endParaRPr lang="en-US" sz="750" dirty="0"/>
          </a:p>
        </p:txBody>
      </p:sp>
      <p:sp>
        <p:nvSpPr>
          <p:cNvPr id="39" name="Text 37"/>
          <p:cNvSpPr/>
          <p:nvPr/>
        </p:nvSpPr>
        <p:spPr>
          <a:xfrm>
            <a:off x="7168896" y="3127248"/>
            <a:ext cx="1737360" cy="502920"/>
          </a:xfrm>
          <a:prstGeom prst="rect">
            <a:avLst/>
          </a:prstGeom>
          <a:noFill/>
          <a:ln/>
        </p:spPr>
        <p:txBody>
          <a:bodyPr wrap="square" rtlCol="0" anchor="ctr"/>
          <a:lstStyle/>
          <a:p>
            <a:pPr marL="0" indent="0">
              <a:buNone/>
            </a:pPr>
            <a:r>
              <a:rPr lang="en-US" sz="1300" b="1" dirty="0">
                <a:solidFill>
                  <a:srgbClr val="FFFFFF"/>
                </a:solidFill>
              </a:rPr>
              <a:t>Conformité</a:t>
            </a:r>
            <a:endParaRPr lang="en-US" sz="1300" dirty="0"/>
          </a:p>
        </p:txBody>
      </p:sp>
      <p:sp>
        <p:nvSpPr>
          <p:cNvPr id="40" name="Text 38"/>
          <p:cNvSpPr/>
          <p:nvPr/>
        </p:nvSpPr>
        <p:spPr>
          <a:xfrm>
            <a:off x="6272784" y="3803904"/>
            <a:ext cx="2615184" cy="969264"/>
          </a:xfrm>
          <a:prstGeom prst="rect">
            <a:avLst/>
          </a:prstGeom>
          <a:noFill/>
          <a:ln/>
        </p:spPr>
        <p:txBody>
          <a:bodyPr wrap="square" rtlCol="0" anchor="ctr"/>
          <a:lstStyle/>
          <a:p>
            <a:pPr marL="0" indent="0">
              <a:buNone/>
            </a:pPr>
            <a:r>
              <a:rPr lang="en-US" sz="950" dirty="0">
                <a:solidFill>
                  <a:srgbClr val="455A64"/>
                </a:solidFill>
              </a:rPr>
              <a:t>Respect des normes réglementaires (KYC, BCRG, FATCA).</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9A825"/>
          </a:solidFill>
          <a:ln w="12700">
            <a:solidFill>
              <a:srgbClr val="F9A825"/>
            </a:solidFill>
            <a:prstDash val="solid"/>
          </a:ln>
        </p:spPr>
      </p:sp>
      <p:sp>
        <p:nvSpPr>
          <p:cNvPr id="3" name="Shape 1"/>
          <p:cNvSpPr/>
          <p:nvPr/>
        </p:nvSpPr>
        <p:spPr>
          <a:xfrm>
            <a:off x="0" y="64008"/>
            <a:ext cx="54864" cy="5079492"/>
          </a:xfrm>
          <a:prstGeom prst="rect">
            <a:avLst/>
          </a:prstGeom>
          <a:solidFill>
            <a:srgbClr val="F9A825"/>
          </a:solidFill>
          <a:ln w="12700">
            <a:solidFill>
              <a:srgbClr val="F9A825"/>
            </a:solidFill>
            <a:prstDash val="solid"/>
          </a:ln>
        </p:spPr>
      </p:sp>
      <p:sp>
        <p:nvSpPr>
          <p:cNvPr id="4" name="Shape 2"/>
          <p:cNvSpPr/>
          <p:nvPr/>
        </p:nvSpPr>
        <p:spPr>
          <a:xfrm>
            <a:off x="6217920" y="731520"/>
            <a:ext cx="2377440" cy="2377440"/>
          </a:xfrm>
          <a:prstGeom prst="ellipse">
            <a:avLst/>
          </a:prstGeom>
          <a:solidFill>
            <a:srgbClr val="1976D2">
              <a:alpha val="35000"/>
            </a:srgbClr>
          </a:solidFill>
          <a:ln w="12700">
            <a:solidFill>
              <a:srgbClr val="1976D2">
                <a:alpha val="35000"/>
              </a:srgbClr>
            </a:solidFill>
            <a:prstDash val="solid"/>
          </a:ln>
        </p:spPr>
      </p:sp>
      <p:pic>
        <p:nvPicPr>
          <p:cNvPr id="5" name="Image 0" descr="preencoded.png"/>
          <p:cNvPicPr>
            <a:picLocks noChangeAspect="1"/>
          </p:cNvPicPr>
          <p:nvPr/>
        </p:nvPicPr>
        <p:blipFill>
          <a:blip r:embed="rId3"/>
          <a:stretch>
            <a:fillRect/>
          </a:stretch>
        </p:blipFill>
        <p:spPr>
          <a:xfrm>
            <a:off x="6720840" y="1097280"/>
            <a:ext cx="1371600" cy="1371600"/>
          </a:xfrm>
          <a:prstGeom prst="rect">
            <a:avLst/>
          </a:prstGeom>
        </p:spPr>
      </p:pic>
      <p:sp>
        <p:nvSpPr>
          <p:cNvPr id="6" name="Text 3"/>
          <p:cNvSpPr/>
          <p:nvPr/>
        </p:nvSpPr>
        <p:spPr>
          <a:xfrm>
            <a:off x="320040" y="1463040"/>
            <a:ext cx="566928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Architecture</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de la Solution</a:t>
            </a:r>
            <a:endParaRPr lang="en-US" sz="3600" dirty="0"/>
          </a:p>
        </p:txBody>
      </p:sp>
      <p:sp>
        <p:nvSpPr>
          <p:cNvPr id="7" name="Text 4"/>
          <p:cNvSpPr/>
          <p:nvPr/>
        </p:nvSpPr>
        <p:spPr>
          <a:xfrm>
            <a:off x="320040" y="2514600"/>
            <a:ext cx="5486400" cy="731520"/>
          </a:xfrm>
          <a:prstGeom prst="rect">
            <a:avLst/>
          </a:prstGeom>
          <a:noFill/>
          <a:ln/>
        </p:spPr>
        <p:txBody>
          <a:bodyPr wrap="square" rtlCol="0" anchor="ctr"/>
          <a:lstStyle/>
          <a:p>
            <a:pPr marL="0" indent="0">
              <a:buNone/>
            </a:pPr>
            <a:r>
              <a:rPr lang="en-US" sz="1400" i="1" dirty="0">
                <a:solidFill>
                  <a:srgbClr val="42A5F5"/>
                </a:solidFill>
                <a:latin typeface="Calibri" pitchFamily="34" charset="0"/>
                <a:ea typeface="Calibri" pitchFamily="34" charset="-122"/>
                <a:cs typeface="Calibri" pitchFamily="34" charset="-120"/>
              </a:rPr>
              <a:t>Intégration des systèmes · Référentiel centralisé · Flux de données</a:t>
            </a:r>
            <a:endParaRPr lang="en-US" sz="1400" dirty="0"/>
          </a:p>
        </p:txBody>
      </p:sp>
      <p:sp>
        <p:nvSpPr>
          <p:cNvPr id="8" name="Shape 5"/>
          <p:cNvSpPr/>
          <p:nvPr/>
        </p:nvSpPr>
        <p:spPr>
          <a:xfrm>
            <a:off x="320040" y="4114800"/>
            <a:ext cx="1097280" cy="347472"/>
          </a:xfrm>
          <a:prstGeom prst="roundRect">
            <a:avLst>
              <a:gd name="adj" fmla="val 13158"/>
            </a:avLst>
          </a:prstGeom>
          <a:solidFill>
            <a:srgbClr val="F9A825"/>
          </a:solidFill>
          <a:ln w="12700">
            <a:solidFill>
              <a:srgbClr val="F9A825"/>
            </a:solidFill>
            <a:prstDash val="solid"/>
          </a:ln>
        </p:spPr>
      </p:sp>
      <p:sp>
        <p:nvSpPr>
          <p:cNvPr id="9" name="Text 6"/>
          <p:cNvSpPr/>
          <p:nvPr/>
        </p:nvSpPr>
        <p:spPr>
          <a:xfrm>
            <a:off x="320040" y="4114800"/>
            <a:ext cx="1097280" cy="347472"/>
          </a:xfrm>
          <a:prstGeom prst="rect">
            <a:avLst/>
          </a:prstGeom>
          <a:noFill/>
          <a:ln/>
        </p:spPr>
        <p:txBody>
          <a:bodyPr wrap="square" lIns="0" tIns="0" rIns="0" bIns="0" rtlCol="0" anchor="ctr"/>
          <a:lstStyle/>
          <a:p>
            <a:pPr marL="0" indent="0" algn="ctr">
              <a:buNone/>
            </a:pPr>
            <a:r>
              <a:rPr lang="en-US" sz="950" b="1" dirty="0">
                <a:solidFill>
                  <a:srgbClr val="0B1D3A"/>
                </a:solidFill>
              </a:rPr>
              <a:t>ÉTAPE 03</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Shape 1"/>
          <p:cNvSpPr/>
          <p:nvPr/>
        </p:nvSpPr>
        <p:spPr>
          <a:xfrm>
            <a:off x="0" y="0"/>
            <a:ext cx="54864" cy="5143500"/>
          </a:xfrm>
          <a:prstGeom prst="rect">
            <a:avLst/>
          </a:prstGeom>
          <a:solidFill>
            <a:srgbClr val="F9A825"/>
          </a:solidFill>
          <a:ln w="12700">
            <a:solidFill>
              <a:srgbClr val="F9A825"/>
            </a:solidFill>
            <a:prstDash val="solid"/>
          </a:ln>
        </p:spPr>
      </p:sp>
      <p:sp>
        <p:nvSpPr>
          <p:cNvPr id="4" name="Text 2"/>
          <p:cNvSpPr/>
          <p:nvPr/>
        </p:nvSpPr>
        <p:spPr>
          <a:xfrm>
            <a:off x="228600" y="137160"/>
            <a:ext cx="8686800" cy="6858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04 – Architecture Cible : Référentiel Client Unique</a:t>
            </a:r>
            <a:endParaRPr lang="en-US" sz="2200" dirty="0"/>
          </a:p>
        </p:txBody>
      </p:sp>
      <p:sp>
        <p:nvSpPr>
          <p:cNvPr id="5" name="Shape 3"/>
          <p:cNvSpPr/>
          <p:nvPr/>
        </p:nvSpPr>
        <p:spPr>
          <a:xfrm>
            <a:off x="137160" y="1051560"/>
            <a:ext cx="8869680" cy="320040"/>
          </a:xfrm>
          <a:prstGeom prst="rect">
            <a:avLst/>
          </a:prstGeom>
          <a:solidFill>
            <a:srgbClr val="455A64"/>
          </a:solidFill>
          <a:ln w="12700">
            <a:solidFill>
              <a:srgbClr val="455A64"/>
            </a:solidFill>
            <a:prstDash val="solid"/>
          </a:ln>
        </p:spPr>
      </p:sp>
      <p:sp>
        <p:nvSpPr>
          <p:cNvPr id="6" name="Text 4"/>
          <p:cNvSpPr/>
          <p:nvPr/>
        </p:nvSpPr>
        <p:spPr>
          <a:xfrm>
            <a:off x="137160" y="1051560"/>
            <a:ext cx="8869680" cy="320040"/>
          </a:xfrm>
          <a:prstGeom prst="rect">
            <a:avLst/>
          </a:prstGeom>
          <a:noFill/>
          <a:ln/>
        </p:spPr>
        <p:txBody>
          <a:bodyPr wrap="square" lIns="0" tIns="0" rIns="0" bIns="0" rtlCol="0" anchor="ctr"/>
          <a:lstStyle/>
          <a:p>
            <a:pPr marL="0" indent="0" algn="ctr">
              <a:buNone/>
            </a:pPr>
            <a:r>
              <a:rPr lang="en-US" sz="900" b="1" dirty="0">
                <a:solidFill>
                  <a:srgbClr val="FFFFFF"/>
                </a:solidFill>
              </a:rPr>
              <a:t>COUCHE SOURCES DE DONNÉES</a:t>
            </a:r>
            <a:endParaRPr lang="en-US" sz="900" dirty="0"/>
          </a:p>
        </p:txBody>
      </p:sp>
      <p:sp>
        <p:nvSpPr>
          <p:cNvPr id="7" name="Shape 5"/>
          <p:cNvSpPr/>
          <p:nvPr/>
        </p:nvSpPr>
        <p:spPr>
          <a:xfrm>
            <a:off x="164592" y="1389888"/>
            <a:ext cx="1417320" cy="548640"/>
          </a:xfrm>
          <a:prstGeom prst="rect">
            <a:avLst/>
          </a:prstGeom>
          <a:solidFill>
            <a:srgbClr val="0B1D3A"/>
          </a:solidFill>
          <a:ln w="12700">
            <a:solidFill>
              <a:srgbClr val="1565C0"/>
            </a:solidFill>
            <a:prstDash val="solid"/>
          </a:ln>
        </p:spPr>
      </p:sp>
      <p:sp>
        <p:nvSpPr>
          <p:cNvPr id="8" name="Text 6"/>
          <p:cNvSpPr/>
          <p:nvPr/>
        </p:nvSpPr>
        <p:spPr>
          <a:xfrm>
            <a:off x="164592" y="1389888"/>
            <a:ext cx="1417320" cy="548640"/>
          </a:xfrm>
          <a:prstGeom prst="rect">
            <a:avLst/>
          </a:prstGeom>
          <a:noFill/>
          <a:ln/>
        </p:spPr>
        <p:txBody>
          <a:bodyPr wrap="square" rtlCol="0" anchor="ctr"/>
          <a:lstStyle/>
          <a:p>
            <a:pPr marL="0" indent="0" algn="ctr">
              <a:buNone/>
            </a:pPr>
            <a:r>
              <a:rPr lang="en-US" sz="900" dirty="0">
                <a:solidFill>
                  <a:srgbClr val="FFFFFF"/>
                </a:solidFill>
              </a:rPr>
              <a:t>CBS</a:t>
            </a:r>
            <a:endParaRPr lang="en-US" sz="900" dirty="0"/>
          </a:p>
        </p:txBody>
      </p:sp>
      <p:sp>
        <p:nvSpPr>
          <p:cNvPr id="9" name="Shape 7"/>
          <p:cNvSpPr/>
          <p:nvPr/>
        </p:nvSpPr>
        <p:spPr>
          <a:xfrm>
            <a:off x="1636776" y="1389888"/>
            <a:ext cx="1417320" cy="548640"/>
          </a:xfrm>
          <a:prstGeom prst="rect">
            <a:avLst/>
          </a:prstGeom>
          <a:solidFill>
            <a:srgbClr val="0B1D3A"/>
          </a:solidFill>
          <a:ln w="12700">
            <a:solidFill>
              <a:srgbClr val="1565C0"/>
            </a:solidFill>
            <a:prstDash val="solid"/>
          </a:ln>
        </p:spPr>
      </p:sp>
      <p:sp>
        <p:nvSpPr>
          <p:cNvPr id="10" name="Text 8"/>
          <p:cNvSpPr/>
          <p:nvPr/>
        </p:nvSpPr>
        <p:spPr>
          <a:xfrm>
            <a:off x="1636776" y="1389888"/>
            <a:ext cx="1417320" cy="548640"/>
          </a:xfrm>
          <a:prstGeom prst="rect">
            <a:avLst/>
          </a:prstGeom>
          <a:noFill/>
          <a:ln/>
        </p:spPr>
        <p:txBody>
          <a:bodyPr wrap="square" rtlCol="0" anchor="ctr"/>
          <a:lstStyle/>
          <a:p>
            <a:pPr marL="0" indent="0" algn="ctr">
              <a:buNone/>
            </a:pPr>
            <a:r>
              <a:rPr lang="en-US" sz="900" dirty="0">
                <a:solidFill>
                  <a:srgbClr val="FFFFFF"/>
                </a:solidFill>
              </a:rPr>
              <a:t>Crédits</a:t>
            </a:r>
            <a:endParaRPr lang="en-US" sz="900" dirty="0"/>
          </a:p>
        </p:txBody>
      </p:sp>
      <p:sp>
        <p:nvSpPr>
          <p:cNvPr id="11" name="Shape 9"/>
          <p:cNvSpPr/>
          <p:nvPr/>
        </p:nvSpPr>
        <p:spPr>
          <a:xfrm>
            <a:off x="3108960" y="1389888"/>
            <a:ext cx="1417320" cy="548640"/>
          </a:xfrm>
          <a:prstGeom prst="rect">
            <a:avLst/>
          </a:prstGeom>
          <a:solidFill>
            <a:srgbClr val="0B1D3A"/>
          </a:solidFill>
          <a:ln w="12700">
            <a:solidFill>
              <a:srgbClr val="1565C0"/>
            </a:solidFill>
            <a:prstDash val="solid"/>
          </a:ln>
        </p:spPr>
      </p:sp>
      <p:sp>
        <p:nvSpPr>
          <p:cNvPr id="12" name="Text 10"/>
          <p:cNvSpPr/>
          <p:nvPr/>
        </p:nvSpPr>
        <p:spPr>
          <a:xfrm>
            <a:off x="3108960" y="1389888"/>
            <a:ext cx="1417320" cy="548640"/>
          </a:xfrm>
          <a:prstGeom prst="rect">
            <a:avLst/>
          </a:prstGeom>
          <a:noFill/>
          <a:ln/>
        </p:spPr>
        <p:txBody>
          <a:bodyPr wrap="square" rtlCol="0" anchor="ctr"/>
          <a:lstStyle/>
          <a:p>
            <a:pPr marL="0" indent="0" algn="ctr">
              <a:buNone/>
            </a:pPr>
            <a:r>
              <a:rPr lang="en-US" sz="900" dirty="0">
                <a:solidFill>
                  <a:srgbClr val="FFFFFF"/>
                </a:solidFill>
              </a:rPr>
              <a:t>Comptabilité</a:t>
            </a:r>
            <a:endParaRPr lang="en-US" sz="900" dirty="0"/>
          </a:p>
        </p:txBody>
      </p:sp>
      <p:sp>
        <p:nvSpPr>
          <p:cNvPr id="13" name="Shape 11"/>
          <p:cNvSpPr/>
          <p:nvPr/>
        </p:nvSpPr>
        <p:spPr>
          <a:xfrm>
            <a:off x="4581144" y="1389888"/>
            <a:ext cx="1417320" cy="548640"/>
          </a:xfrm>
          <a:prstGeom prst="rect">
            <a:avLst/>
          </a:prstGeom>
          <a:solidFill>
            <a:srgbClr val="0B1D3A"/>
          </a:solidFill>
          <a:ln w="12700">
            <a:solidFill>
              <a:srgbClr val="1565C0"/>
            </a:solidFill>
            <a:prstDash val="solid"/>
          </a:ln>
        </p:spPr>
      </p:sp>
      <p:sp>
        <p:nvSpPr>
          <p:cNvPr id="14" name="Text 12"/>
          <p:cNvSpPr/>
          <p:nvPr/>
        </p:nvSpPr>
        <p:spPr>
          <a:xfrm>
            <a:off x="4581144" y="1389888"/>
            <a:ext cx="1417320" cy="548640"/>
          </a:xfrm>
          <a:prstGeom prst="rect">
            <a:avLst/>
          </a:prstGeom>
          <a:noFill/>
          <a:ln/>
        </p:spPr>
        <p:txBody>
          <a:bodyPr wrap="square" rtlCol="0" anchor="ctr"/>
          <a:lstStyle/>
          <a:p>
            <a:pPr marL="0" indent="0" algn="ctr">
              <a:buNone/>
            </a:pPr>
            <a:r>
              <a:rPr lang="en-US" sz="900" dirty="0">
                <a:solidFill>
                  <a:srgbClr val="FFFFFF"/>
                </a:solidFill>
              </a:rPr>
              <a:t>Mobile Banking</a:t>
            </a:r>
            <a:endParaRPr lang="en-US" sz="900" dirty="0"/>
          </a:p>
        </p:txBody>
      </p:sp>
      <p:sp>
        <p:nvSpPr>
          <p:cNvPr id="15" name="Shape 13"/>
          <p:cNvSpPr/>
          <p:nvPr/>
        </p:nvSpPr>
        <p:spPr>
          <a:xfrm>
            <a:off x="6053328" y="1389888"/>
            <a:ext cx="1417320" cy="548640"/>
          </a:xfrm>
          <a:prstGeom prst="rect">
            <a:avLst/>
          </a:prstGeom>
          <a:solidFill>
            <a:srgbClr val="0B1D3A"/>
          </a:solidFill>
          <a:ln w="12700">
            <a:solidFill>
              <a:srgbClr val="1565C0"/>
            </a:solidFill>
            <a:prstDash val="solid"/>
          </a:ln>
        </p:spPr>
      </p:sp>
      <p:sp>
        <p:nvSpPr>
          <p:cNvPr id="16" name="Text 14"/>
          <p:cNvSpPr/>
          <p:nvPr/>
        </p:nvSpPr>
        <p:spPr>
          <a:xfrm>
            <a:off x="6053328" y="1389888"/>
            <a:ext cx="1417320" cy="548640"/>
          </a:xfrm>
          <a:prstGeom prst="rect">
            <a:avLst/>
          </a:prstGeom>
          <a:noFill/>
          <a:ln/>
        </p:spPr>
        <p:txBody>
          <a:bodyPr wrap="square" rtlCol="0" anchor="ctr"/>
          <a:lstStyle/>
          <a:p>
            <a:pPr marL="0" indent="0" algn="ctr">
              <a:buNone/>
            </a:pPr>
            <a:r>
              <a:rPr lang="en-US" sz="900" dirty="0">
                <a:solidFill>
                  <a:srgbClr val="FFFFFF"/>
                </a:solidFill>
              </a:rPr>
              <a:t>BI / Reporting</a:t>
            </a:r>
            <a:endParaRPr lang="en-US" sz="900" dirty="0"/>
          </a:p>
        </p:txBody>
      </p:sp>
      <p:sp>
        <p:nvSpPr>
          <p:cNvPr id="17" name="Shape 15"/>
          <p:cNvSpPr/>
          <p:nvPr/>
        </p:nvSpPr>
        <p:spPr>
          <a:xfrm>
            <a:off x="7525512" y="1389888"/>
            <a:ext cx="1417320" cy="548640"/>
          </a:xfrm>
          <a:prstGeom prst="rect">
            <a:avLst/>
          </a:prstGeom>
          <a:solidFill>
            <a:srgbClr val="0B1D3A"/>
          </a:solidFill>
          <a:ln w="12700">
            <a:solidFill>
              <a:srgbClr val="1565C0"/>
            </a:solidFill>
            <a:prstDash val="solid"/>
          </a:ln>
        </p:spPr>
      </p:sp>
      <p:sp>
        <p:nvSpPr>
          <p:cNvPr id="18" name="Text 16"/>
          <p:cNvSpPr/>
          <p:nvPr/>
        </p:nvSpPr>
        <p:spPr>
          <a:xfrm>
            <a:off x="7525512" y="1389888"/>
            <a:ext cx="1417320" cy="548640"/>
          </a:xfrm>
          <a:prstGeom prst="rect">
            <a:avLst/>
          </a:prstGeom>
          <a:noFill/>
          <a:ln/>
        </p:spPr>
        <p:txBody>
          <a:bodyPr wrap="square" rtlCol="0" anchor="ctr"/>
          <a:lstStyle/>
          <a:p>
            <a:pPr marL="0" indent="0" algn="ctr">
              <a:buNone/>
            </a:pPr>
            <a:r>
              <a:rPr lang="en-US" sz="900" dirty="0">
                <a:solidFill>
                  <a:srgbClr val="FFFFFF"/>
                </a:solidFill>
              </a:rPr>
              <a:t>Agences / Excel</a:t>
            </a:r>
            <a:endParaRPr lang="en-US" sz="900" dirty="0"/>
          </a:p>
        </p:txBody>
      </p:sp>
      <p:sp>
        <p:nvSpPr>
          <p:cNvPr id="19" name="Shape 17"/>
          <p:cNvSpPr/>
          <p:nvPr/>
        </p:nvSpPr>
        <p:spPr>
          <a:xfrm>
            <a:off x="4297680" y="1965960"/>
            <a:ext cx="548640" cy="256032"/>
          </a:xfrm>
          <a:prstGeom prst="rect">
            <a:avLst/>
          </a:prstGeom>
          <a:solidFill>
            <a:srgbClr val="F9A825"/>
          </a:solidFill>
          <a:ln w="12700">
            <a:solidFill>
              <a:srgbClr val="F9A825"/>
            </a:solidFill>
            <a:prstDash val="solid"/>
          </a:ln>
        </p:spPr>
      </p:sp>
      <p:sp>
        <p:nvSpPr>
          <p:cNvPr id="20" name="Text 18"/>
          <p:cNvSpPr/>
          <p:nvPr/>
        </p:nvSpPr>
        <p:spPr>
          <a:xfrm>
            <a:off x="4297680" y="1965960"/>
            <a:ext cx="548640" cy="256032"/>
          </a:xfrm>
          <a:prstGeom prst="rect">
            <a:avLst/>
          </a:prstGeom>
          <a:noFill/>
          <a:ln/>
        </p:spPr>
        <p:txBody>
          <a:bodyPr wrap="square" lIns="0" tIns="0" rIns="0" bIns="0" rtlCol="0" anchor="ctr"/>
          <a:lstStyle/>
          <a:p>
            <a:pPr marL="0" indent="0" algn="ctr">
              <a:buNone/>
            </a:pPr>
            <a:r>
              <a:rPr lang="en-US" sz="1400" dirty="0">
                <a:solidFill>
                  <a:srgbClr val="0B1D3A"/>
                </a:solidFill>
              </a:rPr>
              <a:t>▼</a:t>
            </a:r>
            <a:endParaRPr lang="en-US" sz="1400" dirty="0"/>
          </a:p>
        </p:txBody>
      </p:sp>
      <p:sp>
        <p:nvSpPr>
          <p:cNvPr id="21" name="Shape 19"/>
          <p:cNvSpPr/>
          <p:nvPr/>
        </p:nvSpPr>
        <p:spPr>
          <a:xfrm>
            <a:off x="137160" y="2240280"/>
            <a:ext cx="8869680" cy="320040"/>
          </a:xfrm>
          <a:prstGeom prst="rect">
            <a:avLst/>
          </a:prstGeom>
          <a:solidFill>
            <a:srgbClr val="1565C0"/>
          </a:solidFill>
          <a:ln w="12700">
            <a:solidFill>
              <a:srgbClr val="1565C0"/>
            </a:solidFill>
            <a:prstDash val="solid"/>
          </a:ln>
        </p:spPr>
      </p:sp>
      <p:sp>
        <p:nvSpPr>
          <p:cNvPr id="22" name="Text 20"/>
          <p:cNvSpPr/>
          <p:nvPr/>
        </p:nvSpPr>
        <p:spPr>
          <a:xfrm>
            <a:off x="137160" y="2240280"/>
            <a:ext cx="8869680" cy="320040"/>
          </a:xfrm>
          <a:prstGeom prst="rect">
            <a:avLst/>
          </a:prstGeom>
          <a:noFill/>
          <a:ln/>
        </p:spPr>
        <p:txBody>
          <a:bodyPr wrap="square" lIns="0" tIns="0" rIns="0" bIns="0" rtlCol="0" anchor="ctr"/>
          <a:lstStyle/>
          <a:p>
            <a:pPr marL="0" indent="0" algn="ctr">
              <a:buNone/>
            </a:pPr>
            <a:r>
              <a:rPr lang="en-US" sz="900" b="1" dirty="0">
                <a:solidFill>
                  <a:srgbClr val="FFFFFF"/>
                </a:solidFill>
              </a:rPr>
              <a:t>COUCHE INTÉGRATION  —  ESB / API Gateway / ETL</a:t>
            </a:r>
            <a:endParaRPr lang="en-US" sz="900" dirty="0"/>
          </a:p>
        </p:txBody>
      </p:sp>
      <p:sp>
        <p:nvSpPr>
          <p:cNvPr id="23" name="Shape 21"/>
          <p:cNvSpPr/>
          <p:nvPr/>
        </p:nvSpPr>
        <p:spPr>
          <a:xfrm>
            <a:off x="137160" y="2578608"/>
            <a:ext cx="8869680" cy="438912"/>
          </a:xfrm>
          <a:prstGeom prst="rect">
            <a:avLst/>
          </a:prstGeom>
          <a:solidFill>
            <a:srgbClr val="EBF5FB"/>
          </a:solidFill>
          <a:ln w="12700">
            <a:solidFill>
              <a:srgbClr val="42A5F5"/>
            </a:solidFill>
            <a:prstDash val="solid"/>
          </a:ln>
        </p:spPr>
      </p:sp>
      <p:sp>
        <p:nvSpPr>
          <p:cNvPr id="24" name="Text 22"/>
          <p:cNvSpPr/>
          <p:nvPr/>
        </p:nvSpPr>
        <p:spPr>
          <a:xfrm>
            <a:off x="137160" y="2578608"/>
            <a:ext cx="8869680" cy="438912"/>
          </a:xfrm>
          <a:prstGeom prst="rect">
            <a:avLst/>
          </a:prstGeom>
          <a:noFill/>
          <a:ln/>
        </p:spPr>
        <p:txBody>
          <a:bodyPr wrap="square" rtlCol="0" anchor="ctr"/>
          <a:lstStyle/>
          <a:p>
            <a:pPr marL="0" indent="0" algn="ctr">
              <a:buNone/>
            </a:pPr>
            <a:r>
              <a:rPr lang="en-US" sz="1000" dirty="0">
                <a:solidFill>
                  <a:srgbClr val="1565C0"/>
                </a:solidFill>
              </a:rPr>
              <a:t>Collecte  ·  Déduplification  ·  Normalisation  ·  Validation  ·  Transformation</a:t>
            </a:r>
            <a:endParaRPr lang="en-US" sz="1000" dirty="0"/>
          </a:p>
        </p:txBody>
      </p:sp>
      <p:sp>
        <p:nvSpPr>
          <p:cNvPr id="25" name="Shape 23"/>
          <p:cNvSpPr/>
          <p:nvPr/>
        </p:nvSpPr>
        <p:spPr>
          <a:xfrm>
            <a:off x="4297680" y="3035808"/>
            <a:ext cx="548640" cy="256032"/>
          </a:xfrm>
          <a:prstGeom prst="rect">
            <a:avLst/>
          </a:prstGeom>
          <a:solidFill>
            <a:srgbClr val="F9A825"/>
          </a:solidFill>
          <a:ln w="12700">
            <a:solidFill>
              <a:srgbClr val="F9A825"/>
            </a:solidFill>
            <a:prstDash val="solid"/>
          </a:ln>
        </p:spPr>
      </p:sp>
      <p:sp>
        <p:nvSpPr>
          <p:cNvPr id="26" name="Text 24"/>
          <p:cNvSpPr/>
          <p:nvPr/>
        </p:nvSpPr>
        <p:spPr>
          <a:xfrm>
            <a:off x="4297680" y="3035808"/>
            <a:ext cx="548640" cy="256032"/>
          </a:xfrm>
          <a:prstGeom prst="rect">
            <a:avLst/>
          </a:prstGeom>
          <a:noFill/>
          <a:ln/>
        </p:spPr>
        <p:txBody>
          <a:bodyPr wrap="square" lIns="0" tIns="0" rIns="0" bIns="0" rtlCol="0" anchor="ctr"/>
          <a:lstStyle/>
          <a:p>
            <a:pPr marL="0" indent="0" algn="ctr">
              <a:buNone/>
            </a:pPr>
            <a:r>
              <a:rPr lang="en-US" sz="1400" dirty="0">
                <a:solidFill>
                  <a:srgbClr val="0B1D3A"/>
                </a:solidFill>
              </a:rPr>
              <a:t>▼</a:t>
            </a:r>
            <a:endParaRPr lang="en-US" sz="1400" dirty="0"/>
          </a:p>
        </p:txBody>
      </p:sp>
      <p:sp>
        <p:nvSpPr>
          <p:cNvPr id="27" name="Shape 25"/>
          <p:cNvSpPr/>
          <p:nvPr/>
        </p:nvSpPr>
        <p:spPr>
          <a:xfrm>
            <a:off x="1828800" y="3310128"/>
            <a:ext cx="5486400" cy="777240"/>
          </a:xfrm>
          <a:prstGeom prst="rect">
            <a:avLst/>
          </a:prstGeom>
          <a:solidFill>
            <a:srgbClr val="F9A825"/>
          </a:solidFill>
          <a:ln w="12700">
            <a:solidFill>
              <a:srgbClr val="F9A825"/>
            </a:solidFill>
            <a:prstDash val="solid"/>
          </a:ln>
          <a:effectLst>
            <a:outerShdw blurRad="101600" dist="38100" dir="8100000" algn="bl" rotWithShape="0">
              <a:srgbClr val="000000">
                <a:alpha val="14000"/>
              </a:srgbClr>
            </a:outerShdw>
          </a:effectLst>
        </p:spPr>
      </p:sp>
      <p:pic>
        <p:nvPicPr>
          <p:cNvPr id="28" name="Image 0" descr="preencoded.png"/>
          <p:cNvPicPr>
            <a:picLocks noChangeAspect="1"/>
          </p:cNvPicPr>
          <p:nvPr/>
        </p:nvPicPr>
        <p:blipFill>
          <a:blip r:embed="rId3"/>
          <a:stretch>
            <a:fillRect/>
          </a:stretch>
        </p:blipFill>
        <p:spPr>
          <a:xfrm>
            <a:off x="1993392" y="3364992"/>
            <a:ext cx="502920" cy="502920"/>
          </a:xfrm>
          <a:prstGeom prst="rect">
            <a:avLst/>
          </a:prstGeom>
        </p:spPr>
      </p:pic>
      <p:sp>
        <p:nvSpPr>
          <p:cNvPr id="29" name="Text 26"/>
          <p:cNvSpPr/>
          <p:nvPr/>
        </p:nvSpPr>
        <p:spPr>
          <a:xfrm>
            <a:off x="2542032" y="3337560"/>
            <a:ext cx="4663440" cy="749808"/>
          </a:xfrm>
          <a:prstGeom prst="rect">
            <a:avLst/>
          </a:prstGeom>
          <a:noFill/>
          <a:ln/>
        </p:spPr>
        <p:txBody>
          <a:bodyPr wrap="square" rtlCol="0" anchor="ctr"/>
          <a:lstStyle/>
          <a:p>
            <a:pPr marL="0" indent="0">
              <a:buNone/>
            </a:pPr>
            <a:r>
              <a:rPr lang="en-US" sz="1200" b="1" dirty="0">
                <a:solidFill>
                  <a:srgbClr val="0B1D3A"/>
                </a:solidFill>
              </a:rPr>
              <a:t>RÉFÉRENTIEL CLIENT UNIQUE (SSOT / MDM)  —  Golden Record  —  ID Client UUID</a:t>
            </a:r>
            <a:endParaRPr lang="en-US" sz="1200" dirty="0"/>
          </a:p>
        </p:txBody>
      </p:sp>
      <p:sp>
        <p:nvSpPr>
          <p:cNvPr id="30" name="Shape 27"/>
          <p:cNvSpPr/>
          <p:nvPr/>
        </p:nvSpPr>
        <p:spPr>
          <a:xfrm>
            <a:off x="137160" y="4133088"/>
            <a:ext cx="8869680" cy="320040"/>
          </a:xfrm>
          <a:prstGeom prst="rect">
            <a:avLst/>
          </a:prstGeom>
          <a:solidFill>
            <a:srgbClr val="00796B"/>
          </a:solidFill>
          <a:ln w="12700">
            <a:solidFill>
              <a:srgbClr val="00796B"/>
            </a:solidFill>
            <a:prstDash val="solid"/>
          </a:ln>
        </p:spPr>
      </p:sp>
      <p:sp>
        <p:nvSpPr>
          <p:cNvPr id="31" name="Text 28"/>
          <p:cNvSpPr/>
          <p:nvPr/>
        </p:nvSpPr>
        <p:spPr>
          <a:xfrm>
            <a:off x="137160" y="4133088"/>
            <a:ext cx="8869680" cy="320040"/>
          </a:xfrm>
          <a:prstGeom prst="rect">
            <a:avLst/>
          </a:prstGeom>
          <a:noFill/>
          <a:ln/>
        </p:spPr>
        <p:txBody>
          <a:bodyPr wrap="square" lIns="0" tIns="0" rIns="0" bIns="0" rtlCol="0" anchor="ctr"/>
          <a:lstStyle/>
          <a:p>
            <a:pPr marL="0" indent="0" algn="ctr">
              <a:buNone/>
            </a:pPr>
            <a:r>
              <a:rPr lang="en-US" sz="900" b="1" dirty="0">
                <a:solidFill>
                  <a:srgbClr val="FFFFFF"/>
                </a:solidFill>
              </a:rPr>
              <a:t>COUCHE CONSOMMATEURS  —  Systèmes alimentés en retour</a:t>
            </a:r>
            <a:endParaRPr lang="en-US" sz="900" dirty="0"/>
          </a:p>
        </p:txBody>
      </p:sp>
      <p:sp>
        <p:nvSpPr>
          <p:cNvPr id="32" name="Shape 29"/>
          <p:cNvSpPr/>
          <p:nvPr/>
        </p:nvSpPr>
        <p:spPr>
          <a:xfrm>
            <a:off x="164592" y="4480560"/>
            <a:ext cx="1417320" cy="548640"/>
          </a:xfrm>
          <a:prstGeom prst="rect">
            <a:avLst/>
          </a:prstGeom>
          <a:solidFill>
            <a:srgbClr val="0B1D3A"/>
          </a:solidFill>
          <a:ln w="12700">
            <a:solidFill>
              <a:srgbClr val="00796B"/>
            </a:solidFill>
            <a:prstDash val="solid"/>
          </a:ln>
        </p:spPr>
      </p:sp>
      <p:sp>
        <p:nvSpPr>
          <p:cNvPr id="33" name="Text 30"/>
          <p:cNvSpPr/>
          <p:nvPr/>
        </p:nvSpPr>
        <p:spPr>
          <a:xfrm>
            <a:off x="164592" y="4480560"/>
            <a:ext cx="1417320" cy="548640"/>
          </a:xfrm>
          <a:prstGeom prst="rect">
            <a:avLst/>
          </a:prstGeom>
          <a:noFill/>
          <a:ln/>
        </p:spPr>
        <p:txBody>
          <a:bodyPr wrap="square" rtlCol="0" anchor="ctr"/>
          <a:lstStyle/>
          <a:p>
            <a:pPr marL="0" indent="0" algn="ctr">
              <a:buNone/>
            </a:pPr>
            <a:r>
              <a:rPr lang="en-US" sz="850" dirty="0">
                <a:solidFill>
                  <a:srgbClr val="FFFFFF"/>
                </a:solidFill>
              </a:rPr>
              <a:t>Tableau 360°</a:t>
            </a:r>
            <a:endParaRPr lang="en-US" sz="850" dirty="0"/>
          </a:p>
        </p:txBody>
      </p:sp>
      <p:sp>
        <p:nvSpPr>
          <p:cNvPr id="34" name="Shape 31"/>
          <p:cNvSpPr/>
          <p:nvPr/>
        </p:nvSpPr>
        <p:spPr>
          <a:xfrm>
            <a:off x="1636776" y="4480560"/>
            <a:ext cx="1417320" cy="548640"/>
          </a:xfrm>
          <a:prstGeom prst="rect">
            <a:avLst/>
          </a:prstGeom>
          <a:solidFill>
            <a:srgbClr val="0B1D3A"/>
          </a:solidFill>
          <a:ln w="12700">
            <a:solidFill>
              <a:srgbClr val="00796B"/>
            </a:solidFill>
            <a:prstDash val="solid"/>
          </a:ln>
        </p:spPr>
      </p:sp>
      <p:sp>
        <p:nvSpPr>
          <p:cNvPr id="35" name="Text 32"/>
          <p:cNvSpPr/>
          <p:nvPr/>
        </p:nvSpPr>
        <p:spPr>
          <a:xfrm>
            <a:off x="1636776" y="4480560"/>
            <a:ext cx="1417320" cy="548640"/>
          </a:xfrm>
          <a:prstGeom prst="rect">
            <a:avLst/>
          </a:prstGeom>
          <a:noFill/>
          <a:ln/>
        </p:spPr>
        <p:txBody>
          <a:bodyPr wrap="square" rtlCol="0" anchor="ctr"/>
          <a:lstStyle/>
          <a:p>
            <a:pPr marL="0" indent="0" algn="ctr">
              <a:buNone/>
            </a:pPr>
            <a:r>
              <a:rPr lang="en-US" sz="850" dirty="0">
                <a:solidFill>
                  <a:srgbClr val="FFFFFF"/>
                </a:solidFill>
              </a:rPr>
              <a:t>Reporting BCRG</a:t>
            </a:r>
            <a:endParaRPr lang="en-US" sz="850" dirty="0"/>
          </a:p>
        </p:txBody>
      </p:sp>
      <p:sp>
        <p:nvSpPr>
          <p:cNvPr id="36" name="Shape 33"/>
          <p:cNvSpPr/>
          <p:nvPr/>
        </p:nvSpPr>
        <p:spPr>
          <a:xfrm>
            <a:off x="3108960" y="4480560"/>
            <a:ext cx="1417320" cy="548640"/>
          </a:xfrm>
          <a:prstGeom prst="rect">
            <a:avLst/>
          </a:prstGeom>
          <a:solidFill>
            <a:srgbClr val="0B1D3A"/>
          </a:solidFill>
          <a:ln w="12700">
            <a:solidFill>
              <a:srgbClr val="00796B"/>
            </a:solidFill>
            <a:prstDash val="solid"/>
          </a:ln>
        </p:spPr>
      </p:sp>
      <p:sp>
        <p:nvSpPr>
          <p:cNvPr id="37" name="Text 34"/>
          <p:cNvSpPr/>
          <p:nvPr/>
        </p:nvSpPr>
        <p:spPr>
          <a:xfrm>
            <a:off x="3108960" y="4480560"/>
            <a:ext cx="1417320" cy="548640"/>
          </a:xfrm>
          <a:prstGeom prst="rect">
            <a:avLst/>
          </a:prstGeom>
          <a:noFill/>
          <a:ln/>
        </p:spPr>
        <p:txBody>
          <a:bodyPr wrap="square" rtlCol="0" anchor="ctr"/>
          <a:lstStyle/>
          <a:p>
            <a:pPr marL="0" indent="0" algn="ctr">
              <a:buNone/>
            </a:pPr>
            <a:r>
              <a:rPr lang="en-US" sz="850" dirty="0">
                <a:solidFill>
                  <a:srgbClr val="FFFFFF"/>
                </a:solidFill>
              </a:rPr>
              <a:t>Score Risque</a:t>
            </a:r>
            <a:endParaRPr lang="en-US" sz="850" dirty="0"/>
          </a:p>
        </p:txBody>
      </p:sp>
      <p:sp>
        <p:nvSpPr>
          <p:cNvPr id="38" name="Shape 35"/>
          <p:cNvSpPr/>
          <p:nvPr/>
        </p:nvSpPr>
        <p:spPr>
          <a:xfrm>
            <a:off x="4581144" y="4480560"/>
            <a:ext cx="1417320" cy="548640"/>
          </a:xfrm>
          <a:prstGeom prst="rect">
            <a:avLst/>
          </a:prstGeom>
          <a:solidFill>
            <a:srgbClr val="0B1D3A"/>
          </a:solidFill>
          <a:ln w="12700">
            <a:solidFill>
              <a:srgbClr val="00796B"/>
            </a:solidFill>
            <a:prstDash val="solid"/>
          </a:ln>
        </p:spPr>
      </p:sp>
      <p:sp>
        <p:nvSpPr>
          <p:cNvPr id="39" name="Text 36"/>
          <p:cNvSpPr/>
          <p:nvPr/>
        </p:nvSpPr>
        <p:spPr>
          <a:xfrm>
            <a:off x="4581144" y="4480560"/>
            <a:ext cx="1417320" cy="548640"/>
          </a:xfrm>
          <a:prstGeom prst="rect">
            <a:avLst/>
          </a:prstGeom>
          <a:noFill/>
          <a:ln/>
        </p:spPr>
        <p:txBody>
          <a:bodyPr wrap="square" rtlCol="0" anchor="ctr"/>
          <a:lstStyle/>
          <a:p>
            <a:pPr marL="0" indent="0" algn="ctr">
              <a:buNone/>
            </a:pPr>
            <a:r>
              <a:rPr lang="en-US" sz="850" dirty="0">
                <a:solidFill>
                  <a:srgbClr val="FFFFFF"/>
                </a:solidFill>
              </a:rPr>
              <a:t>CRM Agences</a:t>
            </a:r>
            <a:endParaRPr lang="en-US" sz="850" dirty="0"/>
          </a:p>
        </p:txBody>
      </p:sp>
      <p:sp>
        <p:nvSpPr>
          <p:cNvPr id="40" name="Shape 37"/>
          <p:cNvSpPr/>
          <p:nvPr/>
        </p:nvSpPr>
        <p:spPr>
          <a:xfrm>
            <a:off x="6053328" y="4480560"/>
            <a:ext cx="1417320" cy="548640"/>
          </a:xfrm>
          <a:prstGeom prst="rect">
            <a:avLst/>
          </a:prstGeom>
          <a:solidFill>
            <a:srgbClr val="0B1D3A"/>
          </a:solidFill>
          <a:ln w="12700">
            <a:solidFill>
              <a:srgbClr val="00796B"/>
            </a:solidFill>
            <a:prstDash val="solid"/>
          </a:ln>
        </p:spPr>
      </p:sp>
      <p:sp>
        <p:nvSpPr>
          <p:cNvPr id="41" name="Text 38"/>
          <p:cNvSpPr/>
          <p:nvPr/>
        </p:nvSpPr>
        <p:spPr>
          <a:xfrm>
            <a:off x="6053328" y="4480560"/>
            <a:ext cx="1417320" cy="548640"/>
          </a:xfrm>
          <a:prstGeom prst="rect">
            <a:avLst/>
          </a:prstGeom>
          <a:noFill/>
          <a:ln/>
        </p:spPr>
        <p:txBody>
          <a:bodyPr wrap="square" rtlCol="0" anchor="ctr"/>
          <a:lstStyle/>
          <a:p>
            <a:pPr marL="0" indent="0" algn="ctr">
              <a:buNone/>
            </a:pPr>
            <a:r>
              <a:rPr lang="en-US" sz="850" dirty="0">
                <a:solidFill>
                  <a:srgbClr val="FFFFFF"/>
                </a:solidFill>
              </a:rPr>
              <a:t>Détection Fraude</a:t>
            </a:r>
            <a:endParaRPr lang="en-US" sz="850" dirty="0"/>
          </a:p>
        </p:txBody>
      </p:sp>
      <p:sp>
        <p:nvSpPr>
          <p:cNvPr id="42" name="Shape 39"/>
          <p:cNvSpPr/>
          <p:nvPr/>
        </p:nvSpPr>
        <p:spPr>
          <a:xfrm>
            <a:off x="7525512" y="4480560"/>
            <a:ext cx="1417320" cy="548640"/>
          </a:xfrm>
          <a:prstGeom prst="rect">
            <a:avLst/>
          </a:prstGeom>
          <a:solidFill>
            <a:srgbClr val="0B1D3A"/>
          </a:solidFill>
          <a:ln w="12700">
            <a:solidFill>
              <a:srgbClr val="00796B"/>
            </a:solidFill>
            <a:prstDash val="solid"/>
          </a:ln>
        </p:spPr>
      </p:sp>
      <p:sp>
        <p:nvSpPr>
          <p:cNvPr id="43" name="Text 40"/>
          <p:cNvSpPr/>
          <p:nvPr/>
        </p:nvSpPr>
        <p:spPr>
          <a:xfrm>
            <a:off x="7525512" y="4480560"/>
            <a:ext cx="1417320" cy="548640"/>
          </a:xfrm>
          <a:prstGeom prst="rect">
            <a:avLst/>
          </a:prstGeom>
          <a:noFill/>
          <a:ln/>
        </p:spPr>
        <p:txBody>
          <a:bodyPr wrap="square" rtlCol="0" anchor="ctr"/>
          <a:lstStyle/>
          <a:p>
            <a:pPr marL="0" indent="0" algn="ctr">
              <a:buNone/>
            </a:pPr>
            <a:r>
              <a:rPr lang="en-US" sz="850" dirty="0">
                <a:solidFill>
                  <a:srgbClr val="FFFFFF"/>
                </a:solidFill>
              </a:rPr>
              <a:t>Portail Mobile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9A825"/>
          </a:solidFill>
          <a:ln w="12700">
            <a:solidFill>
              <a:srgbClr val="F9A825"/>
            </a:solidFill>
            <a:prstDash val="solid"/>
          </a:ln>
        </p:spPr>
      </p:sp>
      <p:sp>
        <p:nvSpPr>
          <p:cNvPr id="3" name="Shape 1"/>
          <p:cNvSpPr/>
          <p:nvPr/>
        </p:nvSpPr>
        <p:spPr>
          <a:xfrm>
            <a:off x="0" y="64008"/>
            <a:ext cx="54864" cy="5079492"/>
          </a:xfrm>
          <a:prstGeom prst="rect">
            <a:avLst/>
          </a:prstGeom>
          <a:solidFill>
            <a:srgbClr val="F9A825"/>
          </a:solidFill>
          <a:ln w="12700">
            <a:solidFill>
              <a:srgbClr val="F9A825"/>
            </a:solidFill>
            <a:prstDash val="solid"/>
          </a:ln>
        </p:spPr>
      </p:sp>
      <p:sp>
        <p:nvSpPr>
          <p:cNvPr id="4" name="Shape 2"/>
          <p:cNvSpPr/>
          <p:nvPr/>
        </p:nvSpPr>
        <p:spPr>
          <a:xfrm>
            <a:off x="6217920" y="731520"/>
            <a:ext cx="2377440" cy="2377440"/>
          </a:xfrm>
          <a:prstGeom prst="ellipse">
            <a:avLst/>
          </a:prstGeom>
          <a:solidFill>
            <a:srgbClr val="1976D2">
              <a:alpha val="35000"/>
            </a:srgbClr>
          </a:solidFill>
          <a:ln w="12700">
            <a:solidFill>
              <a:srgbClr val="1976D2">
                <a:alpha val="35000"/>
              </a:srgbClr>
            </a:solidFill>
            <a:prstDash val="solid"/>
          </a:ln>
        </p:spPr>
      </p:sp>
      <p:pic>
        <p:nvPicPr>
          <p:cNvPr id="5" name="Image 0" descr="preencoded.png"/>
          <p:cNvPicPr>
            <a:picLocks noChangeAspect="1"/>
          </p:cNvPicPr>
          <p:nvPr/>
        </p:nvPicPr>
        <p:blipFill>
          <a:blip r:embed="rId3"/>
          <a:stretch>
            <a:fillRect/>
          </a:stretch>
        </p:blipFill>
        <p:spPr>
          <a:xfrm>
            <a:off x="6720840" y="1097280"/>
            <a:ext cx="1371600" cy="1371600"/>
          </a:xfrm>
          <a:prstGeom prst="rect">
            <a:avLst/>
          </a:prstGeom>
        </p:spPr>
      </p:pic>
      <p:sp>
        <p:nvSpPr>
          <p:cNvPr id="6" name="Text 3"/>
          <p:cNvSpPr/>
          <p:nvPr/>
        </p:nvSpPr>
        <p:spPr>
          <a:xfrm>
            <a:off x="320040" y="1463040"/>
            <a:ext cx="566928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Gouvernance SI</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&amp; Comité SI</a:t>
            </a:r>
            <a:endParaRPr lang="en-US" sz="3600" dirty="0"/>
          </a:p>
        </p:txBody>
      </p:sp>
      <p:sp>
        <p:nvSpPr>
          <p:cNvPr id="7" name="Text 4"/>
          <p:cNvSpPr/>
          <p:nvPr/>
        </p:nvSpPr>
        <p:spPr>
          <a:xfrm>
            <a:off x="320040" y="2514600"/>
            <a:ext cx="5486400" cy="731520"/>
          </a:xfrm>
          <a:prstGeom prst="rect">
            <a:avLst/>
          </a:prstGeom>
          <a:noFill/>
          <a:ln/>
        </p:spPr>
        <p:txBody>
          <a:bodyPr wrap="square" rtlCol="0" anchor="ctr"/>
          <a:lstStyle/>
          <a:p>
            <a:pPr marL="0" indent="0">
              <a:buNone/>
            </a:pPr>
            <a:r>
              <a:rPr lang="en-US" sz="1400" i="1" dirty="0">
                <a:solidFill>
                  <a:srgbClr val="42A5F5"/>
                </a:solidFill>
                <a:latin typeface="Calibri" pitchFamily="34" charset="0"/>
                <a:ea typeface="Calibri" pitchFamily="34" charset="-122"/>
                <a:cs typeface="Calibri" pitchFamily="34" charset="-120"/>
              </a:rPr>
              <a:t>Organisation · Rôles · Processus de décision</a:t>
            </a:r>
            <a:endParaRPr lang="en-US" sz="1400" dirty="0"/>
          </a:p>
        </p:txBody>
      </p:sp>
      <p:sp>
        <p:nvSpPr>
          <p:cNvPr id="8" name="Shape 5"/>
          <p:cNvSpPr/>
          <p:nvPr/>
        </p:nvSpPr>
        <p:spPr>
          <a:xfrm>
            <a:off x="320040" y="4114800"/>
            <a:ext cx="1097280" cy="347472"/>
          </a:xfrm>
          <a:prstGeom prst="roundRect">
            <a:avLst>
              <a:gd name="adj" fmla="val 13158"/>
            </a:avLst>
          </a:prstGeom>
          <a:solidFill>
            <a:srgbClr val="F9A825"/>
          </a:solidFill>
          <a:ln w="12700">
            <a:solidFill>
              <a:srgbClr val="F9A825"/>
            </a:solidFill>
            <a:prstDash val="solid"/>
          </a:ln>
        </p:spPr>
      </p:sp>
      <p:sp>
        <p:nvSpPr>
          <p:cNvPr id="9" name="Text 6"/>
          <p:cNvSpPr/>
          <p:nvPr/>
        </p:nvSpPr>
        <p:spPr>
          <a:xfrm>
            <a:off x="320040" y="4114800"/>
            <a:ext cx="1097280" cy="347472"/>
          </a:xfrm>
          <a:prstGeom prst="rect">
            <a:avLst/>
          </a:prstGeom>
          <a:noFill/>
          <a:ln/>
        </p:spPr>
        <p:txBody>
          <a:bodyPr wrap="square" lIns="0" tIns="0" rIns="0" bIns="0" rtlCol="0" anchor="ctr"/>
          <a:lstStyle/>
          <a:p>
            <a:pPr marL="0" indent="0" algn="ctr">
              <a:buNone/>
            </a:pPr>
            <a:r>
              <a:rPr lang="en-US" sz="950" b="1" dirty="0">
                <a:solidFill>
                  <a:srgbClr val="0B1D3A"/>
                </a:solidFill>
              </a:rPr>
              <a:t>ÉTAPE 04</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Shape 1"/>
          <p:cNvSpPr/>
          <p:nvPr/>
        </p:nvSpPr>
        <p:spPr>
          <a:xfrm>
            <a:off x="0" y="0"/>
            <a:ext cx="54864" cy="5143500"/>
          </a:xfrm>
          <a:prstGeom prst="rect">
            <a:avLst/>
          </a:prstGeom>
          <a:solidFill>
            <a:srgbClr val="F9A825"/>
          </a:solidFill>
          <a:ln w="12700">
            <a:solidFill>
              <a:srgbClr val="F9A825"/>
            </a:solidFill>
            <a:prstDash val="solid"/>
          </a:ln>
        </p:spPr>
      </p:sp>
      <p:sp>
        <p:nvSpPr>
          <p:cNvPr id="4" name="Text 2"/>
          <p:cNvSpPr/>
          <p:nvPr/>
        </p:nvSpPr>
        <p:spPr>
          <a:xfrm>
            <a:off x="228600" y="137160"/>
            <a:ext cx="8686800" cy="6858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05 – Gouvernance SI : Comité SI de Vision Bank</a:t>
            </a:r>
            <a:endParaRPr lang="en-US" sz="2200" dirty="0"/>
          </a:p>
        </p:txBody>
      </p:sp>
      <p:sp>
        <p:nvSpPr>
          <p:cNvPr id="5" name="Shape 3"/>
          <p:cNvSpPr/>
          <p:nvPr/>
        </p:nvSpPr>
        <p:spPr>
          <a:xfrm>
            <a:off x="2926080" y="1051560"/>
            <a:ext cx="3291840" cy="658368"/>
          </a:xfrm>
          <a:prstGeom prst="rect">
            <a:avLst/>
          </a:prstGeom>
          <a:solidFill>
            <a:srgbClr val="F9A825"/>
          </a:solidFill>
          <a:ln w="12700">
            <a:solidFill>
              <a:srgbClr val="F9A825"/>
            </a:solidFill>
            <a:prstDash val="solid"/>
          </a:ln>
          <a:effectLst>
            <a:outerShdw blurRad="101600" dist="38100" dir="8100000" algn="bl" rotWithShape="0">
              <a:srgbClr val="000000">
                <a:alpha val="14000"/>
              </a:srgbClr>
            </a:outerShdw>
          </a:effectLst>
        </p:spPr>
      </p:sp>
      <p:sp>
        <p:nvSpPr>
          <p:cNvPr id="6" name="Text 4"/>
          <p:cNvSpPr/>
          <p:nvPr/>
        </p:nvSpPr>
        <p:spPr>
          <a:xfrm>
            <a:off x="2926080" y="1051560"/>
            <a:ext cx="3291840" cy="658368"/>
          </a:xfrm>
          <a:prstGeom prst="rect">
            <a:avLst/>
          </a:prstGeom>
          <a:noFill/>
          <a:ln/>
        </p:spPr>
        <p:txBody>
          <a:bodyPr wrap="square" rtlCol="0" anchor="ctr"/>
          <a:lstStyle/>
          <a:p>
            <a:pPr marL="0" indent="0" algn="ctr">
              <a:buNone/>
            </a:pPr>
            <a:r>
              <a:rPr lang="en-US" sz="1200" b="1" dirty="0">
                <a:solidFill>
                  <a:srgbClr val="0B1D3A"/>
                </a:solidFill>
              </a:rPr>
              <a:t>SPONSOR  —  Directeur Général</a:t>
            </a:r>
            <a:endParaRPr lang="en-US" sz="1200" dirty="0"/>
          </a:p>
        </p:txBody>
      </p:sp>
      <p:sp>
        <p:nvSpPr>
          <p:cNvPr id="7" name="Shape 5"/>
          <p:cNvSpPr/>
          <p:nvPr/>
        </p:nvSpPr>
        <p:spPr>
          <a:xfrm>
            <a:off x="4572000" y="1709928"/>
            <a:ext cx="0" cy="292608"/>
          </a:xfrm>
          <a:prstGeom prst="line">
            <a:avLst/>
          </a:prstGeom>
          <a:noFill/>
          <a:ln w="25400">
            <a:solidFill>
              <a:srgbClr val="F9A825"/>
            </a:solidFill>
            <a:prstDash val="solid"/>
          </a:ln>
        </p:spPr>
      </p:sp>
      <p:sp>
        <p:nvSpPr>
          <p:cNvPr id="8" name="Shape 6"/>
          <p:cNvSpPr/>
          <p:nvPr/>
        </p:nvSpPr>
        <p:spPr>
          <a:xfrm>
            <a:off x="2926080" y="2002536"/>
            <a:ext cx="3291840" cy="658368"/>
          </a:xfrm>
          <a:prstGeom prst="rect">
            <a:avLst/>
          </a:prstGeom>
          <a:solidFill>
            <a:srgbClr val="1976D2"/>
          </a:solidFill>
          <a:ln w="12700">
            <a:solidFill>
              <a:srgbClr val="1976D2"/>
            </a:solidFill>
            <a:prstDash val="solid"/>
          </a:ln>
          <a:effectLst>
            <a:outerShdw blurRad="101600" dist="38100" dir="8100000" algn="bl" rotWithShape="0">
              <a:srgbClr val="000000">
                <a:alpha val="14000"/>
              </a:srgbClr>
            </a:outerShdw>
          </a:effectLst>
        </p:spPr>
      </p:sp>
      <p:sp>
        <p:nvSpPr>
          <p:cNvPr id="9" name="Text 7"/>
          <p:cNvSpPr/>
          <p:nvPr/>
        </p:nvSpPr>
        <p:spPr>
          <a:xfrm>
            <a:off x="2926080" y="2002536"/>
            <a:ext cx="3291840" cy="658368"/>
          </a:xfrm>
          <a:prstGeom prst="rect">
            <a:avLst/>
          </a:prstGeom>
          <a:noFill/>
          <a:ln/>
        </p:spPr>
        <p:txBody>
          <a:bodyPr wrap="square" rtlCol="0" anchor="ctr"/>
          <a:lstStyle/>
          <a:p>
            <a:pPr marL="0" indent="0" algn="ctr">
              <a:buNone/>
            </a:pPr>
            <a:r>
              <a:rPr lang="en-US" sz="1050" b="1" dirty="0">
                <a:solidFill>
                  <a:srgbClr val="FFFFFF"/>
                </a:solidFill>
              </a:rPr>
              <a:t>Chef de Projet — Dir. Transformation Digitale</a:t>
            </a:r>
            <a:endParaRPr lang="en-US" sz="1050" dirty="0"/>
          </a:p>
        </p:txBody>
      </p:sp>
      <p:sp>
        <p:nvSpPr>
          <p:cNvPr id="10" name="Shape 8"/>
          <p:cNvSpPr/>
          <p:nvPr/>
        </p:nvSpPr>
        <p:spPr>
          <a:xfrm>
            <a:off x="4572000" y="2660904"/>
            <a:ext cx="0" cy="256032"/>
          </a:xfrm>
          <a:prstGeom prst="line">
            <a:avLst/>
          </a:prstGeom>
          <a:noFill/>
          <a:ln w="25400">
            <a:solidFill>
              <a:srgbClr val="F9A825"/>
            </a:solidFill>
            <a:prstDash val="solid"/>
          </a:ln>
        </p:spPr>
      </p:sp>
      <p:sp>
        <p:nvSpPr>
          <p:cNvPr id="11" name="Shape 9"/>
          <p:cNvSpPr/>
          <p:nvPr/>
        </p:nvSpPr>
        <p:spPr>
          <a:xfrm>
            <a:off x="914400" y="2916936"/>
            <a:ext cx="7315200" cy="0"/>
          </a:xfrm>
          <a:prstGeom prst="line">
            <a:avLst/>
          </a:prstGeom>
          <a:noFill/>
          <a:ln w="25400">
            <a:solidFill>
              <a:srgbClr val="F9A825"/>
            </a:solidFill>
            <a:prstDash val="solid"/>
          </a:ln>
        </p:spPr>
      </p:sp>
      <p:sp>
        <p:nvSpPr>
          <p:cNvPr id="12" name="Shape 10"/>
          <p:cNvSpPr/>
          <p:nvPr/>
        </p:nvSpPr>
        <p:spPr>
          <a:xfrm>
            <a:off x="1051560" y="2916936"/>
            <a:ext cx="0" cy="256032"/>
          </a:xfrm>
          <a:prstGeom prst="line">
            <a:avLst/>
          </a:prstGeom>
          <a:noFill/>
          <a:ln w="12700">
            <a:solidFill>
              <a:srgbClr val="F9A825"/>
            </a:solidFill>
            <a:prstDash val="solid"/>
          </a:ln>
        </p:spPr>
      </p:sp>
      <p:sp>
        <p:nvSpPr>
          <p:cNvPr id="13" name="Shape 11"/>
          <p:cNvSpPr/>
          <p:nvPr/>
        </p:nvSpPr>
        <p:spPr>
          <a:xfrm>
            <a:off x="182880" y="3163824"/>
            <a:ext cx="1719072" cy="594360"/>
          </a:xfrm>
          <a:prstGeom prst="rect">
            <a:avLst/>
          </a:prstGeom>
          <a:solidFill>
            <a:srgbClr val="0B1D3A"/>
          </a:solidFill>
          <a:ln w="12700">
            <a:solidFill>
              <a:srgbClr val="0B1D3A"/>
            </a:solidFill>
            <a:prstDash val="solid"/>
          </a:ln>
          <a:effectLst>
            <a:outerShdw blurRad="101600" dist="38100" dir="8100000" algn="bl" rotWithShape="0">
              <a:srgbClr val="000000">
                <a:alpha val="14000"/>
              </a:srgbClr>
            </a:outerShdw>
          </a:effectLst>
        </p:spPr>
      </p:sp>
      <p:sp>
        <p:nvSpPr>
          <p:cNvPr id="14" name="Text 12"/>
          <p:cNvSpPr/>
          <p:nvPr/>
        </p:nvSpPr>
        <p:spPr>
          <a:xfrm>
            <a:off x="182880" y="3163824"/>
            <a:ext cx="1719072" cy="594360"/>
          </a:xfrm>
          <a:prstGeom prst="rect">
            <a:avLst/>
          </a:prstGeom>
          <a:noFill/>
          <a:ln/>
        </p:spPr>
        <p:txBody>
          <a:bodyPr wrap="square" rtlCol="0" anchor="ctr"/>
          <a:lstStyle/>
          <a:p>
            <a:pPr marL="0" indent="0" algn="ctr">
              <a:buNone/>
            </a:pPr>
            <a:r>
              <a:rPr lang="en-US" sz="950" b="1" dirty="0">
                <a:solidFill>
                  <a:srgbClr val="FFFFFF"/>
                </a:solidFill>
              </a:rPr>
              <a:t>Dir. SI</a:t>
            </a:r>
            <a:endParaRPr lang="en-US" sz="950" dirty="0"/>
          </a:p>
        </p:txBody>
      </p:sp>
      <p:sp>
        <p:nvSpPr>
          <p:cNvPr id="15" name="Shape 13"/>
          <p:cNvSpPr/>
          <p:nvPr/>
        </p:nvSpPr>
        <p:spPr>
          <a:xfrm>
            <a:off x="2807208" y="2916936"/>
            <a:ext cx="0" cy="256032"/>
          </a:xfrm>
          <a:prstGeom prst="line">
            <a:avLst/>
          </a:prstGeom>
          <a:noFill/>
          <a:ln w="12700">
            <a:solidFill>
              <a:srgbClr val="F9A825"/>
            </a:solidFill>
            <a:prstDash val="solid"/>
          </a:ln>
        </p:spPr>
      </p:sp>
      <p:sp>
        <p:nvSpPr>
          <p:cNvPr id="16" name="Shape 14"/>
          <p:cNvSpPr/>
          <p:nvPr/>
        </p:nvSpPr>
        <p:spPr>
          <a:xfrm>
            <a:off x="1938528" y="3163824"/>
            <a:ext cx="1719072" cy="594360"/>
          </a:xfrm>
          <a:prstGeom prst="rect">
            <a:avLst/>
          </a:prstGeom>
          <a:solidFill>
            <a:srgbClr val="1565C0"/>
          </a:solidFill>
          <a:ln w="12700">
            <a:solidFill>
              <a:srgbClr val="1565C0"/>
            </a:solidFill>
            <a:prstDash val="solid"/>
          </a:ln>
          <a:effectLst>
            <a:outerShdw blurRad="101600" dist="38100" dir="8100000" algn="bl" rotWithShape="0">
              <a:srgbClr val="000000">
                <a:alpha val="14000"/>
              </a:srgbClr>
            </a:outerShdw>
          </a:effectLst>
        </p:spPr>
      </p:sp>
      <p:sp>
        <p:nvSpPr>
          <p:cNvPr id="17" name="Text 15"/>
          <p:cNvSpPr/>
          <p:nvPr/>
        </p:nvSpPr>
        <p:spPr>
          <a:xfrm>
            <a:off x="1938528" y="3163824"/>
            <a:ext cx="1719072" cy="594360"/>
          </a:xfrm>
          <a:prstGeom prst="rect">
            <a:avLst/>
          </a:prstGeom>
          <a:noFill/>
          <a:ln/>
        </p:spPr>
        <p:txBody>
          <a:bodyPr wrap="square" rtlCol="0" anchor="ctr"/>
          <a:lstStyle/>
          <a:p>
            <a:pPr marL="0" indent="0" algn="ctr">
              <a:buNone/>
            </a:pPr>
            <a:r>
              <a:rPr lang="en-US" sz="950" b="1" dirty="0">
                <a:solidFill>
                  <a:srgbClr val="FFFFFF"/>
                </a:solidFill>
              </a:rPr>
              <a:t>Dir. Digital</a:t>
            </a:r>
            <a:endParaRPr lang="en-US" sz="950" dirty="0"/>
          </a:p>
        </p:txBody>
      </p:sp>
      <p:sp>
        <p:nvSpPr>
          <p:cNvPr id="18" name="Shape 16"/>
          <p:cNvSpPr/>
          <p:nvPr/>
        </p:nvSpPr>
        <p:spPr>
          <a:xfrm>
            <a:off x="4562856" y="2916936"/>
            <a:ext cx="0" cy="256032"/>
          </a:xfrm>
          <a:prstGeom prst="line">
            <a:avLst/>
          </a:prstGeom>
          <a:noFill/>
          <a:ln w="12700">
            <a:solidFill>
              <a:srgbClr val="F9A825"/>
            </a:solidFill>
            <a:prstDash val="solid"/>
          </a:ln>
        </p:spPr>
      </p:sp>
      <p:sp>
        <p:nvSpPr>
          <p:cNvPr id="19" name="Shape 17"/>
          <p:cNvSpPr/>
          <p:nvPr/>
        </p:nvSpPr>
        <p:spPr>
          <a:xfrm>
            <a:off x="3694176" y="3163824"/>
            <a:ext cx="1719072" cy="594360"/>
          </a:xfrm>
          <a:prstGeom prst="rect">
            <a:avLst/>
          </a:prstGeom>
          <a:solidFill>
            <a:srgbClr val="00796B"/>
          </a:solidFill>
          <a:ln w="12700">
            <a:solidFill>
              <a:srgbClr val="00796B"/>
            </a:solidFill>
            <a:prstDash val="solid"/>
          </a:ln>
          <a:effectLst>
            <a:outerShdw blurRad="101600" dist="38100" dir="8100000" algn="bl" rotWithShape="0">
              <a:srgbClr val="000000">
                <a:alpha val="14000"/>
              </a:srgbClr>
            </a:outerShdw>
          </a:effectLst>
        </p:spPr>
      </p:sp>
      <p:sp>
        <p:nvSpPr>
          <p:cNvPr id="20" name="Text 18"/>
          <p:cNvSpPr/>
          <p:nvPr/>
        </p:nvSpPr>
        <p:spPr>
          <a:xfrm>
            <a:off x="3694176" y="3163824"/>
            <a:ext cx="1719072" cy="594360"/>
          </a:xfrm>
          <a:prstGeom prst="rect">
            <a:avLst/>
          </a:prstGeom>
          <a:noFill/>
          <a:ln/>
        </p:spPr>
        <p:txBody>
          <a:bodyPr wrap="square" rtlCol="0" anchor="ctr"/>
          <a:lstStyle/>
          <a:p>
            <a:pPr marL="0" indent="0" algn="ctr">
              <a:buNone/>
            </a:pPr>
            <a:r>
              <a:rPr lang="en-US" sz="950" b="1" dirty="0">
                <a:solidFill>
                  <a:srgbClr val="FFFFFF"/>
                </a:solidFill>
              </a:rPr>
              <a:t>Dir. Crédit</a:t>
            </a:r>
            <a:endParaRPr lang="en-US" sz="950" dirty="0"/>
          </a:p>
        </p:txBody>
      </p:sp>
      <p:sp>
        <p:nvSpPr>
          <p:cNvPr id="21" name="Shape 19"/>
          <p:cNvSpPr/>
          <p:nvPr/>
        </p:nvSpPr>
        <p:spPr>
          <a:xfrm>
            <a:off x="6318504" y="2916936"/>
            <a:ext cx="0" cy="256032"/>
          </a:xfrm>
          <a:prstGeom prst="line">
            <a:avLst/>
          </a:prstGeom>
          <a:noFill/>
          <a:ln w="12700">
            <a:solidFill>
              <a:srgbClr val="F9A825"/>
            </a:solidFill>
            <a:prstDash val="solid"/>
          </a:ln>
        </p:spPr>
      </p:sp>
      <p:sp>
        <p:nvSpPr>
          <p:cNvPr id="22" name="Shape 20"/>
          <p:cNvSpPr/>
          <p:nvPr/>
        </p:nvSpPr>
        <p:spPr>
          <a:xfrm>
            <a:off x="5449824" y="3163824"/>
            <a:ext cx="1719072" cy="594360"/>
          </a:xfrm>
          <a:prstGeom prst="rect">
            <a:avLst/>
          </a:prstGeom>
          <a:solidFill>
            <a:srgbClr val="C62828"/>
          </a:solidFill>
          <a:ln w="12700">
            <a:solidFill>
              <a:srgbClr val="C62828"/>
            </a:solidFill>
            <a:prstDash val="solid"/>
          </a:ln>
          <a:effectLst>
            <a:outerShdw blurRad="101600" dist="38100" dir="8100000" algn="bl" rotWithShape="0">
              <a:srgbClr val="000000">
                <a:alpha val="14000"/>
              </a:srgbClr>
            </a:outerShdw>
          </a:effectLst>
        </p:spPr>
      </p:sp>
      <p:sp>
        <p:nvSpPr>
          <p:cNvPr id="23" name="Text 21"/>
          <p:cNvSpPr/>
          <p:nvPr/>
        </p:nvSpPr>
        <p:spPr>
          <a:xfrm>
            <a:off x="5449824" y="3163824"/>
            <a:ext cx="1719072" cy="594360"/>
          </a:xfrm>
          <a:prstGeom prst="rect">
            <a:avLst/>
          </a:prstGeom>
          <a:noFill/>
          <a:ln/>
        </p:spPr>
        <p:txBody>
          <a:bodyPr wrap="square" rtlCol="0" anchor="ctr"/>
          <a:lstStyle/>
          <a:p>
            <a:pPr marL="0" indent="0" algn="ctr">
              <a:buNone/>
            </a:pPr>
            <a:r>
              <a:rPr lang="en-US" sz="950" b="1" dirty="0">
                <a:solidFill>
                  <a:srgbClr val="FFFFFF"/>
                </a:solidFill>
              </a:rPr>
              <a:t>Dir. Risques</a:t>
            </a:r>
            <a:endParaRPr lang="en-US" sz="950" dirty="0"/>
          </a:p>
        </p:txBody>
      </p:sp>
      <p:sp>
        <p:nvSpPr>
          <p:cNvPr id="24" name="Shape 22"/>
          <p:cNvSpPr/>
          <p:nvPr/>
        </p:nvSpPr>
        <p:spPr>
          <a:xfrm>
            <a:off x="8074152" y="2916936"/>
            <a:ext cx="0" cy="256032"/>
          </a:xfrm>
          <a:prstGeom prst="line">
            <a:avLst/>
          </a:prstGeom>
          <a:noFill/>
          <a:ln w="12700">
            <a:solidFill>
              <a:srgbClr val="F9A825"/>
            </a:solidFill>
            <a:prstDash val="solid"/>
          </a:ln>
        </p:spPr>
      </p:sp>
      <p:sp>
        <p:nvSpPr>
          <p:cNvPr id="25" name="Shape 23"/>
          <p:cNvSpPr/>
          <p:nvPr/>
        </p:nvSpPr>
        <p:spPr>
          <a:xfrm>
            <a:off x="7205472" y="3163824"/>
            <a:ext cx="1719072" cy="594360"/>
          </a:xfrm>
          <a:prstGeom prst="rect">
            <a:avLst/>
          </a:prstGeom>
          <a:solidFill>
            <a:srgbClr val="2E7D32"/>
          </a:solidFill>
          <a:ln w="12700">
            <a:solidFill>
              <a:srgbClr val="2E7D32"/>
            </a:solidFill>
            <a:prstDash val="solid"/>
          </a:ln>
          <a:effectLst>
            <a:outerShdw blurRad="101600" dist="38100" dir="8100000" algn="bl" rotWithShape="0">
              <a:srgbClr val="000000">
                <a:alpha val="14000"/>
              </a:srgbClr>
            </a:outerShdw>
          </a:effectLst>
        </p:spPr>
      </p:sp>
      <p:sp>
        <p:nvSpPr>
          <p:cNvPr id="26" name="Text 24"/>
          <p:cNvSpPr/>
          <p:nvPr/>
        </p:nvSpPr>
        <p:spPr>
          <a:xfrm>
            <a:off x="7205472" y="3163824"/>
            <a:ext cx="1719072" cy="594360"/>
          </a:xfrm>
          <a:prstGeom prst="rect">
            <a:avLst/>
          </a:prstGeom>
          <a:noFill/>
          <a:ln/>
        </p:spPr>
        <p:txBody>
          <a:bodyPr wrap="square" rtlCol="0" anchor="ctr"/>
          <a:lstStyle/>
          <a:p>
            <a:pPr marL="0" indent="0" algn="ctr">
              <a:buNone/>
            </a:pPr>
            <a:r>
              <a:rPr lang="en-US" sz="950" b="1" dirty="0">
                <a:solidFill>
                  <a:srgbClr val="FFFFFF"/>
                </a:solidFill>
              </a:rPr>
              <a:t>Dir. Finance</a:t>
            </a:r>
            <a:endParaRPr lang="en-US" sz="950" dirty="0"/>
          </a:p>
        </p:txBody>
      </p:sp>
      <p:sp>
        <p:nvSpPr>
          <p:cNvPr id="27" name="Shape 25"/>
          <p:cNvSpPr/>
          <p:nvPr/>
        </p:nvSpPr>
        <p:spPr>
          <a:xfrm>
            <a:off x="182880" y="3840480"/>
            <a:ext cx="8778240" cy="292608"/>
          </a:xfrm>
          <a:prstGeom prst="rect">
            <a:avLst/>
          </a:prstGeom>
          <a:solidFill>
            <a:srgbClr val="F4F6FB"/>
          </a:solidFill>
          <a:ln w="12700">
            <a:solidFill>
              <a:srgbClr val="ECEFF1"/>
            </a:solidFill>
            <a:prstDash val="solid"/>
          </a:ln>
        </p:spPr>
      </p:sp>
      <p:sp>
        <p:nvSpPr>
          <p:cNvPr id="28" name="Text 26"/>
          <p:cNvSpPr/>
          <p:nvPr/>
        </p:nvSpPr>
        <p:spPr>
          <a:xfrm>
            <a:off x="182880" y="3840480"/>
            <a:ext cx="8778240" cy="292608"/>
          </a:xfrm>
          <a:prstGeom prst="rect">
            <a:avLst/>
          </a:prstGeom>
          <a:noFill/>
          <a:ln/>
        </p:spPr>
        <p:txBody>
          <a:bodyPr wrap="square" rtlCol="0" anchor="ctr"/>
          <a:lstStyle/>
          <a:p>
            <a:pPr marL="0" indent="0" algn="ctr">
              <a:buNone/>
            </a:pPr>
            <a:r>
              <a:rPr lang="en-US" sz="950" dirty="0">
                <a:solidFill>
                  <a:srgbClr val="455A64"/>
                </a:solidFill>
              </a:rPr>
              <a:t>KEY USERS :  Resp. Crédit  ·  Resp. Finance  ·  Resp. Digital  ·  Resp. Conformité / Risque</a:t>
            </a:r>
            <a:endParaRPr lang="en-US" sz="950" dirty="0"/>
          </a:p>
        </p:txBody>
      </p:sp>
      <p:sp>
        <p:nvSpPr>
          <p:cNvPr id="29" name="Shape 27"/>
          <p:cNvSpPr/>
          <p:nvPr/>
        </p:nvSpPr>
        <p:spPr>
          <a:xfrm>
            <a:off x="182880" y="4206240"/>
            <a:ext cx="8778240" cy="749808"/>
          </a:xfrm>
          <a:prstGeom prst="rect">
            <a:avLst/>
          </a:prstGeom>
          <a:solidFill>
            <a:srgbClr val="0D2545"/>
          </a:solidFill>
          <a:ln w="12700">
            <a:solidFill>
              <a:srgbClr val="0D2545"/>
            </a:solidFill>
            <a:prstDash val="solid"/>
          </a:ln>
        </p:spPr>
      </p:sp>
      <p:sp>
        <p:nvSpPr>
          <p:cNvPr id="30" name="Shape 28"/>
          <p:cNvSpPr/>
          <p:nvPr/>
        </p:nvSpPr>
        <p:spPr>
          <a:xfrm>
            <a:off x="365760" y="4306824"/>
            <a:ext cx="128016" cy="128016"/>
          </a:xfrm>
          <a:prstGeom prst="ellipse">
            <a:avLst/>
          </a:prstGeom>
          <a:solidFill>
            <a:srgbClr val="F9A825"/>
          </a:solidFill>
          <a:ln w="12700">
            <a:solidFill>
              <a:srgbClr val="F9A825"/>
            </a:solidFill>
            <a:prstDash val="solid"/>
          </a:ln>
        </p:spPr>
      </p:sp>
      <p:sp>
        <p:nvSpPr>
          <p:cNvPr id="31" name="Text 29"/>
          <p:cNvSpPr/>
          <p:nvPr/>
        </p:nvSpPr>
        <p:spPr>
          <a:xfrm>
            <a:off x="548640" y="4251960"/>
            <a:ext cx="4114800" cy="219456"/>
          </a:xfrm>
          <a:prstGeom prst="rect">
            <a:avLst/>
          </a:prstGeom>
          <a:noFill/>
          <a:ln/>
        </p:spPr>
        <p:txBody>
          <a:bodyPr wrap="square" rtlCol="0" anchor="ctr"/>
          <a:lstStyle/>
          <a:p>
            <a:pPr marL="0" indent="0">
              <a:buNone/>
            </a:pPr>
            <a:r>
              <a:rPr lang="en-US" sz="950" dirty="0">
                <a:solidFill>
                  <a:srgbClr val="FFFFFF"/>
                </a:solidFill>
              </a:rPr>
              <a:t>Définir la stratégie technologique</a:t>
            </a:r>
            <a:endParaRPr lang="en-US" sz="950" dirty="0"/>
          </a:p>
        </p:txBody>
      </p:sp>
      <p:sp>
        <p:nvSpPr>
          <p:cNvPr id="32" name="Shape 30"/>
          <p:cNvSpPr/>
          <p:nvPr/>
        </p:nvSpPr>
        <p:spPr>
          <a:xfrm>
            <a:off x="365760" y="4535424"/>
            <a:ext cx="128016" cy="128016"/>
          </a:xfrm>
          <a:prstGeom prst="ellipse">
            <a:avLst/>
          </a:prstGeom>
          <a:solidFill>
            <a:srgbClr val="F9A825"/>
          </a:solidFill>
          <a:ln w="12700">
            <a:solidFill>
              <a:srgbClr val="F9A825"/>
            </a:solidFill>
            <a:prstDash val="solid"/>
          </a:ln>
        </p:spPr>
      </p:sp>
      <p:sp>
        <p:nvSpPr>
          <p:cNvPr id="33" name="Text 31"/>
          <p:cNvSpPr/>
          <p:nvPr/>
        </p:nvSpPr>
        <p:spPr>
          <a:xfrm>
            <a:off x="548640" y="4480560"/>
            <a:ext cx="4114800" cy="219456"/>
          </a:xfrm>
          <a:prstGeom prst="rect">
            <a:avLst/>
          </a:prstGeom>
          <a:noFill/>
          <a:ln/>
        </p:spPr>
        <p:txBody>
          <a:bodyPr wrap="square" rtlCol="0" anchor="ctr"/>
          <a:lstStyle/>
          <a:p>
            <a:pPr marL="0" indent="0">
              <a:buNone/>
            </a:pPr>
            <a:r>
              <a:rPr lang="en-US" sz="950" dirty="0">
                <a:solidFill>
                  <a:srgbClr val="FFFFFF"/>
                </a:solidFill>
              </a:rPr>
              <a:t>Valider et prioriser les projets IT</a:t>
            </a:r>
            <a:endParaRPr lang="en-US" sz="950" dirty="0"/>
          </a:p>
        </p:txBody>
      </p:sp>
      <p:sp>
        <p:nvSpPr>
          <p:cNvPr id="34" name="Shape 32"/>
          <p:cNvSpPr/>
          <p:nvPr/>
        </p:nvSpPr>
        <p:spPr>
          <a:xfrm>
            <a:off x="365760" y="4764024"/>
            <a:ext cx="128016" cy="128016"/>
          </a:xfrm>
          <a:prstGeom prst="ellipse">
            <a:avLst/>
          </a:prstGeom>
          <a:solidFill>
            <a:srgbClr val="F9A825"/>
          </a:solidFill>
          <a:ln w="12700">
            <a:solidFill>
              <a:srgbClr val="F9A825"/>
            </a:solidFill>
            <a:prstDash val="solid"/>
          </a:ln>
        </p:spPr>
      </p:sp>
      <p:sp>
        <p:nvSpPr>
          <p:cNvPr id="35" name="Text 33"/>
          <p:cNvSpPr/>
          <p:nvPr/>
        </p:nvSpPr>
        <p:spPr>
          <a:xfrm>
            <a:off x="548640" y="4709160"/>
            <a:ext cx="4114800" cy="219456"/>
          </a:xfrm>
          <a:prstGeom prst="rect">
            <a:avLst/>
          </a:prstGeom>
          <a:noFill/>
          <a:ln/>
        </p:spPr>
        <p:txBody>
          <a:bodyPr wrap="square" rtlCol="0" anchor="ctr"/>
          <a:lstStyle/>
          <a:p>
            <a:pPr marL="0" indent="0">
              <a:buNone/>
            </a:pPr>
            <a:r>
              <a:rPr lang="en-US" sz="950" dirty="0">
                <a:solidFill>
                  <a:srgbClr val="FFFFFF"/>
                </a:solidFill>
              </a:rPr>
              <a:t>Valider les architectures SI</a:t>
            </a:r>
            <a:endParaRPr lang="en-US" sz="950" dirty="0"/>
          </a:p>
        </p:txBody>
      </p:sp>
      <p:sp>
        <p:nvSpPr>
          <p:cNvPr id="36" name="Shape 34"/>
          <p:cNvSpPr/>
          <p:nvPr/>
        </p:nvSpPr>
        <p:spPr>
          <a:xfrm>
            <a:off x="4754880" y="4306824"/>
            <a:ext cx="128016" cy="128016"/>
          </a:xfrm>
          <a:prstGeom prst="ellipse">
            <a:avLst/>
          </a:prstGeom>
          <a:solidFill>
            <a:srgbClr val="F9A825"/>
          </a:solidFill>
          <a:ln w="12700">
            <a:solidFill>
              <a:srgbClr val="F9A825"/>
            </a:solidFill>
            <a:prstDash val="solid"/>
          </a:ln>
        </p:spPr>
      </p:sp>
      <p:sp>
        <p:nvSpPr>
          <p:cNvPr id="37" name="Text 35"/>
          <p:cNvSpPr/>
          <p:nvPr/>
        </p:nvSpPr>
        <p:spPr>
          <a:xfrm>
            <a:off x="4937760" y="4251960"/>
            <a:ext cx="4114800" cy="219456"/>
          </a:xfrm>
          <a:prstGeom prst="rect">
            <a:avLst/>
          </a:prstGeom>
          <a:noFill/>
          <a:ln/>
        </p:spPr>
        <p:txBody>
          <a:bodyPr wrap="square" rtlCol="0" anchor="ctr"/>
          <a:lstStyle/>
          <a:p>
            <a:pPr marL="0" indent="0">
              <a:buNone/>
            </a:pPr>
            <a:r>
              <a:rPr lang="en-US" sz="950" dirty="0">
                <a:solidFill>
                  <a:srgbClr val="FFFFFF"/>
                </a:solidFill>
              </a:rPr>
              <a:t>Arbitrer conflits Métiers / IT</a:t>
            </a:r>
            <a:endParaRPr lang="en-US" sz="950" dirty="0"/>
          </a:p>
        </p:txBody>
      </p:sp>
      <p:sp>
        <p:nvSpPr>
          <p:cNvPr id="38" name="Shape 36"/>
          <p:cNvSpPr/>
          <p:nvPr/>
        </p:nvSpPr>
        <p:spPr>
          <a:xfrm>
            <a:off x="4754880" y="4535424"/>
            <a:ext cx="128016" cy="128016"/>
          </a:xfrm>
          <a:prstGeom prst="ellipse">
            <a:avLst/>
          </a:prstGeom>
          <a:solidFill>
            <a:srgbClr val="F9A825"/>
          </a:solidFill>
          <a:ln w="12700">
            <a:solidFill>
              <a:srgbClr val="F9A825"/>
            </a:solidFill>
            <a:prstDash val="solid"/>
          </a:ln>
        </p:spPr>
      </p:sp>
      <p:sp>
        <p:nvSpPr>
          <p:cNvPr id="39" name="Text 37"/>
          <p:cNvSpPr/>
          <p:nvPr/>
        </p:nvSpPr>
        <p:spPr>
          <a:xfrm>
            <a:off x="4937760" y="4480560"/>
            <a:ext cx="4114800" cy="219456"/>
          </a:xfrm>
          <a:prstGeom prst="rect">
            <a:avLst/>
          </a:prstGeom>
          <a:noFill/>
          <a:ln/>
        </p:spPr>
        <p:txBody>
          <a:bodyPr wrap="square" rtlCol="0" anchor="ctr"/>
          <a:lstStyle/>
          <a:p>
            <a:pPr marL="0" indent="0">
              <a:buNone/>
            </a:pPr>
            <a:r>
              <a:rPr lang="en-US" sz="950" dirty="0">
                <a:solidFill>
                  <a:srgbClr val="FFFFFF"/>
                </a:solidFill>
              </a:rPr>
              <a:t>Suivre la qualité des données</a:t>
            </a:r>
            <a:endParaRPr lang="en-US" sz="950" dirty="0"/>
          </a:p>
        </p:txBody>
      </p:sp>
      <p:sp>
        <p:nvSpPr>
          <p:cNvPr id="40" name="Shape 38"/>
          <p:cNvSpPr/>
          <p:nvPr/>
        </p:nvSpPr>
        <p:spPr>
          <a:xfrm>
            <a:off x="4754880" y="4764024"/>
            <a:ext cx="128016" cy="128016"/>
          </a:xfrm>
          <a:prstGeom prst="ellipse">
            <a:avLst/>
          </a:prstGeom>
          <a:solidFill>
            <a:srgbClr val="F9A825"/>
          </a:solidFill>
          <a:ln w="12700">
            <a:solidFill>
              <a:srgbClr val="F9A825"/>
            </a:solidFill>
            <a:prstDash val="solid"/>
          </a:ln>
        </p:spPr>
      </p:sp>
      <p:sp>
        <p:nvSpPr>
          <p:cNvPr id="41" name="Text 39"/>
          <p:cNvSpPr/>
          <p:nvPr/>
        </p:nvSpPr>
        <p:spPr>
          <a:xfrm>
            <a:off x="4937760" y="4709160"/>
            <a:ext cx="4114800" cy="219456"/>
          </a:xfrm>
          <a:prstGeom prst="rect">
            <a:avLst/>
          </a:prstGeom>
          <a:noFill/>
          <a:ln/>
        </p:spPr>
        <p:txBody>
          <a:bodyPr wrap="square" rtlCol="0" anchor="ctr"/>
          <a:lstStyle/>
          <a:p>
            <a:pPr marL="0" indent="0">
              <a:buNone/>
            </a:pPr>
            <a:r>
              <a:rPr lang="en-US" sz="950" dirty="0">
                <a:solidFill>
                  <a:srgbClr val="FFFFFF"/>
                </a:solidFill>
              </a:rPr>
              <a:t>Réunions mensuelles + exceptionnelles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9A825"/>
          </a:solidFill>
          <a:ln w="12700">
            <a:solidFill>
              <a:srgbClr val="F9A825"/>
            </a:solidFill>
            <a:prstDash val="solid"/>
          </a:ln>
        </p:spPr>
      </p:sp>
      <p:sp>
        <p:nvSpPr>
          <p:cNvPr id="3" name="Shape 1"/>
          <p:cNvSpPr/>
          <p:nvPr/>
        </p:nvSpPr>
        <p:spPr>
          <a:xfrm>
            <a:off x="0" y="64008"/>
            <a:ext cx="54864" cy="5079492"/>
          </a:xfrm>
          <a:prstGeom prst="rect">
            <a:avLst/>
          </a:prstGeom>
          <a:solidFill>
            <a:srgbClr val="F9A825"/>
          </a:solidFill>
          <a:ln w="12700">
            <a:solidFill>
              <a:srgbClr val="F9A825"/>
            </a:solidFill>
            <a:prstDash val="solid"/>
          </a:ln>
        </p:spPr>
      </p:sp>
      <p:sp>
        <p:nvSpPr>
          <p:cNvPr id="4" name="Shape 2"/>
          <p:cNvSpPr/>
          <p:nvPr/>
        </p:nvSpPr>
        <p:spPr>
          <a:xfrm>
            <a:off x="6217920" y="731520"/>
            <a:ext cx="2377440" cy="2377440"/>
          </a:xfrm>
          <a:prstGeom prst="ellipse">
            <a:avLst/>
          </a:prstGeom>
          <a:solidFill>
            <a:srgbClr val="1976D2">
              <a:alpha val="35000"/>
            </a:srgbClr>
          </a:solidFill>
          <a:ln w="12700">
            <a:solidFill>
              <a:srgbClr val="1976D2">
                <a:alpha val="35000"/>
              </a:srgbClr>
            </a:solidFill>
            <a:prstDash val="solid"/>
          </a:ln>
        </p:spPr>
      </p:sp>
      <p:pic>
        <p:nvPicPr>
          <p:cNvPr id="5" name="Image 0" descr="preencoded.png"/>
          <p:cNvPicPr>
            <a:picLocks noChangeAspect="1"/>
          </p:cNvPicPr>
          <p:nvPr/>
        </p:nvPicPr>
        <p:blipFill>
          <a:blip r:embed="rId3"/>
          <a:stretch>
            <a:fillRect/>
          </a:stretch>
        </p:blipFill>
        <p:spPr>
          <a:xfrm>
            <a:off x="6720840" y="1097280"/>
            <a:ext cx="1371600" cy="1371600"/>
          </a:xfrm>
          <a:prstGeom prst="rect">
            <a:avLst/>
          </a:prstGeom>
        </p:spPr>
      </p:pic>
      <p:sp>
        <p:nvSpPr>
          <p:cNvPr id="6" name="Text 3"/>
          <p:cNvSpPr/>
          <p:nvPr/>
        </p:nvSpPr>
        <p:spPr>
          <a:xfrm>
            <a:off x="320040" y="1463040"/>
            <a:ext cx="566928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Dictionnaire</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de Données</a:t>
            </a:r>
            <a:endParaRPr lang="en-US" sz="3600" dirty="0"/>
          </a:p>
        </p:txBody>
      </p:sp>
      <p:sp>
        <p:nvSpPr>
          <p:cNvPr id="7" name="Text 4"/>
          <p:cNvSpPr/>
          <p:nvPr/>
        </p:nvSpPr>
        <p:spPr>
          <a:xfrm>
            <a:off x="320040" y="2514600"/>
            <a:ext cx="5486400" cy="731520"/>
          </a:xfrm>
          <a:prstGeom prst="rect">
            <a:avLst/>
          </a:prstGeom>
          <a:noFill/>
          <a:ln/>
        </p:spPr>
        <p:txBody>
          <a:bodyPr wrap="square" rtlCol="0" anchor="ctr"/>
          <a:lstStyle/>
          <a:p>
            <a:pPr marL="0" indent="0">
              <a:buNone/>
            </a:pPr>
            <a:r>
              <a:rPr lang="en-US" sz="1400" i="1" dirty="0">
                <a:solidFill>
                  <a:srgbClr val="42A5F5"/>
                </a:solidFill>
                <a:latin typeface="Calibri" pitchFamily="34" charset="0"/>
                <a:ea typeface="Calibri" pitchFamily="34" charset="-122"/>
                <a:cs typeface="Calibri" pitchFamily="34" charset="-120"/>
              </a:rPr>
              <a:t>Standardisation des définitions métier partagées</a:t>
            </a:r>
            <a:endParaRPr lang="en-US" sz="1400" dirty="0"/>
          </a:p>
        </p:txBody>
      </p:sp>
      <p:sp>
        <p:nvSpPr>
          <p:cNvPr id="8" name="Shape 5"/>
          <p:cNvSpPr/>
          <p:nvPr/>
        </p:nvSpPr>
        <p:spPr>
          <a:xfrm>
            <a:off x="320040" y="4114800"/>
            <a:ext cx="1097280" cy="347472"/>
          </a:xfrm>
          <a:prstGeom prst="roundRect">
            <a:avLst>
              <a:gd name="adj" fmla="val 13158"/>
            </a:avLst>
          </a:prstGeom>
          <a:solidFill>
            <a:srgbClr val="F9A825"/>
          </a:solidFill>
          <a:ln w="12700">
            <a:solidFill>
              <a:srgbClr val="F9A825"/>
            </a:solidFill>
            <a:prstDash val="solid"/>
          </a:ln>
        </p:spPr>
      </p:sp>
      <p:sp>
        <p:nvSpPr>
          <p:cNvPr id="9" name="Text 6"/>
          <p:cNvSpPr/>
          <p:nvPr/>
        </p:nvSpPr>
        <p:spPr>
          <a:xfrm>
            <a:off x="320040" y="4114800"/>
            <a:ext cx="1097280" cy="347472"/>
          </a:xfrm>
          <a:prstGeom prst="rect">
            <a:avLst/>
          </a:prstGeom>
          <a:noFill/>
          <a:ln/>
        </p:spPr>
        <p:txBody>
          <a:bodyPr wrap="square" lIns="0" tIns="0" rIns="0" bIns="0" rtlCol="0" anchor="ctr"/>
          <a:lstStyle/>
          <a:p>
            <a:pPr marL="0" indent="0" algn="ctr">
              <a:buNone/>
            </a:pPr>
            <a:r>
              <a:rPr lang="en-US" sz="950" b="1" dirty="0">
                <a:solidFill>
                  <a:srgbClr val="0B1D3A"/>
                </a:solidFill>
              </a:rPr>
              <a:t>ÉTAPE 05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Shape 1"/>
          <p:cNvSpPr/>
          <p:nvPr/>
        </p:nvSpPr>
        <p:spPr>
          <a:xfrm>
            <a:off x="0" y="0"/>
            <a:ext cx="54864" cy="5143500"/>
          </a:xfrm>
          <a:prstGeom prst="rect">
            <a:avLst/>
          </a:prstGeom>
          <a:solidFill>
            <a:srgbClr val="F9A825"/>
          </a:solidFill>
          <a:ln w="12700">
            <a:solidFill>
              <a:srgbClr val="F9A825"/>
            </a:solidFill>
            <a:prstDash val="solid"/>
          </a:ln>
        </p:spPr>
      </p:sp>
      <p:sp>
        <p:nvSpPr>
          <p:cNvPr id="4" name="Text 2"/>
          <p:cNvSpPr/>
          <p:nvPr/>
        </p:nvSpPr>
        <p:spPr>
          <a:xfrm>
            <a:off x="228600" y="137160"/>
            <a:ext cx="8686800" cy="6858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06 – Dictionnaire de Données – Vision Bank</a:t>
            </a:r>
            <a:endParaRPr lang="en-US" sz="2200" dirty="0"/>
          </a:p>
        </p:txBody>
      </p:sp>
      <p:sp>
        <p:nvSpPr>
          <p:cNvPr id="5" name="Shape 3"/>
          <p:cNvSpPr/>
          <p:nvPr/>
        </p:nvSpPr>
        <p:spPr>
          <a:xfrm>
            <a:off x="164592" y="1051560"/>
            <a:ext cx="1554480" cy="438912"/>
          </a:xfrm>
          <a:prstGeom prst="rect">
            <a:avLst/>
          </a:prstGeom>
          <a:solidFill>
            <a:srgbClr val="0B1D3A"/>
          </a:solidFill>
          <a:ln w="12700">
            <a:solidFill>
              <a:srgbClr val="0B1D3A"/>
            </a:solidFill>
            <a:prstDash val="solid"/>
          </a:ln>
        </p:spPr>
      </p:sp>
      <p:sp>
        <p:nvSpPr>
          <p:cNvPr id="6" name="Text 4"/>
          <p:cNvSpPr/>
          <p:nvPr/>
        </p:nvSpPr>
        <p:spPr>
          <a:xfrm>
            <a:off x="164592" y="1051560"/>
            <a:ext cx="1554480" cy="438912"/>
          </a:xfrm>
          <a:prstGeom prst="rect">
            <a:avLst/>
          </a:prstGeom>
          <a:noFill/>
          <a:ln/>
        </p:spPr>
        <p:txBody>
          <a:bodyPr wrap="square" lIns="0" tIns="0" rIns="0" bIns="0" rtlCol="0" anchor="ctr"/>
          <a:lstStyle/>
          <a:p>
            <a:pPr marL="0" indent="0" algn="ctr">
              <a:buNone/>
            </a:pPr>
            <a:r>
              <a:rPr lang="en-US" sz="1000" b="1" dirty="0">
                <a:solidFill>
                  <a:srgbClr val="F9A825"/>
                </a:solidFill>
              </a:rPr>
              <a:t>Donnée</a:t>
            </a:r>
            <a:endParaRPr lang="en-US" sz="1000" dirty="0"/>
          </a:p>
        </p:txBody>
      </p:sp>
      <p:sp>
        <p:nvSpPr>
          <p:cNvPr id="7" name="Shape 5"/>
          <p:cNvSpPr/>
          <p:nvPr/>
        </p:nvSpPr>
        <p:spPr>
          <a:xfrm>
            <a:off x="1737360" y="1051560"/>
            <a:ext cx="3474720" cy="438912"/>
          </a:xfrm>
          <a:prstGeom prst="rect">
            <a:avLst/>
          </a:prstGeom>
          <a:solidFill>
            <a:srgbClr val="0B1D3A"/>
          </a:solidFill>
          <a:ln w="12700">
            <a:solidFill>
              <a:srgbClr val="0B1D3A"/>
            </a:solidFill>
            <a:prstDash val="solid"/>
          </a:ln>
        </p:spPr>
      </p:sp>
      <p:sp>
        <p:nvSpPr>
          <p:cNvPr id="8" name="Text 6"/>
          <p:cNvSpPr/>
          <p:nvPr/>
        </p:nvSpPr>
        <p:spPr>
          <a:xfrm>
            <a:off x="1737360" y="1051560"/>
            <a:ext cx="3474720" cy="438912"/>
          </a:xfrm>
          <a:prstGeom prst="rect">
            <a:avLst/>
          </a:prstGeom>
          <a:noFill/>
          <a:ln/>
        </p:spPr>
        <p:txBody>
          <a:bodyPr wrap="square" lIns="0" tIns="0" rIns="0" bIns="0" rtlCol="0" anchor="ctr"/>
          <a:lstStyle/>
          <a:p>
            <a:pPr marL="0" indent="0" algn="ctr">
              <a:buNone/>
            </a:pPr>
            <a:r>
              <a:rPr lang="en-US" sz="1000" b="1" dirty="0">
                <a:solidFill>
                  <a:srgbClr val="F9A825"/>
                </a:solidFill>
              </a:rPr>
              <a:t>Définition Standard</a:t>
            </a:r>
            <a:endParaRPr lang="en-US" sz="1000" dirty="0"/>
          </a:p>
        </p:txBody>
      </p:sp>
      <p:sp>
        <p:nvSpPr>
          <p:cNvPr id="9" name="Shape 7"/>
          <p:cNvSpPr/>
          <p:nvPr/>
        </p:nvSpPr>
        <p:spPr>
          <a:xfrm>
            <a:off x="5230368" y="1051560"/>
            <a:ext cx="1371600" cy="438912"/>
          </a:xfrm>
          <a:prstGeom prst="rect">
            <a:avLst/>
          </a:prstGeom>
          <a:solidFill>
            <a:srgbClr val="0B1D3A"/>
          </a:solidFill>
          <a:ln w="12700">
            <a:solidFill>
              <a:srgbClr val="0B1D3A"/>
            </a:solidFill>
            <a:prstDash val="solid"/>
          </a:ln>
        </p:spPr>
      </p:sp>
      <p:sp>
        <p:nvSpPr>
          <p:cNvPr id="10" name="Text 8"/>
          <p:cNvSpPr/>
          <p:nvPr/>
        </p:nvSpPr>
        <p:spPr>
          <a:xfrm>
            <a:off x="5230368" y="1051560"/>
            <a:ext cx="1371600" cy="438912"/>
          </a:xfrm>
          <a:prstGeom prst="rect">
            <a:avLst/>
          </a:prstGeom>
          <a:noFill/>
          <a:ln/>
        </p:spPr>
        <p:txBody>
          <a:bodyPr wrap="square" lIns="0" tIns="0" rIns="0" bIns="0" rtlCol="0" anchor="ctr"/>
          <a:lstStyle/>
          <a:p>
            <a:pPr marL="0" indent="0" algn="ctr">
              <a:buNone/>
            </a:pPr>
            <a:r>
              <a:rPr lang="en-US" sz="1000" b="1" dirty="0">
                <a:solidFill>
                  <a:srgbClr val="F9A825"/>
                </a:solidFill>
              </a:rPr>
              <a:t>Source Maître</a:t>
            </a:r>
            <a:endParaRPr lang="en-US" sz="1000" dirty="0"/>
          </a:p>
        </p:txBody>
      </p:sp>
      <p:sp>
        <p:nvSpPr>
          <p:cNvPr id="11" name="Shape 9"/>
          <p:cNvSpPr/>
          <p:nvPr/>
        </p:nvSpPr>
        <p:spPr>
          <a:xfrm>
            <a:off x="6620256" y="1051560"/>
            <a:ext cx="1463040" cy="438912"/>
          </a:xfrm>
          <a:prstGeom prst="rect">
            <a:avLst/>
          </a:prstGeom>
          <a:solidFill>
            <a:srgbClr val="0B1D3A"/>
          </a:solidFill>
          <a:ln w="12700">
            <a:solidFill>
              <a:srgbClr val="0B1D3A"/>
            </a:solidFill>
            <a:prstDash val="solid"/>
          </a:ln>
        </p:spPr>
      </p:sp>
      <p:sp>
        <p:nvSpPr>
          <p:cNvPr id="12" name="Text 10"/>
          <p:cNvSpPr/>
          <p:nvPr/>
        </p:nvSpPr>
        <p:spPr>
          <a:xfrm>
            <a:off x="6620256" y="1051560"/>
            <a:ext cx="1463040" cy="438912"/>
          </a:xfrm>
          <a:prstGeom prst="rect">
            <a:avLst/>
          </a:prstGeom>
          <a:noFill/>
          <a:ln/>
        </p:spPr>
        <p:txBody>
          <a:bodyPr wrap="square" lIns="0" tIns="0" rIns="0" bIns="0" rtlCol="0" anchor="ctr"/>
          <a:lstStyle/>
          <a:p>
            <a:pPr marL="0" indent="0" algn="ctr">
              <a:buNone/>
            </a:pPr>
            <a:r>
              <a:rPr lang="en-US" sz="1000" b="1" dirty="0">
                <a:solidFill>
                  <a:srgbClr val="F9A825"/>
                </a:solidFill>
              </a:rPr>
              <a:t>Propriétaire</a:t>
            </a:r>
            <a:endParaRPr lang="en-US" sz="1000" dirty="0"/>
          </a:p>
        </p:txBody>
      </p:sp>
      <p:sp>
        <p:nvSpPr>
          <p:cNvPr id="13" name="Shape 11"/>
          <p:cNvSpPr/>
          <p:nvPr/>
        </p:nvSpPr>
        <p:spPr>
          <a:xfrm>
            <a:off x="8101584" y="1051560"/>
            <a:ext cx="914400" cy="438912"/>
          </a:xfrm>
          <a:prstGeom prst="rect">
            <a:avLst/>
          </a:prstGeom>
          <a:solidFill>
            <a:srgbClr val="0B1D3A"/>
          </a:solidFill>
          <a:ln w="12700">
            <a:solidFill>
              <a:srgbClr val="0B1D3A"/>
            </a:solidFill>
            <a:prstDash val="solid"/>
          </a:ln>
        </p:spPr>
      </p:sp>
      <p:sp>
        <p:nvSpPr>
          <p:cNvPr id="14" name="Text 12"/>
          <p:cNvSpPr/>
          <p:nvPr/>
        </p:nvSpPr>
        <p:spPr>
          <a:xfrm>
            <a:off x="8101584" y="1051560"/>
            <a:ext cx="914400" cy="438912"/>
          </a:xfrm>
          <a:prstGeom prst="rect">
            <a:avLst/>
          </a:prstGeom>
          <a:noFill/>
          <a:ln/>
        </p:spPr>
        <p:txBody>
          <a:bodyPr wrap="square" lIns="0" tIns="0" rIns="0" bIns="0" rtlCol="0" anchor="ctr"/>
          <a:lstStyle/>
          <a:p>
            <a:pPr marL="0" indent="0" algn="ctr">
              <a:buNone/>
            </a:pPr>
            <a:r>
              <a:rPr lang="en-US" sz="1000" b="1" dirty="0">
                <a:solidFill>
                  <a:srgbClr val="F9A825"/>
                </a:solidFill>
              </a:rPr>
              <a:t>Statut</a:t>
            </a:r>
            <a:endParaRPr lang="en-US" sz="1000" dirty="0"/>
          </a:p>
        </p:txBody>
      </p:sp>
      <p:sp>
        <p:nvSpPr>
          <p:cNvPr id="15" name="Shape 13"/>
          <p:cNvSpPr/>
          <p:nvPr/>
        </p:nvSpPr>
        <p:spPr>
          <a:xfrm>
            <a:off x="164592" y="1490472"/>
            <a:ext cx="1554480" cy="475488"/>
          </a:xfrm>
          <a:prstGeom prst="rect">
            <a:avLst/>
          </a:prstGeom>
          <a:solidFill>
            <a:srgbClr val="FFFFFF"/>
          </a:solidFill>
          <a:ln w="12700">
            <a:solidFill>
              <a:srgbClr val="ECEFF1"/>
            </a:solidFill>
            <a:prstDash val="solid"/>
          </a:ln>
        </p:spPr>
      </p:sp>
      <p:sp>
        <p:nvSpPr>
          <p:cNvPr id="16" name="Text 14"/>
          <p:cNvSpPr/>
          <p:nvPr/>
        </p:nvSpPr>
        <p:spPr>
          <a:xfrm>
            <a:off x="219456" y="1490472"/>
            <a:ext cx="1463040" cy="475488"/>
          </a:xfrm>
          <a:prstGeom prst="rect">
            <a:avLst/>
          </a:prstGeom>
          <a:noFill/>
          <a:ln/>
        </p:spPr>
        <p:txBody>
          <a:bodyPr wrap="square" rtlCol="0" anchor="ctr"/>
          <a:lstStyle/>
          <a:p>
            <a:pPr marL="0" indent="0">
              <a:buNone/>
            </a:pPr>
            <a:r>
              <a:rPr lang="en-US" sz="900" dirty="0">
                <a:solidFill>
                  <a:srgbClr val="455A64"/>
                </a:solidFill>
              </a:rPr>
              <a:t>Client Actif</a:t>
            </a:r>
            <a:endParaRPr lang="en-US" sz="900" dirty="0"/>
          </a:p>
        </p:txBody>
      </p:sp>
      <p:sp>
        <p:nvSpPr>
          <p:cNvPr id="17" name="Shape 15"/>
          <p:cNvSpPr/>
          <p:nvPr/>
        </p:nvSpPr>
        <p:spPr>
          <a:xfrm>
            <a:off x="1737360" y="1490472"/>
            <a:ext cx="3474720" cy="475488"/>
          </a:xfrm>
          <a:prstGeom prst="rect">
            <a:avLst/>
          </a:prstGeom>
          <a:solidFill>
            <a:srgbClr val="FFFFFF"/>
          </a:solidFill>
          <a:ln w="12700">
            <a:solidFill>
              <a:srgbClr val="ECEFF1"/>
            </a:solidFill>
            <a:prstDash val="solid"/>
          </a:ln>
        </p:spPr>
      </p:sp>
      <p:sp>
        <p:nvSpPr>
          <p:cNvPr id="18" name="Text 16"/>
          <p:cNvSpPr/>
          <p:nvPr/>
        </p:nvSpPr>
        <p:spPr>
          <a:xfrm>
            <a:off x="1792224" y="1490472"/>
            <a:ext cx="3383280" cy="475488"/>
          </a:xfrm>
          <a:prstGeom prst="rect">
            <a:avLst/>
          </a:prstGeom>
          <a:noFill/>
          <a:ln/>
        </p:spPr>
        <p:txBody>
          <a:bodyPr wrap="square" rtlCol="0" anchor="ctr"/>
          <a:lstStyle/>
          <a:p>
            <a:pPr marL="0" indent="0">
              <a:buNone/>
            </a:pPr>
            <a:r>
              <a:rPr lang="en-US" sz="900" dirty="0">
                <a:solidFill>
                  <a:srgbClr val="455A64"/>
                </a:solidFill>
              </a:rPr>
              <a:t>Client ayant réalisé au moins 1 opération dans les 90 derniers jours</a:t>
            </a:r>
            <a:endParaRPr lang="en-US" sz="900" dirty="0"/>
          </a:p>
        </p:txBody>
      </p:sp>
      <p:sp>
        <p:nvSpPr>
          <p:cNvPr id="19" name="Shape 17"/>
          <p:cNvSpPr/>
          <p:nvPr/>
        </p:nvSpPr>
        <p:spPr>
          <a:xfrm>
            <a:off x="5230368" y="1490472"/>
            <a:ext cx="1371600" cy="475488"/>
          </a:xfrm>
          <a:prstGeom prst="rect">
            <a:avLst/>
          </a:prstGeom>
          <a:solidFill>
            <a:srgbClr val="FFFFFF"/>
          </a:solidFill>
          <a:ln w="12700">
            <a:solidFill>
              <a:srgbClr val="ECEFF1"/>
            </a:solidFill>
            <a:prstDash val="solid"/>
          </a:ln>
        </p:spPr>
      </p:sp>
      <p:sp>
        <p:nvSpPr>
          <p:cNvPr id="20" name="Text 18"/>
          <p:cNvSpPr/>
          <p:nvPr/>
        </p:nvSpPr>
        <p:spPr>
          <a:xfrm>
            <a:off x="5285232" y="1490472"/>
            <a:ext cx="1280160" cy="475488"/>
          </a:xfrm>
          <a:prstGeom prst="rect">
            <a:avLst/>
          </a:prstGeom>
          <a:noFill/>
          <a:ln/>
        </p:spPr>
        <p:txBody>
          <a:bodyPr wrap="square" rtlCol="0" anchor="ctr"/>
          <a:lstStyle/>
          <a:p>
            <a:pPr marL="0" indent="0">
              <a:buNone/>
            </a:pPr>
            <a:r>
              <a:rPr lang="en-US" sz="900" dirty="0">
                <a:solidFill>
                  <a:srgbClr val="455A64"/>
                </a:solidFill>
              </a:rPr>
              <a:t>CBS</a:t>
            </a:r>
            <a:endParaRPr lang="en-US" sz="900" dirty="0"/>
          </a:p>
        </p:txBody>
      </p:sp>
      <p:sp>
        <p:nvSpPr>
          <p:cNvPr id="21" name="Shape 19"/>
          <p:cNvSpPr/>
          <p:nvPr/>
        </p:nvSpPr>
        <p:spPr>
          <a:xfrm>
            <a:off x="6620256" y="1490472"/>
            <a:ext cx="1463040" cy="475488"/>
          </a:xfrm>
          <a:prstGeom prst="rect">
            <a:avLst/>
          </a:prstGeom>
          <a:solidFill>
            <a:srgbClr val="FFFFFF"/>
          </a:solidFill>
          <a:ln w="12700">
            <a:solidFill>
              <a:srgbClr val="ECEFF1"/>
            </a:solidFill>
            <a:prstDash val="solid"/>
          </a:ln>
        </p:spPr>
      </p:sp>
      <p:sp>
        <p:nvSpPr>
          <p:cNvPr id="22" name="Text 20"/>
          <p:cNvSpPr/>
          <p:nvPr/>
        </p:nvSpPr>
        <p:spPr>
          <a:xfrm>
            <a:off x="6675120" y="1490472"/>
            <a:ext cx="1371600" cy="475488"/>
          </a:xfrm>
          <a:prstGeom prst="rect">
            <a:avLst/>
          </a:prstGeom>
          <a:noFill/>
          <a:ln/>
        </p:spPr>
        <p:txBody>
          <a:bodyPr wrap="square" rtlCol="0" anchor="ctr"/>
          <a:lstStyle/>
          <a:p>
            <a:pPr marL="0" indent="0">
              <a:buNone/>
            </a:pPr>
            <a:r>
              <a:rPr lang="en-US" sz="900" dirty="0">
                <a:solidFill>
                  <a:srgbClr val="455A64"/>
                </a:solidFill>
              </a:rPr>
              <a:t>Dir. Commercial</a:t>
            </a:r>
            <a:endParaRPr lang="en-US" sz="900" dirty="0"/>
          </a:p>
        </p:txBody>
      </p:sp>
      <p:sp>
        <p:nvSpPr>
          <p:cNvPr id="23" name="Shape 21"/>
          <p:cNvSpPr/>
          <p:nvPr/>
        </p:nvSpPr>
        <p:spPr>
          <a:xfrm>
            <a:off x="8101584" y="1490472"/>
            <a:ext cx="914400" cy="475488"/>
          </a:xfrm>
          <a:prstGeom prst="rect">
            <a:avLst/>
          </a:prstGeom>
          <a:solidFill>
            <a:srgbClr val="FFFFFF"/>
          </a:solidFill>
          <a:ln w="12700">
            <a:solidFill>
              <a:srgbClr val="ECEFF1"/>
            </a:solidFill>
            <a:prstDash val="solid"/>
          </a:ln>
        </p:spPr>
      </p:sp>
      <p:sp>
        <p:nvSpPr>
          <p:cNvPr id="24" name="Text 22"/>
          <p:cNvSpPr/>
          <p:nvPr/>
        </p:nvSpPr>
        <p:spPr>
          <a:xfrm>
            <a:off x="8156448" y="1490472"/>
            <a:ext cx="822960" cy="475488"/>
          </a:xfrm>
          <a:prstGeom prst="rect">
            <a:avLst/>
          </a:prstGeom>
          <a:noFill/>
          <a:ln/>
        </p:spPr>
        <p:txBody>
          <a:bodyPr wrap="square" rtlCol="0" anchor="ctr"/>
          <a:lstStyle/>
          <a:p>
            <a:pPr marL="0" indent="0">
              <a:buNone/>
            </a:pPr>
            <a:r>
              <a:rPr lang="en-US" sz="900" b="1" dirty="0">
                <a:solidFill>
                  <a:srgbClr val="2E7D32"/>
                </a:solidFill>
              </a:rPr>
              <a:t>✔ Validé</a:t>
            </a:r>
            <a:endParaRPr lang="en-US" sz="900" dirty="0"/>
          </a:p>
        </p:txBody>
      </p:sp>
      <p:sp>
        <p:nvSpPr>
          <p:cNvPr id="25" name="Shape 23"/>
          <p:cNvSpPr/>
          <p:nvPr/>
        </p:nvSpPr>
        <p:spPr>
          <a:xfrm>
            <a:off x="164592" y="1965960"/>
            <a:ext cx="1554480" cy="475488"/>
          </a:xfrm>
          <a:prstGeom prst="rect">
            <a:avLst/>
          </a:prstGeom>
          <a:solidFill>
            <a:srgbClr val="F4F6FB"/>
          </a:solidFill>
          <a:ln w="12700">
            <a:solidFill>
              <a:srgbClr val="ECEFF1"/>
            </a:solidFill>
            <a:prstDash val="solid"/>
          </a:ln>
        </p:spPr>
      </p:sp>
      <p:sp>
        <p:nvSpPr>
          <p:cNvPr id="26" name="Text 24"/>
          <p:cNvSpPr/>
          <p:nvPr/>
        </p:nvSpPr>
        <p:spPr>
          <a:xfrm>
            <a:off x="219456" y="1965960"/>
            <a:ext cx="1463040" cy="475488"/>
          </a:xfrm>
          <a:prstGeom prst="rect">
            <a:avLst/>
          </a:prstGeom>
          <a:noFill/>
          <a:ln/>
        </p:spPr>
        <p:txBody>
          <a:bodyPr wrap="square" rtlCol="0" anchor="ctr"/>
          <a:lstStyle/>
          <a:p>
            <a:pPr marL="0" indent="0">
              <a:buNone/>
            </a:pPr>
            <a:r>
              <a:rPr lang="en-US" sz="900" dirty="0">
                <a:solidFill>
                  <a:srgbClr val="455A64"/>
                </a:solidFill>
              </a:rPr>
              <a:t>Compte Actif</a:t>
            </a:r>
            <a:endParaRPr lang="en-US" sz="900" dirty="0"/>
          </a:p>
        </p:txBody>
      </p:sp>
      <p:sp>
        <p:nvSpPr>
          <p:cNvPr id="27" name="Shape 25"/>
          <p:cNvSpPr/>
          <p:nvPr/>
        </p:nvSpPr>
        <p:spPr>
          <a:xfrm>
            <a:off x="1737360" y="1965960"/>
            <a:ext cx="3474720" cy="475488"/>
          </a:xfrm>
          <a:prstGeom prst="rect">
            <a:avLst/>
          </a:prstGeom>
          <a:solidFill>
            <a:srgbClr val="F4F6FB"/>
          </a:solidFill>
          <a:ln w="12700">
            <a:solidFill>
              <a:srgbClr val="ECEFF1"/>
            </a:solidFill>
            <a:prstDash val="solid"/>
          </a:ln>
        </p:spPr>
      </p:sp>
      <p:sp>
        <p:nvSpPr>
          <p:cNvPr id="28" name="Text 26"/>
          <p:cNvSpPr/>
          <p:nvPr/>
        </p:nvSpPr>
        <p:spPr>
          <a:xfrm>
            <a:off x="1792224" y="1965960"/>
            <a:ext cx="3383280" cy="475488"/>
          </a:xfrm>
          <a:prstGeom prst="rect">
            <a:avLst/>
          </a:prstGeom>
          <a:noFill/>
          <a:ln/>
        </p:spPr>
        <p:txBody>
          <a:bodyPr wrap="square" rtlCol="0" anchor="ctr"/>
          <a:lstStyle/>
          <a:p>
            <a:pPr marL="0" indent="0">
              <a:buNone/>
            </a:pPr>
            <a:r>
              <a:rPr lang="en-US" sz="900" dirty="0">
                <a:solidFill>
                  <a:srgbClr val="455A64"/>
                </a:solidFill>
              </a:rPr>
              <a:t>Compte enregistrant une transaction dans les 30 derniers jours</a:t>
            </a:r>
            <a:endParaRPr lang="en-US" sz="900" dirty="0"/>
          </a:p>
        </p:txBody>
      </p:sp>
      <p:sp>
        <p:nvSpPr>
          <p:cNvPr id="29" name="Shape 27"/>
          <p:cNvSpPr/>
          <p:nvPr/>
        </p:nvSpPr>
        <p:spPr>
          <a:xfrm>
            <a:off x="5230368" y="1965960"/>
            <a:ext cx="1371600" cy="475488"/>
          </a:xfrm>
          <a:prstGeom prst="rect">
            <a:avLst/>
          </a:prstGeom>
          <a:solidFill>
            <a:srgbClr val="F4F6FB"/>
          </a:solidFill>
          <a:ln w="12700">
            <a:solidFill>
              <a:srgbClr val="ECEFF1"/>
            </a:solidFill>
            <a:prstDash val="solid"/>
          </a:ln>
        </p:spPr>
      </p:sp>
      <p:sp>
        <p:nvSpPr>
          <p:cNvPr id="30" name="Text 28"/>
          <p:cNvSpPr/>
          <p:nvPr/>
        </p:nvSpPr>
        <p:spPr>
          <a:xfrm>
            <a:off x="5285232" y="1965960"/>
            <a:ext cx="1280160" cy="475488"/>
          </a:xfrm>
          <a:prstGeom prst="rect">
            <a:avLst/>
          </a:prstGeom>
          <a:noFill/>
          <a:ln/>
        </p:spPr>
        <p:txBody>
          <a:bodyPr wrap="square" rtlCol="0" anchor="ctr"/>
          <a:lstStyle/>
          <a:p>
            <a:pPr marL="0" indent="0">
              <a:buNone/>
            </a:pPr>
            <a:r>
              <a:rPr lang="en-US" sz="900" dirty="0">
                <a:solidFill>
                  <a:srgbClr val="455A64"/>
                </a:solidFill>
              </a:rPr>
              <a:t>CBS</a:t>
            </a:r>
            <a:endParaRPr lang="en-US" sz="900" dirty="0"/>
          </a:p>
        </p:txBody>
      </p:sp>
      <p:sp>
        <p:nvSpPr>
          <p:cNvPr id="31" name="Shape 29"/>
          <p:cNvSpPr/>
          <p:nvPr/>
        </p:nvSpPr>
        <p:spPr>
          <a:xfrm>
            <a:off x="6620256" y="1965960"/>
            <a:ext cx="1463040" cy="475488"/>
          </a:xfrm>
          <a:prstGeom prst="rect">
            <a:avLst/>
          </a:prstGeom>
          <a:solidFill>
            <a:srgbClr val="F4F6FB"/>
          </a:solidFill>
          <a:ln w="12700">
            <a:solidFill>
              <a:srgbClr val="ECEFF1"/>
            </a:solidFill>
            <a:prstDash val="solid"/>
          </a:ln>
        </p:spPr>
      </p:sp>
      <p:sp>
        <p:nvSpPr>
          <p:cNvPr id="32" name="Text 30"/>
          <p:cNvSpPr/>
          <p:nvPr/>
        </p:nvSpPr>
        <p:spPr>
          <a:xfrm>
            <a:off x="6675120" y="1965960"/>
            <a:ext cx="1371600" cy="475488"/>
          </a:xfrm>
          <a:prstGeom prst="rect">
            <a:avLst/>
          </a:prstGeom>
          <a:noFill/>
          <a:ln/>
        </p:spPr>
        <p:txBody>
          <a:bodyPr wrap="square" rtlCol="0" anchor="ctr"/>
          <a:lstStyle/>
          <a:p>
            <a:pPr marL="0" indent="0">
              <a:buNone/>
            </a:pPr>
            <a:r>
              <a:rPr lang="en-US" sz="900" dirty="0">
                <a:solidFill>
                  <a:srgbClr val="455A64"/>
                </a:solidFill>
              </a:rPr>
              <a:t>Dir. Opérations</a:t>
            </a:r>
            <a:endParaRPr lang="en-US" sz="900" dirty="0"/>
          </a:p>
        </p:txBody>
      </p:sp>
      <p:sp>
        <p:nvSpPr>
          <p:cNvPr id="33" name="Shape 31"/>
          <p:cNvSpPr/>
          <p:nvPr/>
        </p:nvSpPr>
        <p:spPr>
          <a:xfrm>
            <a:off x="8101584" y="1965960"/>
            <a:ext cx="914400" cy="475488"/>
          </a:xfrm>
          <a:prstGeom prst="rect">
            <a:avLst/>
          </a:prstGeom>
          <a:solidFill>
            <a:srgbClr val="F4F6FB"/>
          </a:solidFill>
          <a:ln w="12700">
            <a:solidFill>
              <a:srgbClr val="ECEFF1"/>
            </a:solidFill>
            <a:prstDash val="solid"/>
          </a:ln>
        </p:spPr>
      </p:sp>
      <p:sp>
        <p:nvSpPr>
          <p:cNvPr id="34" name="Text 32"/>
          <p:cNvSpPr/>
          <p:nvPr/>
        </p:nvSpPr>
        <p:spPr>
          <a:xfrm>
            <a:off x="8156448" y="1965960"/>
            <a:ext cx="822960" cy="475488"/>
          </a:xfrm>
          <a:prstGeom prst="rect">
            <a:avLst/>
          </a:prstGeom>
          <a:noFill/>
          <a:ln/>
        </p:spPr>
        <p:txBody>
          <a:bodyPr wrap="square" rtlCol="0" anchor="ctr"/>
          <a:lstStyle/>
          <a:p>
            <a:pPr marL="0" indent="0">
              <a:buNone/>
            </a:pPr>
            <a:r>
              <a:rPr lang="en-US" sz="900" b="1" dirty="0">
                <a:solidFill>
                  <a:srgbClr val="2E7D32"/>
                </a:solidFill>
              </a:rPr>
              <a:t>✔ Validé</a:t>
            </a:r>
            <a:endParaRPr lang="en-US" sz="900" dirty="0"/>
          </a:p>
        </p:txBody>
      </p:sp>
      <p:sp>
        <p:nvSpPr>
          <p:cNvPr id="35" name="Shape 33"/>
          <p:cNvSpPr/>
          <p:nvPr/>
        </p:nvSpPr>
        <p:spPr>
          <a:xfrm>
            <a:off x="164592" y="2441448"/>
            <a:ext cx="1554480" cy="475488"/>
          </a:xfrm>
          <a:prstGeom prst="rect">
            <a:avLst/>
          </a:prstGeom>
          <a:solidFill>
            <a:srgbClr val="FFFFFF"/>
          </a:solidFill>
          <a:ln w="12700">
            <a:solidFill>
              <a:srgbClr val="ECEFF1"/>
            </a:solidFill>
            <a:prstDash val="solid"/>
          </a:ln>
        </p:spPr>
      </p:sp>
      <p:sp>
        <p:nvSpPr>
          <p:cNvPr id="36" name="Text 34"/>
          <p:cNvSpPr/>
          <p:nvPr/>
        </p:nvSpPr>
        <p:spPr>
          <a:xfrm>
            <a:off x="219456" y="2441448"/>
            <a:ext cx="1463040" cy="475488"/>
          </a:xfrm>
          <a:prstGeom prst="rect">
            <a:avLst/>
          </a:prstGeom>
          <a:noFill/>
          <a:ln/>
        </p:spPr>
        <p:txBody>
          <a:bodyPr wrap="square" rtlCol="0" anchor="ctr"/>
          <a:lstStyle/>
          <a:p>
            <a:pPr marL="0" indent="0">
              <a:buNone/>
            </a:pPr>
            <a:r>
              <a:rPr lang="en-US" sz="900" dirty="0">
                <a:solidFill>
                  <a:srgbClr val="455A64"/>
                </a:solidFill>
              </a:rPr>
              <a:t>Crédit en Cours</a:t>
            </a:r>
            <a:endParaRPr lang="en-US" sz="900" dirty="0"/>
          </a:p>
        </p:txBody>
      </p:sp>
      <p:sp>
        <p:nvSpPr>
          <p:cNvPr id="37" name="Shape 35"/>
          <p:cNvSpPr/>
          <p:nvPr/>
        </p:nvSpPr>
        <p:spPr>
          <a:xfrm>
            <a:off x="1737360" y="2441448"/>
            <a:ext cx="3474720" cy="475488"/>
          </a:xfrm>
          <a:prstGeom prst="rect">
            <a:avLst/>
          </a:prstGeom>
          <a:solidFill>
            <a:srgbClr val="FFFFFF"/>
          </a:solidFill>
          <a:ln w="12700">
            <a:solidFill>
              <a:srgbClr val="ECEFF1"/>
            </a:solidFill>
            <a:prstDash val="solid"/>
          </a:ln>
        </p:spPr>
      </p:sp>
      <p:sp>
        <p:nvSpPr>
          <p:cNvPr id="38" name="Text 36"/>
          <p:cNvSpPr/>
          <p:nvPr/>
        </p:nvSpPr>
        <p:spPr>
          <a:xfrm>
            <a:off x="1792224" y="2441448"/>
            <a:ext cx="3383280" cy="475488"/>
          </a:xfrm>
          <a:prstGeom prst="rect">
            <a:avLst/>
          </a:prstGeom>
          <a:noFill/>
          <a:ln/>
        </p:spPr>
        <p:txBody>
          <a:bodyPr wrap="square" rtlCol="0" anchor="ctr"/>
          <a:lstStyle/>
          <a:p>
            <a:pPr marL="0" indent="0">
              <a:buNone/>
            </a:pPr>
            <a:r>
              <a:rPr lang="en-US" sz="900" dirty="0">
                <a:solidFill>
                  <a:srgbClr val="455A64"/>
                </a:solidFill>
              </a:rPr>
              <a:t>Montant restant dû d'un prêt, hors intérêts non échus</a:t>
            </a:r>
            <a:endParaRPr lang="en-US" sz="900" dirty="0"/>
          </a:p>
        </p:txBody>
      </p:sp>
      <p:sp>
        <p:nvSpPr>
          <p:cNvPr id="39" name="Shape 37"/>
          <p:cNvSpPr/>
          <p:nvPr/>
        </p:nvSpPr>
        <p:spPr>
          <a:xfrm>
            <a:off x="5230368" y="2441448"/>
            <a:ext cx="1371600" cy="475488"/>
          </a:xfrm>
          <a:prstGeom prst="rect">
            <a:avLst/>
          </a:prstGeom>
          <a:solidFill>
            <a:srgbClr val="FFFFFF"/>
          </a:solidFill>
          <a:ln w="12700">
            <a:solidFill>
              <a:srgbClr val="ECEFF1"/>
            </a:solidFill>
            <a:prstDash val="solid"/>
          </a:ln>
        </p:spPr>
      </p:sp>
      <p:sp>
        <p:nvSpPr>
          <p:cNvPr id="40" name="Text 38"/>
          <p:cNvSpPr/>
          <p:nvPr/>
        </p:nvSpPr>
        <p:spPr>
          <a:xfrm>
            <a:off x="5285232" y="2441448"/>
            <a:ext cx="1280160" cy="475488"/>
          </a:xfrm>
          <a:prstGeom prst="rect">
            <a:avLst/>
          </a:prstGeom>
          <a:noFill/>
          <a:ln/>
        </p:spPr>
        <p:txBody>
          <a:bodyPr wrap="square" rtlCol="0" anchor="ctr"/>
          <a:lstStyle/>
          <a:p>
            <a:pPr marL="0" indent="0">
              <a:buNone/>
            </a:pPr>
            <a:r>
              <a:rPr lang="en-US" sz="900" dirty="0">
                <a:solidFill>
                  <a:srgbClr val="455A64"/>
                </a:solidFill>
              </a:rPr>
              <a:t>Syst. Crédits</a:t>
            </a:r>
            <a:endParaRPr lang="en-US" sz="900" dirty="0"/>
          </a:p>
        </p:txBody>
      </p:sp>
      <p:sp>
        <p:nvSpPr>
          <p:cNvPr id="41" name="Shape 39"/>
          <p:cNvSpPr/>
          <p:nvPr/>
        </p:nvSpPr>
        <p:spPr>
          <a:xfrm>
            <a:off x="6620256" y="2441448"/>
            <a:ext cx="1463040" cy="475488"/>
          </a:xfrm>
          <a:prstGeom prst="rect">
            <a:avLst/>
          </a:prstGeom>
          <a:solidFill>
            <a:srgbClr val="FFFFFF"/>
          </a:solidFill>
          <a:ln w="12700">
            <a:solidFill>
              <a:srgbClr val="ECEFF1"/>
            </a:solidFill>
            <a:prstDash val="solid"/>
          </a:ln>
        </p:spPr>
      </p:sp>
      <p:sp>
        <p:nvSpPr>
          <p:cNvPr id="42" name="Text 40"/>
          <p:cNvSpPr/>
          <p:nvPr/>
        </p:nvSpPr>
        <p:spPr>
          <a:xfrm>
            <a:off x="6675120" y="2441448"/>
            <a:ext cx="1371600" cy="475488"/>
          </a:xfrm>
          <a:prstGeom prst="rect">
            <a:avLst/>
          </a:prstGeom>
          <a:noFill/>
          <a:ln/>
        </p:spPr>
        <p:txBody>
          <a:bodyPr wrap="square" rtlCol="0" anchor="ctr"/>
          <a:lstStyle/>
          <a:p>
            <a:pPr marL="0" indent="0">
              <a:buNone/>
            </a:pPr>
            <a:r>
              <a:rPr lang="en-US" sz="900" dirty="0">
                <a:solidFill>
                  <a:srgbClr val="455A64"/>
                </a:solidFill>
              </a:rPr>
              <a:t>Dir. Crédit</a:t>
            </a:r>
            <a:endParaRPr lang="en-US" sz="900" dirty="0"/>
          </a:p>
        </p:txBody>
      </p:sp>
      <p:sp>
        <p:nvSpPr>
          <p:cNvPr id="43" name="Shape 41"/>
          <p:cNvSpPr/>
          <p:nvPr/>
        </p:nvSpPr>
        <p:spPr>
          <a:xfrm>
            <a:off x="8101584" y="2441448"/>
            <a:ext cx="914400" cy="475488"/>
          </a:xfrm>
          <a:prstGeom prst="rect">
            <a:avLst/>
          </a:prstGeom>
          <a:solidFill>
            <a:srgbClr val="FFFFFF"/>
          </a:solidFill>
          <a:ln w="12700">
            <a:solidFill>
              <a:srgbClr val="ECEFF1"/>
            </a:solidFill>
            <a:prstDash val="solid"/>
          </a:ln>
        </p:spPr>
      </p:sp>
      <p:sp>
        <p:nvSpPr>
          <p:cNvPr id="44" name="Text 42"/>
          <p:cNvSpPr/>
          <p:nvPr/>
        </p:nvSpPr>
        <p:spPr>
          <a:xfrm>
            <a:off x="8156448" y="2441448"/>
            <a:ext cx="822960" cy="475488"/>
          </a:xfrm>
          <a:prstGeom prst="rect">
            <a:avLst/>
          </a:prstGeom>
          <a:noFill/>
          <a:ln/>
        </p:spPr>
        <p:txBody>
          <a:bodyPr wrap="square" rtlCol="0" anchor="ctr"/>
          <a:lstStyle/>
          <a:p>
            <a:pPr marL="0" indent="0">
              <a:buNone/>
            </a:pPr>
            <a:r>
              <a:rPr lang="en-US" sz="900" b="1" dirty="0">
                <a:solidFill>
                  <a:srgbClr val="2E7D32"/>
                </a:solidFill>
              </a:rPr>
              <a:t>✔ Validé</a:t>
            </a:r>
            <a:endParaRPr lang="en-US" sz="900" dirty="0"/>
          </a:p>
        </p:txBody>
      </p:sp>
      <p:sp>
        <p:nvSpPr>
          <p:cNvPr id="45" name="Shape 43"/>
          <p:cNvSpPr/>
          <p:nvPr/>
        </p:nvSpPr>
        <p:spPr>
          <a:xfrm>
            <a:off x="164592" y="2916936"/>
            <a:ext cx="1554480" cy="475488"/>
          </a:xfrm>
          <a:prstGeom prst="rect">
            <a:avLst/>
          </a:prstGeom>
          <a:solidFill>
            <a:srgbClr val="F4F6FB"/>
          </a:solidFill>
          <a:ln w="12700">
            <a:solidFill>
              <a:srgbClr val="ECEFF1"/>
            </a:solidFill>
            <a:prstDash val="solid"/>
          </a:ln>
        </p:spPr>
      </p:sp>
      <p:sp>
        <p:nvSpPr>
          <p:cNvPr id="46" name="Text 44"/>
          <p:cNvSpPr/>
          <p:nvPr/>
        </p:nvSpPr>
        <p:spPr>
          <a:xfrm>
            <a:off x="219456" y="2916936"/>
            <a:ext cx="1463040" cy="475488"/>
          </a:xfrm>
          <a:prstGeom prst="rect">
            <a:avLst/>
          </a:prstGeom>
          <a:noFill/>
          <a:ln/>
        </p:spPr>
        <p:txBody>
          <a:bodyPr wrap="square" rtlCol="0" anchor="ctr"/>
          <a:lstStyle/>
          <a:p>
            <a:pPr marL="0" indent="0">
              <a:buNone/>
            </a:pPr>
            <a:r>
              <a:rPr lang="en-US" sz="900" dirty="0">
                <a:solidFill>
                  <a:srgbClr val="455A64"/>
                </a:solidFill>
              </a:rPr>
              <a:t>Agence</a:t>
            </a:r>
            <a:endParaRPr lang="en-US" sz="900" dirty="0"/>
          </a:p>
        </p:txBody>
      </p:sp>
      <p:sp>
        <p:nvSpPr>
          <p:cNvPr id="47" name="Shape 45"/>
          <p:cNvSpPr/>
          <p:nvPr/>
        </p:nvSpPr>
        <p:spPr>
          <a:xfrm>
            <a:off x="1737360" y="2916936"/>
            <a:ext cx="3474720" cy="475488"/>
          </a:xfrm>
          <a:prstGeom prst="rect">
            <a:avLst/>
          </a:prstGeom>
          <a:solidFill>
            <a:srgbClr val="F4F6FB"/>
          </a:solidFill>
          <a:ln w="12700">
            <a:solidFill>
              <a:srgbClr val="ECEFF1"/>
            </a:solidFill>
            <a:prstDash val="solid"/>
          </a:ln>
        </p:spPr>
      </p:sp>
      <p:sp>
        <p:nvSpPr>
          <p:cNvPr id="48" name="Text 46"/>
          <p:cNvSpPr/>
          <p:nvPr/>
        </p:nvSpPr>
        <p:spPr>
          <a:xfrm>
            <a:off x="1792224" y="2916936"/>
            <a:ext cx="3383280" cy="475488"/>
          </a:xfrm>
          <a:prstGeom prst="rect">
            <a:avLst/>
          </a:prstGeom>
          <a:noFill/>
          <a:ln/>
        </p:spPr>
        <p:txBody>
          <a:bodyPr wrap="square" rtlCol="0" anchor="ctr"/>
          <a:lstStyle/>
          <a:p>
            <a:pPr marL="0" indent="0">
              <a:buNone/>
            </a:pPr>
            <a:r>
              <a:rPr lang="en-US" sz="900" dirty="0">
                <a:solidFill>
                  <a:srgbClr val="455A64"/>
                </a:solidFill>
              </a:rPr>
              <a:t>Unité opérationnelle identifiée par un code unique national</a:t>
            </a:r>
            <a:endParaRPr lang="en-US" sz="900" dirty="0"/>
          </a:p>
        </p:txBody>
      </p:sp>
      <p:sp>
        <p:nvSpPr>
          <p:cNvPr id="49" name="Shape 47"/>
          <p:cNvSpPr/>
          <p:nvPr/>
        </p:nvSpPr>
        <p:spPr>
          <a:xfrm>
            <a:off x="5230368" y="2916936"/>
            <a:ext cx="1371600" cy="475488"/>
          </a:xfrm>
          <a:prstGeom prst="rect">
            <a:avLst/>
          </a:prstGeom>
          <a:solidFill>
            <a:srgbClr val="F4F6FB"/>
          </a:solidFill>
          <a:ln w="12700">
            <a:solidFill>
              <a:srgbClr val="ECEFF1"/>
            </a:solidFill>
            <a:prstDash val="solid"/>
          </a:ln>
        </p:spPr>
      </p:sp>
      <p:sp>
        <p:nvSpPr>
          <p:cNvPr id="50" name="Text 48"/>
          <p:cNvSpPr/>
          <p:nvPr/>
        </p:nvSpPr>
        <p:spPr>
          <a:xfrm>
            <a:off x="5285232" y="2916936"/>
            <a:ext cx="1280160" cy="475488"/>
          </a:xfrm>
          <a:prstGeom prst="rect">
            <a:avLst/>
          </a:prstGeom>
          <a:noFill/>
          <a:ln/>
        </p:spPr>
        <p:txBody>
          <a:bodyPr wrap="square" rtlCol="0" anchor="ctr"/>
          <a:lstStyle/>
          <a:p>
            <a:pPr marL="0" indent="0">
              <a:buNone/>
            </a:pPr>
            <a:r>
              <a:rPr lang="en-US" sz="900" dirty="0">
                <a:solidFill>
                  <a:srgbClr val="455A64"/>
                </a:solidFill>
              </a:rPr>
              <a:t>CBS</a:t>
            </a:r>
            <a:endParaRPr lang="en-US" sz="900" dirty="0"/>
          </a:p>
        </p:txBody>
      </p:sp>
      <p:sp>
        <p:nvSpPr>
          <p:cNvPr id="51" name="Shape 49"/>
          <p:cNvSpPr/>
          <p:nvPr/>
        </p:nvSpPr>
        <p:spPr>
          <a:xfrm>
            <a:off x="6620256" y="2916936"/>
            <a:ext cx="1463040" cy="475488"/>
          </a:xfrm>
          <a:prstGeom prst="rect">
            <a:avLst/>
          </a:prstGeom>
          <a:solidFill>
            <a:srgbClr val="F4F6FB"/>
          </a:solidFill>
          <a:ln w="12700">
            <a:solidFill>
              <a:srgbClr val="ECEFF1"/>
            </a:solidFill>
            <a:prstDash val="solid"/>
          </a:ln>
        </p:spPr>
      </p:sp>
      <p:sp>
        <p:nvSpPr>
          <p:cNvPr id="52" name="Text 50"/>
          <p:cNvSpPr/>
          <p:nvPr/>
        </p:nvSpPr>
        <p:spPr>
          <a:xfrm>
            <a:off x="6675120" y="2916936"/>
            <a:ext cx="1371600" cy="475488"/>
          </a:xfrm>
          <a:prstGeom prst="rect">
            <a:avLst/>
          </a:prstGeom>
          <a:noFill/>
          <a:ln/>
        </p:spPr>
        <p:txBody>
          <a:bodyPr wrap="square" rtlCol="0" anchor="ctr"/>
          <a:lstStyle/>
          <a:p>
            <a:pPr marL="0" indent="0">
              <a:buNone/>
            </a:pPr>
            <a:r>
              <a:rPr lang="en-US" sz="900" dirty="0">
                <a:solidFill>
                  <a:srgbClr val="455A64"/>
                </a:solidFill>
              </a:rPr>
              <a:t>Dir. Réseau</a:t>
            </a:r>
            <a:endParaRPr lang="en-US" sz="900" dirty="0"/>
          </a:p>
        </p:txBody>
      </p:sp>
      <p:sp>
        <p:nvSpPr>
          <p:cNvPr id="53" name="Shape 51"/>
          <p:cNvSpPr/>
          <p:nvPr/>
        </p:nvSpPr>
        <p:spPr>
          <a:xfrm>
            <a:off x="8101584" y="2916936"/>
            <a:ext cx="914400" cy="475488"/>
          </a:xfrm>
          <a:prstGeom prst="rect">
            <a:avLst/>
          </a:prstGeom>
          <a:solidFill>
            <a:srgbClr val="F4F6FB"/>
          </a:solidFill>
          <a:ln w="12700">
            <a:solidFill>
              <a:srgbClr val="ECEFF1"/>
            </a:solidFill>
            <a:prstDash val="solid"/>
          </a:ln>
        </p:spPr>
      </p:sp>
      <p:sp>
        <p:nvSpPr>
          <p:cNvPr id="54" name="Text 52"/>
          <p:cNvSpPr/>
          <p:nvPr/>
        </p:nvSpPr>
        <p:spPr>
          <a:xfrm>
            <a:off x="8156448" y="2916936"/>
            <a:ext cx="822960" cy="475488"/>
          </a:xfrm>
          <a:prstGeom prst="rect">
            <a:avLst/>
          </a:prstGeom>
          <a:noFill/>
          <a:ln/>
        </p:spPr>
        <p:txBody>
          <a:bodyPr wrap="square" rtlCol="0" anchor="ctr"/>
          <a:lstStyle/>
          <a:p>
            <a:pPr marL="0" indent="0">
              <a:buNone/>
            </a:pPr>
            <a:r>
              <a:rPr lang="en-US" sz="900" b="1" dirty="0">
                <a:solidFill>
                  <a:srgbClr val="2E7D32"/>
                </a:solidFill>
              </a:rPr>
              <a:t>✔ Validé</a:t>
            </a:r>
            <a:endParaRPr lang="en-US" sz="900" dirty="0"/>
          </a:p>
        </p:txBody>
      </p:sp>
      <p:sp>
        <p:nvSpPr>
          <p:cNvPr id="55" name="Shape 53"/>
          <p:cNvSpPr/>
          <p:nvPr/>
        </p:nvSpPr>
        <p:spPr>
          <a:xfrm>
            <a:off x="164592" y="3392424"/>
            <a:ext cx="1554480" cy="475488"/>
          </a:xfrm>
          <a:prstGeom prst="rect">
            <a:avLst/>
          </a:prstGeom>
          <a:solidFill>
            <a:srgbClr val="FFFFFF"/>
          </a:solidFill>
          <a:ln w="12700">
            <a:solidFill>
              <a:srgbClr val="ECEFF1"/>
            </a:solidFill>
            <a:prstDash val="solid"/>
          </a:ln>
        </p:spPr>
      </p:sp>
      <p:sp>
        <p:nvSpPr>
          <p:cNvPr id="56" name="Text 54"/>
          <p:cNvSpPr/>
          <p:nvPr/>
        </p:nvSpPr>
        <p:spPr>
          <a:xfrm>
            <a:off x="219456" y="3392424"/>
            <a:ext cx="1463040" cy="475488"/>
          </a:xfrm>
          <a:prstGeom prst="rect">
            <a:avLst/>
          </a:prstGeom>
          <a:noFill/>
          <a:ln/>
        </p:spPr>
        <p:txBody>
          <a:bodyPr wrap="square" rtlCol="0" anchor="ctr"/>
          <a:lstStyle/>
          <a:p>
            <a:pPr marL="0" indent="0">
              <a:buNone/>
            </a:pPr>
            <a:r>
              <a:rPr lang="en-US" sz="900" dirty="0">
                <a:solidFill>
                  <a:srgbClr val="455A64"/>
                </a:solidFill>
              </a:rPr>
              <a:t>Produit Bancaire</a:t>
            </a:r>
            <a:endParaRPr lang="en-US" sz="900" dirty="0"/>
          </a:p>
        </p:txBody>
      </p:sp>
      <p:sp>
        <p:nvSpPr>
          <p:cNvPr id="57" name="Shape 55"/>
          <p:cNvSpPr/>
          <p:nvPr/>
        </p:nvSpPr>
        <p:spPr>
          <a:xfrm>
            <a:off x="1737360" y="3392424"/>
            <a:ext cx="3474720" cy="475488"/>
          </a:xfrm>
          <a:prstGeom prst="rect">
            <a:avLst/>
          </a:prstGeom>
          <a:solidFill>
            <a:srgbClr val="FFFFFF"/>
          </a:solidFill>
          <a:ln w="12700">
            <a:solidFill>
              <a:srgbClr val="ECEFF1"/>
            </a:solidFill>
            <a:prstDash val="solid"/>
          </a:ln>
        </p:spPr>
      </p:sp>
      <p:sp>
        <p:nvSpPr>
          <p:cNvPr id="58" name="Text 56"/>
          <p:cNvSpPr/>
          <p:nvPr/>
        </p:nvSpPr>
        <p:spPr>
          <a:xfrm>
            <a:off x="1792224" y="3392424"/>
            <a:ext cx="3383280" cy="475488"/>
          </a:xfrm>
          <a:prstGeom prst="rect">
            <a:avLst/>
          </a:prstGeom>
          <a:noFill/>
          <a:ln/>
        </p:spPr>
        <p:txBody>
          <a:bodyPr wrap="square" rtlCol="0" anchor="ctr"/>
          <a:lstStyle/>
          <a:p>
            <a:pPr marL="0" indent="0">
              <a:buNone/>
            </a:pPr>
            <a:r>
              <a:rPr lang="en-US" sz="900" dirty="0">
                <a:solidFill>
                  <a:srgbClr val="455A64"/>
                </a:solidFill>
              </a:rPr>
              <a:t>Service financier référencé dans le catalogue officiel Vision Bank</a:t>
            </a:r>
            <a:endParaRPr lang="en-US" sz="900" dirty="0"/>
          </a:p>
        </p:txBody>
      </p:sp>
      <p:sp>
        <p:nvSpPr>
          <p:cNvPr id="59" name="Shape 57"/>
          <p:cNvSpPr/>
          <p:nvPr/>
        </p:nvSpPr>
        <p:spPr>
          <a:xfrm>
            <a:off x="5230368" y="3392424"/>
            <a:ext cx="1371600" cy="475488"/>
          </a:xfrm>
          <a:prstGeom prst="rect">
            <a:avLst/>
          </a:prstGeom>
          <a:solidFill>
            <a:srgbClr val="FFFFFF"/>
          </a:solidFill>
          <a:ln w="12700">
            <a:solidFill>
              <a:srgbClr val="ECEFF1"/>
            </a:solidFill>
            <a:prstDash val="solid"/>
          </a:ln>
        </p:spPr>
      </p:sp>
      <p:sp>
        <p:nvSpPr>
          <p:cNvPr id="60" name="Text 58"/>
          <p:cNvSpPr/>
          <p:nvPr/>
        </p:nvSpPr>
        <p:spPr>
          <a:xfrm>
            <a:off x="5285232" y="3392424"/>
            <a:ext cx="1280160" cy="475488"/>
          </a:xfrm>
          <a:prstGeom prst="rect">
            <a:avLst/>
          </a:prstGeom>
          <a:noFill/>
          <a:ln/>
        </p:spPr>
        <p:txBody>
          <a:bodyPr wrap="square" rtlCol="0" anchor="ctr"/>
          <a:lstStyle/>
          <a:p>
            <a:pPr marL="0" indent="0">
              <a:buNone/>
            </a:pPr>
            <a:r>
              <a:rPr lang="en-US" sz="900" dirty="0">
                <a:solidFill>
                  <a:srgbClr val="455A64"/>
                </a:solidFill>
              </a:rPr>
              <a:t>CBS</a:t>
            </a:r>
            <a:endParaRPr lang="en-US" sz="900" dirty="0"/>
          </a:p>
        </p:txBody>
      </p:sp>
      <p:sp>
        <p:nvSpPr>
          <p:cNvPr id="61" name="Shape 59"/>
          <p:cNvSpPr/>
          <p:nvPr/>
        </p:nvSpPr>
        <p:spPr>
          <a:xfrm>
            <a:off x="6620256" y="3392424"/>
            <a:ext cx="1463040" cy="475488"/>
          </a:xfrm>
          <a:prstGeom prst="rect">
            <a:avLst/>
          </a:prstGeom>
          <a:solidFill>
            <a:srgbClr val="FFFFFF"/>
          </a:solidFill>
          <a:ln w="12700">
            <a:solidFill>
              <a:srgbClr val="ECEFF1"/>
            </a:solidFill>
            <a:prstDash val="solid"/>
          </a:ln>
        </p:spPr>
      </p:sp>
      <p:sp>
        <p:nvSpPr>
          <p:cNvPr id="62" name="Text 60"/>
          <p:cNvSpPr/>
          <p:nvPr/>
        </p:nvSpPr>
        <p:spPr>
          <a:xfrm>
            <a:off x="6675120" y="3392424"/>
            <a:ext cx="1371600" cy="475488"/>
          </a:xfrm>
          <a:prstGeom prst="rect">
            <a:avLst/>
          </a:prstGeom>
          <a:noFill/>
          <a:ln/>
        </p:spPr>
        <p:txBody>
          <a:bodyPr wrap="square" rtlCol="0" anchor="ctr"/>
          <a:lstStyle/>
          <a:p>
            <a:pPr marL="0" indent="0">
              <a:buNone/>
            </a:pPr>
            <a:r>
              <a:rPr lang="en-US" sz="900" dirty="0">
                <a:solidFill>
                  <a:srgbClr val="455A64"/>
                </a:solidFill>
              </a:rPr>
              <a:t>Dir. Produits</a:t>
            </a:r>
            <a:endParaRPr lang="en-US" sz="900" dirty="0"/>
          </a:p>
        </p:txBody>
      </p:sp>
      <p:sp>
        <p:nvSpPr>
          <p:cNvPr id="63" name="Shape 61"/>
          <p:cNvSpPr/>
          <p:nvPr/>
        </p:nvSpPr>
        <p:spPr>
          <a:xfrm>
            <a:off x="8101584" y="3392424"/>
            <a:ext cx="914400" cy="475488"/>
          </a:xfrm>
          <a:prstGeom prst="rect">
            <a:avLst/>
          </a:prstGeom>
          <a:solidFill>
            <a:srgbClr val="FFFFFF"/>
          </a:solidFill>
          <a:ln w="12700">
            <a:solidFill>
              <a:srgbClr val="ECEFF1"/>
            </a:solidFill>
            <a:prstDash val="solid"/>
          </a:ln>
        </p:spPr>
      </p:sp>
      <p:sp>
        <p:nvSpPr>
          <p:cNvPr id="64" name="Text 62"/>
          <p:cNvSpPr/>
          <p:nvPr/>
        </p:nvSpPr>
        <p:spPr>
          <a:xfrm>
            <a:off x="8156448" y="3392424"/>
            <a:ext cx="822960" cy="475488"/>
          </a:xfrm>
          <a:prstGeom prst="rect">
            <a:avLst/>
          </a:prstGeom>
          <a:noFill/>
          <a:ln/>
        </p:spPr>
        <p:txBody>
          <a:bodyPr wrap="square" rtlCol="0" anchor="ctr"/>
          <a:lstStyle/>
          <a:p>
            <a:pPr marL="0" indent="0">
              <a:buNone/>
            </a:pPr>
            <a:r>
              <a:rPr lang="en-US" sz="900" b="1" dirty="0">
                <a:solidFill>
                  <a:srgbClr val="2E7D32"/>
                </a:solidFill>
              </a:rPr>
              <a:t>✔ Validé</a:t>
            </a:r>
            <a:endParaRPr lang="en-US" sz="900" dirty="0"/>
          </a:p>
        </p:txBody>
      </p:sp>
      <p:sp>
        <p:nvSpPr>
          <p:cNvPr id="65" name="Shape 63"/>
          <p:cNvSpPr/>
          <p:nvPr/>
        </p:nvSpPr>
        <p:spPr>
          <a:xfrm>
            <a:off x="164592" y="3867912"/>
            <a:ext cx="1554480" cy="475488"/>
          </a:xfrm>
          <a:prstGeom prst="rect">
            <a:avLst/>
          </a:prstGeom>
          <a:solidFill>
            <a:srgbClr val="F4F6FB"/>
          </a:solidFill>
          <a:ln w="12700">
            <a:solidFill>
              <a:srgbClr val="ECEFF1"/>
            </a:solidFill>
            <a:prstDash val="solid"/>
          </a:ln>
        </p:spPr>
      </p:sp>
      <p:sp>
        <p:nvSpPr>
          <p:cNvPr id="66" name="Text 64"/>
          <p:cNvSpPr/>
          <p:nvPr/>
        </p:nvSpPr>
        <p:spPr>
          <a:xfrm>
            <a:off x="219456" y="3867912"/>
            <a:ext cx="1463040" cy="475488"/>
          </a:xfrm>
          <a:prstGeom prst="rect">
            <a:avLst/>
          </a:prstGeom>
          <a:noFill/>
          <a:ln/>
        </p:spPr>
        <p:txBody>
          <a:bodyPr wrap="square" rtlCol="0" anchor="ctr"/>
          <a:lstStyle/>
          <a:p>
            <a:pPr marL="0" indent="0">
              <a:buNone/>
            </a:pPr>
            <a:r>
              <a:rPr lang="en-US" sz="900" dirty="0">
                <a:solidFill>
                  <a:srgbClr val="455A64"/>
                </a:solidFill>
              </a:rPr>
              <a:t>Taux Endettement</a:t>
            </a:r>
            <a:endParaRPr lang="en-US" sz="900" dirty="0"/>
          </a:p>
        </p:txBody>
      </p:sp>
      <p:sp>
        <p:nvSpPr>
          <p:cNvPr id="67" name="Shape 65"/>
          <p:cNvSpPr/>
          <p:nvPr/>
        </p:nvSpPr>
        <p:spPr>
          <a:xfrm>
            <a:off x="1737360" y="3867912"/>
            <a:ext cx="3474720" cy="475488"/>
          </a:xfrm>
          <a:prstGeom prst="rect">
            <a:avLst/>
          </a:prstGeom>
          <a:solidFill>
            <a:srgbClr val="F4F6FB"/>
          </a:solidFill>
          <a:ln w="12700">
            <a:solidFill>
              <a:srgbClr val="ECEFF1"/>
            </a:solidFill>
            <a:prstDash val="solid"/>
          </a:ln>
        </p:spPr>
      </p:sp>
      <p:sp>
        <p:nvSpPr>
          <p:cNvPr id="68" name="Text 66"/>
          <p:cNvSpPr/>
          <p:nvPr/>
        </p:nvSpPr>
        <p:spPr>
          <a:xfrm>
            <a:off x="1792224" y="3867912"/>
            <a:ext cx="3383280" cy="475488"/>
          </a:xfrm>
          <a:prstGeom prst="rect">
            <a:avLst/>
          </a:prstGeom>
          <a:noFill/>
          <a:ln/>
        </p:spPr>
        <p:txBody>
          <a:bodyPr wrap="square" rtlCol="0" anchor="ctr"/>
          <a:lstStyle/>
          <a:p>
            <a:pPr marL="0" indent="0">
              <a:buNone/>
            </a:pPr>
            <a:r>
              <a:rPr lang="en-US" sz="900" dirty="0">
                <a:solidFill>
                  <a:srgbClr val="455A64"/>
                </a:solidFill>
              </a:rPr>
              <a:t>Rapport charges financières mensuelles / revenus nets déclarés</a:t>
            </a:r>
            <a:endParaRPr lang="en-US" sz="900" dirty="0"/>
          </a:p>
        </p:txBody>
      </p:sp>
      <p:sp>
        <p:nvSpPr>
          <p:cNvPr id="69" name="Shape 67"/>
          <p:cNvSpPr/>
          <p:nvPr/>
        </p:nvSpPr>
        <p:spPr>
          <a:xfrm>
            <a:off x="5230368" y="3867912"/>
            <a:ext cx="1371600" cy="475488"/>
          </a:xfrm>
          <a:prstGeom prst="rect">
            <a:avLst/>
          </a:prstGeom>
          <a:solidFill>
            <a:srgbClr val="F4F6FB"/>
          </a:solidFill>
          <a:ln w="12700">
            <a:solidFill>
              <a:srgbClr val="ECEFF1"/>
            </a:solidFill>
            <a:prstDash val="solid"/>
          </a:ln>
        </p:spPr>
      </p:sp>
      <p:sp>
        <p:nvSpPr>
          <p:cNvPr id="70" name="Text 68"/>
          <p:cNvSpPr/>
          <p:nvPr/>
        </p:nvSpPr>
        <p:spPr>
          <a:xfrm>
            <a:off x="5285232" y="3867912"/>
            <a:ext cx="1280160" cy="475488"/>
          </a:xfrm>
          <a:prstGeom prst="rect">
            <a:avLst/>
          </a:prstGeom>
          <a:noFill/>
          <a:ln/>
        </p:spPr>
        <p:txBody>
          <a:bodyPr wrap="square" rtlCol="0" anchor="ctr"/>
          <a:lstStyle/>
          <a:p>
            <a:pPr marL="0" indent="0">
              <a:buNone/>
            </a:pPr>
            <a:r>
              <a:rPr lang="en-US" sz="900" dirty="0">
                <a:solidFill>
                  <a:srgbClr val="455A64"/>
                </a:solidFill>
              </a:rPr>
              <a:t>Syst. Crédits</a:t>
            </a:r>
            <a:endParaRPr lang="en-US" sz="900" dirty="0"/>
          </a:p>
        </p:txBody>
      </p:sp>
      <p:sp>
        <p:nvSpPr>
          <p:cNvPr id="71" name="Shape 69"/>
          <p:cNvSpPr/>
          <p:nvPr/>
        </p:nvSpPr>
        <p:spPr>
          <a:xfrm>
            <a:off x="6620256" y="3867912"/>
            <a:ext cx="1463040" cy="475488"/>
          </a:xfrm>
          <a:prstGeom prst="rect">
            <a:avLst/>
          </a:prstGeom>
          <a:solidFill>
            <a:srgbClr val="F4F6FB"/>
          </a:solidFill>
          <a:ln w="12700">
            <a:solidFill>
              <a:srgbClr val="ECEFF1"/>
            </a:solidFill>
            <a:prstDash val="solid"/>
          </a:ln>
        </p:spPr>
      </p:sp>
      <p:sp>
        <p:nvSpPr>
          <p:cNvPr id="72" name="Text 70"/>
          <p:cNvSpPr/>
          <p:nvPr/>
        </p:nvSpPr>
        <p:spPr>
          <a:xfrm>
            <a:off x="6675120" y="3867912"/>
            <a:ext cx="1371600" cy="475488"/>
          </a:xfrm>
          <a:prstGeom prst="rect">
            <a:avLst/>
          </a:prstGeom>
          <a:noFill/>
          <a:ln/>
        </p:spPr>
        <p:txBody>
          <a:bodyPr wrap="square" rtlCol="0" anchor="ctr"/>
          <a:lstStyle/>
          <a:p>
            <a:pPr marL="0" indent="0">
              <a:buNone/>
            </a:pPr>
            <a:r>
              <a:rPr lang="en-US" sz="900" dirty="0">
                <a:solidFill>
                  <a:srgbClr val="455A64"/>
                </a:solidFill>
              </a:rPr>
              <a:t>Dir. Risques</a:t>
            </a:r>
            <a:endParaRPr lang="en-US" sz="900" dirty="0"/>
          </a:p>
        </p:txBody>
      </p:sp>
      <p:sp>
        <p:nvSpPr>
          <p:cNvPr id="73" name="Shape 71"/>
          <p:cNvSpPr/>
          <p:nvPr/>
        </p:nvSpPr>
        <p:spPr>
          <a:xfrm>
            <a:off x="8101584" y="3867912"/>
            <a:ext cx="914400" cy="475488"/>
          </a:xfrm>
          <a:prstGeom prst="rect">
            <a:avLst/>
          </a:prstGeom>
          <a:solidFill>
            <a:srgbClr val="F4F6FB"/>
          </a:solidFill>
          <a:ln w="12700">
            <a:solidFill>
              <a:srgbClr val="ECEFF1"/>
            </a:solidFill>
            <a:prstDash val="solid"/>
          </a:ln>
        </p:spPr>
      </p:sp>
      <p:sp>
        <p:nvSpPr>
          <p:cNvPr id="74" name="Text 72"/>
          <p:cNvSpPr/>
          <p:nvPr/>
        </p:nvSpPr>
        <p:spPr>
          <a:xfrm>
            <a:off x="8156448" y="3867912"/>
            <a:ext cx="822960" cy="475488"/>
          </a:xfrm>
          <a:prstGeom prst="rect">
            <a:avLst/>
          </a:prstGeom>
          <a:noFill/>
          <a:ln/>
        </p:spPr>
        <p:txBody>
          <a:bodyPr wrap="square" rtlCol="0" anchor="ctr"/>
          <a:lstStyle/>
          <a:p>
            <a:pPr marL="0" indent="0">
              <a:buNone/>
            </a:pPr>
            <a:r>
              <a:rPr lang="en-US" sz="900" b="1" dirty="0">
                <a:solidFill>
                  <a:srgbClr val="F9A825"/>
                </a:solidFill>
              </a:rPr>
              <a:t>En cours</a:t>
            </a:r>
            <a:endParaRPr lang="en-US" sz="900" dirty="0"/>
          </a:p>
        </p:txBody>
      </p:sp>
      <p:sp>
        <p:nvSpPr>
          <p:cNvPr id="75" name="Shape 73"/>
          <p:cNvSpPr/>
          <p:nvPr/>
        </p:nvSpPr>
        <p:spPr>
          <a:xfrm>
            <a:off x="164592" y="4343400"/>
            <a:ext cx="1554480" cy="475488"/>
          </a:xfrm>
          <a:prstGeom prst="rect">
            <a:avLst/>
          </a:prstGeom>
          <a:solidFill>
            <a:srgbClr val="FFFFFF"/>
          </a:solidFill>
          <a:ln w="12700">
            <a:solidFill>
              <a:srgbClr val="ECEFF1"/>
            </a:solidFill>
            <a:prstDash val="solid"/>
          </a:ln>
        </p:spPr>
      </p:sp>
      <p:sp>
        <p:nvSpPr>
          <p:cNvPr id="76" name="Text 74"/>
          <p:cNvSpPr/>
          <p:nvPr/>
        </p:nvSpPr>
        <p:spPr>
          <a:xfrm>
            <a:off x="219456" y="4343400"/>
            <a:ext cx="1463040" cy="475488"/>
          </a:xfrm>
          <a:prstGeom prst="rect">
            <a:avLst/>
          </a:prstGeom>
          <a:noFill/>
          <a:ln/>
        </p:spPr>
        <p:txBody>
          <a:bodyPr wrap="square" rtlCol="0" anchor="ctr"/>
          <a:lstStyle/>
          <a:p>
            <a:pPr marL="0" indent="0">
              <a:buNone/>
            </a:pPr>
            <a:r>
              <a:rPr lang="en-US" sz="900" dirty="0">
                <a:solidFill>
                  <a:srgbClr val="455A64"/>
                </a:solidFill>
              </a:rPr>
              <a:t>Solde Consolidé</a:t>
            </a:r>
            <a:endParaRPr lang="en-US" sz="900" dirty="0"/>
          </a:p>
        </p:txBody>
      </p:sp>
      <p:sp>
        <p:nvSpPr>
          <p:cNvPr id="77" name="Shape 75"/>
          <p:cNvSpPr/>
          <p:nvPr/>
        </p:nvSpPr>
        <p:spPr>
          <a:xfrm>
            <a:off x="1737360" y="4343400"/>
            <a:ext cx="3474720" cy="475488"/>
          </a:xfrm>
          <a:prstGeom prst="rect">
            <a:avLst/>
          </a:prstGeom>
          <a:solidFill>
            <a:srgbClr val="FFFFFF"/>
          </a:solidFill>
          <a:ln w="12700">
            <a:solidFill>
              <a:srgbClr val="ECEFF1"/>
            </a:solidFill>
            <a:prstDash val="solid"/>
          </a:ln>
        </p:spPr>
      </p:sp>
      <p:sp>
        <p:nvSpPr>
          <p:cNvPr id="78" name="Text 76"/>
          <p:cNvSpPr/>
          <p:nvPr/>
        </p:nvSpPr>
        <p:spPr>
          <a:xfrm>
            <a:off x="1792224" y="4343400"/>
            <a:ext cx="3383280" cy="475488"/>
          </a:xfrm>
          <a:prstGeom prst="rect">
            <a:avLst/>
          </a:prstGeom>
          <a:noFill/>
          <a:ln/>
        </p:spPr>
        <p:txBody>
          <a:bodyPr wrap="square" rtlCol="0" anchor="ctr"/>
          <a:lstStyle/>
          <a:p>
            <a:pPr marL="0" indent="0">
              <a:buNone/>
            </a:pPr>
            <a:r>
              <a:rPr lang="en-US" sz="900" dirty="0">
                <a:solidFill>
                  <a:srgbClr val="455A64"/>
                </a:solidFill>
              </a:rPr>
              <a:t>Somme des soldes de tous les comptes d'un même Golden Record client</a:t>
            </a:r>
            <a:endParaRPr lang="en-US" sz="900" dirty="0"/>
          </a:p>
        </p:txBody>
      </p:sp>
      <p:sp>
        <p:nvSpPr>
          <p:cNvPr id="79" name="Shape 77"/>
          <p:cNvSpPr/>
          <p:nvPr/>
        </p:nvSpPr>
        <p:spPr>
          <a:xfrm>
            <a:off x="5230368" y="4343400"/>
            <a:ext cx="1371600" cy="475488"/>
          </a:xfrm>
          <a:prstGeom prst="rect">
            <a:avLst/>
          </a:prstGeom>
          <a:solidFill>
            <a:srgbClr val="FFFFFF"/>
          </a:solidFill>
          <a:ln w="12700">
            <a:solidFill>
              <a:srgbClr val="ECEFF1"/>
            </a:solidFill>
            <a:prstDash val="solid"/>
          </a:ln>
        </p:spPr>
      </p:sp>
      <p:sp>
        <p:nvSpPr>
          <p:cNvPr id="80" name="Text 78"/>
          <p:cNvSpPr/>
          <p:nvPr/>
        </p:nvSpPr>
        <p:spPr>
          <a:xfrm>
            <a:off x="5285232" y="4343400"/>
            <a:ext cx="1280160" cy="475488"/>
          </a:xfrm>
          <a:prstGeom prst="rect">
            <a:avLst/>
          </a:prstGeom>
          <a:noFill/>
          <a:ln/>
        </p:spPr>
        <p:txBody>
          <a:bodyPr wrap="square" rtlCol="0" anchor="ctr"/>
          <a:lstStyle/>
          <a:p>
            <a:pPr marL="0" indent="0">
              <a:buNone/>
            </a:pPr>
            <a:r>
              <a:rPr lang="en-US" sz="900" dirty="0">
                <a:solidFill>
                  <a:srgbClr val="455A64"/>
                </a:solidFill>
              </a:rPr>
              <a:t>MDM / SSOT</a:t>
            </a:r>
            <a:endParaRPr lang="en-US" sz="900" dirty="0"/>
          </a:p>
        </p:txBody>
      </p:sp>
      <p:sp>
        <p:nvSpPr>
          <p:cNvPr id="81" name="Shape 79"/>
          <p:cNvSpPr/>
          <p:nvPr/>
        </p:nvSpPr>
        <p:spPr>
          <a:xfrm>
            <a:off x="6620256" y="4343400"/>
            <a:ext cx="1463040" cy="475488"/>
          </a:xfrm>
          <a:prstGeom prst="rect">
            <a:avLst/>
          </a:prstGeom>
          <a:solidFill>
            <a:srgbClr val="FFFFFF"/>
          </a:solidFill>
          <a:ln w="12700">
            <a:solidFill>
              <a:srgbClr val="ECEFF1"/>
            </a:solidFill>
            <a:prstDash val="solid"/>
          </a:ln>
        </p:spPr>
      </p:sp>
      <p:sp>
        <p:nvSpPr>
          <p:cNvPr id="82" name="Text 80"/>
          <p:cNvSpPr/>
          <p:nvPr/>
        </p:nvSpPr>
        <p:spPr>
          <a:xfrm>
            <a:off x="6675120" y="4343400"/>
            <a:ext cx="1371600" cy="475488"/>
          </a:xfrm>
          <a:prstGeom prst="rect">
            <a:avLst/>
          </a:prstGeom>
          <a:noFill/>
          <a:ln/>
        </p:spPr>
        <p:txBody>
          <a:bodyPr wrap="square" rtlCol="0" anchor="ctr"/>
          <a:lstStyle/>
          <a:p>
            <a:pPr marL="0" indent="0">
              <a:buNone/>
            </a:pPr>
            <a:r>
              <a:rPr lang="en-US" sz="900" dirty="0">
                <a:solidFill>
                  <a:srgbClr val="455A64"/>
                </a:solidFill>
              </a:rPr>
              <a:t>Dir. SI</a:t>
            </a:r>
            <a:endParaRPr lang="en-US" sz="900" dirty="0"/>
          </a:p>
        </p:txBody>
      </p:sp>
      <p:sp>
        <p:nvSpPr>
          <p:cNvPr id="83" name="Shape 81"/>
          <p:cNvSpPr/>
          <p:nvPr/>
        </p:nvSpPr>
        <p:spPr>
          <a:xfrm>
            <a:off x="8101584" y="4343400"/>
            <a:ext cx="914400" cy="475488"/>
          </a:xfrm>
          <a:prstGeom prst="rect">
            <a:avLst/>
          </a:prstGeom>
          <a:solidFill>
            <a:srgbClr val="FFFFFF"/>
          </a:solidFill>
          <a:ln w="12700">
            <a:solidFill>
              <a:srgbClr val="ECEFF1"/>
            </a:solidFill>
            <a:prstDash val="solid"/>
          </a:ln>
        </p:spPr>
      </p:sp>
      <p:sp>
        <p:nvSpPr>
          <p:cNvPr id="84" name="Text 82"/>
          <p:cNvSpPr/>
          <p:nvPr/>
        </p:nvSpPr>
        <p:spPr>
          <a:xfrm>
            <a:off x="8156448" y="4343400"/>
            <a:ext cx="822960" cy="475488"/>
          </a:xfrm>
          <a:prstGeom prst="rect">
            <a:avLst/>
          </a:prstGeom>
          <a:noFill/>
          <a:ln/>
        </p:spPr>
        <p:txBody>
          <a:bodyPr wrap="square" rtlCol="0" anchor="ctr"/>
          <a:lstStyle/>
          <a:p>
            <a:pPr marL="0" indent="0">
              <a:buNone/>
            </a:pPr>
            <a:r>
              <a:rPr lang="en-US" sz="900" b="1" dirty="0">
                <a:solidFill>
                  <a:srgbClr val="F9A825"/>
                </a:solidFill>
              </a:rPr>
              <a:t>En cours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9A825"/>
          </a:solidFill>
          <a:ln w="12700">
            <a:solidFill>
              <a:srgbClr val="F9A825"/>
            </a:solidFill>
            <a:prstDash val="solid"/>
          </a:ln>
        </p:spPr>
      </p:sp>
      <p:sp>
        <p:nvSpPr>
          <p:cNvPr id="3" name="Shape 1"/>
          <p:cNvSpPr/>
          <p:nvPr/>
        </p:nvSpPr>
        <p:spPr>
          <a:xfrm>
            <a:off x="0" y="64008"/>
            <a:ext cx="54864" cy="5079492"/>
          </a:xfrm>
          <a:prstGeom prst="rect">
            <a:avLst/>
          </a:prstGeom>
          <a:solidFill>
            <a:srgbClr val="F9A825"/>
          </a:solidFill>
          <a:ln w="12700">
            <a:solidFill>
              <a:srgbClr val="F9A825"/>
            </a:solidFill>
            <a:prstDash val="solid"/>
          </a:ln>
        </p:spPr>
      </p:sp>
      <p:sp>
        <p:nvSpPr>
          <p:cNvPr id="4" name="Shape 2"/>
          <p:cNvSpPr/>
          <p:nvPr/>
        </p:nvSpPr>
        <p:spPr>
          <a:xfrm>
            <a:off x="6217920" y="731520"/>
            <a:ext cx="2377440" cy="2377440"/>
          </a:xfrm>
          <a:prstGeom prst="ellipse">
            <a:avLst/>
          </a:prstGeom>
          <a:solidFill>
            <a:srgbClr val="1976D2">
              <a:alpha val="35000"/>
            </a:srgbClr>
          </a:solidFill>
          <a:ln w="12700">
            <a:solidFill>
              <a:srgbClr val="1976D2">
                <a:alpha val="35000"/>
              </a:srgbClr>
            </a:solidFill>
            <a:prstDash val="solid"/>
          </a:ln>
        </p:spPr>
      </p:sp>
      <p:pic>
        <p:nvPicPr>
          <p:cNvPr id="5" name="Image 0" descr="preencoded.png"/>
          <p:cNvPicPr>
            <a:picLocks noChangeAspect="1"/>
          </p:cNvPicPr>
          <p:nvPr/>
        </p:nvPicPr>
        <p:blipFill>
          <a:blip r:embed="rId3"/>
          <a:stretch>
            <a:fillRect/>
          </a:stretch>
        </p:blipFill>
        <p:spPr>
          <a:xfrm>
            <a:off x="6720840" y="1097280"/>
            <a:ext cx="1371600" cy="1371600"/>
          </a:xfrm>
          <a:prstGeom prst="rect">
            <a:avLst/>
          </a:prstGeom>
        </p:spPr>
      </p:pic>
      <p:sp>
        <p:nvSpPr>
          <p:cNvPr id="6" name="Text 3"/>
          <p:cNvSpPr/>
          <p:nvPr/>
        </p:nvSpPr>
        <p:spPr>
          <a:xfrm>
            <a:off x="320040" y="1463040"/>
            <a:ext cx="566928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Roadmap</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&amp; KPIs</a:t>
            </a:r>
            <a:endParaRPr lang="en-US" sz="3600" dirty="0"/>
          </a:p>
        </p:txBody>
      </p:sp>
      <p:sp>
        <p:nvSpPr>
          <p:cNvPr id="7" name="Text 4"/>
          <p:cNvSpPr/>
          <p:nvPr/>
        </p:nvSpPr>
        <p:spPr>
          <a:xfrm>
            <a:off x="320040" y="2514600"/>
            <a:ext cx="5486400" cy="731520"/>
          </a:xfrm>
          <a:prstGeom prst="rect">
            <a:avLst/>
          </a:prstGeom>
          <a:noFill/>
          <a:ln/>
        </p:spPr>
        <p:txBody>
          <a:bodyPr wrap="square" rtlCol="0" anchor="ctr"/>
          <a:lstStyle/>
          <a:p>
            <a:pPr marL="0" indent="0">
              <a:buNone/>
            </a:pPr>
            <a:r>
              <a:rPr lang="en-US" sz="1400" i="1" dirty="0">
                <a:solidFill>
                  <a:srgbClr val="42A5F5"/>
                </a:solidFill>
                <a:latin typeface="Calibri" pitchFamily="34" charset="0"/>
                <a:ea typeface="Calibri" pitchFamily="34" charset="-122"/>
                <a:cs typeface="Calibri" pitchFamily="34" charset="-120"/>
              </a:rPr>
              <a:t>Phases de mise en œuvre · Indicateurs de succès</a:t>
            </a:r>
            <a:endParaRPr lang="en-US" sz="1400" dirty="0"/>
          </a:p>
        </p:txBody>
      </p:sp>
      <p:sp>
        <p:nvSpPr>
          <p:cNvPr id="8" name="Shape 5"/>
          <p:cNvSpPr/>
          <p:nvPr/>
        </p:nvSpPr>
        <p:spPr>
          <a:xfrm>
            <a:off x="320040" y="4114800"/>
            <a:ext cx="1097280" cy="347472"/>
          </a:xfrm>
          <a:prstGeom prst="roundRect">
            <a:avLst>
              <a:gd name="adj" fmla="val 13158"/>
            </a:avLst>
          </a:prstGeom>
          <a:solidFill>
            <a:srgbClr val="F9A825"/>
          </a:solidFill>
          <a:ln w="12700">
            <a:solidFill>
              <a:srgbClr val="F9A825"/>
            </a:solidFill>
            <a:prstDash val="solid"/>
          </a:ln>
        </p:spPr>
      </p:sp>
      <p:sp>
        <p:nvSpPr>
          <p:cNvPr id="9" name="Text 6"/>
          <p:cNvSpPr/>
          <p:nvPr/>
        </p:nvSpPr>
        <p:spPr>
          <a:xfrm>
            <a:off x="320040" y="4114800"/>
            <a:ext cx="1097280" cy="347472"/>
          </a:xfrm>
          <a:prstGeom prst="rect">
            <a:avLst/>
          </a:prstGeom>
          <a:noFill/>
          <a:ln/>
        </p:spPr>
        <p:txBody>
          <a:bodyPr wrap="square" lIns="0" tIns="0" rIns="0" bIns="0" rtlCol="0" anchor="ctr"/>
          <a:lstStyle/>
          <a:p>
            <a:pPr marL="0" indent="0" algn="ctr">
              <a:buNone/>
            </a:pPr>
            <a:r>
              <a:rPr lang="en-US" sz="950" b="1" dirty="0">
                <a:solidFill>
                  <a:srgbClr val="0B1D3A"/>
                </a:solidFill>
              </a:rPr>
              <a:t>ÉTAPE 06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Shape 1"/>
          <p:cNvSpPr/>
          <p:nvPr/>
        </p:nvSpPr>
        <p:spPr>
          <a:xfrm>
            <a:off x="0" y="0"/>
            <a:ext cx="54864" cy="5143500"/>
          </a:xfrm>
          <a:prstGeom prst="rect">
            <a:avLst/>
          </a:prstGeom>
          <a:solidFill>
            <a:srgbClr val="F9A825"/>
          </a:solidFill>
          <a:ln w="12700">
            <a:solidFill>
              <a:srgbClr val="F9A825"/>
            </a:solidFill>
            <a:prstDash val="solid"/>
          </a:ln>
        </p:spPr>
      </p:sp>
      <p:sp>
        <p:nvSpPr>
          <p:cNvPr id="4" name="Text 2"/>
          <p:cNvSpPr/>
          <p:nvPr/>
        </p:nvSpPr>
        <p:spPr>
          <a:xfrm>
            <a:off x="228600" y="137160"/>
            <a:ext cx="8686800" cy="6858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07a – Roadmap : 5 Phases de Déploiement</a:t>
            </a:r>
            <a:endParaRPr lang="en-US" sz="2200" dirty="0"/>
          </a:p>
        </p:txBody>
      </p:sp>
      <p:sp>
        <p:nvSpPr>
          <p:cNvPr id="5" name="Shape 3"/>
          <p:cNvSpPr/>
          <p:nvPr/>
        </p:nvSpPr>
        <p:spPr>
          <a:xfrm>
            <a:off x="164592" y="1051560"/>
            <a:ext cx="1645920" cy="621792"/>
          </a:xfrm>
          <a:prstGeom prst="rect">
            <a:avLst/>
          </a:prstGeom>
          <a:solidFill>
            <a:srgbClr val="1565C0"/>
          </a:solidFill>
          <a:ln w="12700">
            <a:solidFill>
              <a:srgbClr val="1565C0"/>
            </a:solidFill>
            <a:prstDash val="solid"/>
          </a:ln>
          <a:effectLst>
            <a:outerShdw blurRad="101600" dist="38100" dir="8100000" algn="bl" rotWithShape="0">
              <a:srgbClr val="000000">
                <a:alpha val="14000"/>
              </a:srgbClr>
            </a:outerShdw>
          </a:effectLst>
        </p:spPr>
      </p:sp>
      <p:sp>
        <p:nvSpPr>
          <p:cNvPr id="6" name="Text 4"/>
          <p:cNvSpPr/>
          <p:nvPr/>
        </p:nvSpPr>
        <p:spPr>
          <a:xfrm>
            <a:off x="164592" y="1051560"/>
            <a:ext cx="1645920" cy="292608"/>
          </a:xfrm>
          <a:prstGeom prst="rect">
            <a:avLst/>
          </a:prstGeom>
          <a:noFill/>
          <a:ln/>
        </p:spPr>
        <p:txBody>
          <a:bodyPr wrap="square" lIns="0" tIns="0" rIns="0" bIns="0" rtlCol="0" anchor="ctr"/>
          <a:lstStyle/>
          <a:p>
            <a:pPr marL="0" indent="0" algn="ctr">
              <a:buNone/>
            </a:pPr>
            <a:r>
              <a:rPr lang="en-US" sz="1100" b="1" dirty="0">
                <a:solidFill>
                  <a:srgbClr val="FFFFFF"/>
                </a:solidFill>
              </a:rPr>
              <a:t>Phase 1</a:t>
            </a:r>
            <a:endParaRPr lang="en-US" sz="1100" dirty="0"/>
          </a:p>
        </p:txBody>
      </p:sp>
      <p:sp>
        <p:nvSpPr>
          <p:cNvPr id="7" name="Text 5"/>
          <p:cNvSpPr/>
          <p:nvPr/>
        </p:nvSpPr>
        <p:spPr>
          <a:xfrm>
            <a:off x="164592" y="1344168"/>
            <a:ext cx="1645920" cy="329184"/>
          </a:xfrm>
          <a:prstGeom prst="rect">
            <a:avLst/>
          </a:prstGeom>
          <a:noFill/>
          <a:ln/>
        </p:spPr>
        <p:txBody>
          <a:bodyPr wrap="square" lIns="0" tIns="0" rIns="0" bIns="0" rtlCol="0" anchor="ctr"/>
          <a:lstStyle/>
          <a:p>
            <a:pPr marL="0" indent="0" algn="ctr">
              <a:buNone/>
            </a:pPr>
            <a:r>
              <a:rPr lang="en-US" sz="1000" dirty="0">
                <a:solidFill>
                  <a:srgbClr val="FFD54F"/>
                </a:solidFill>
              </a:rPr>
              <a:t>M1–M2</a:t>
            </a:r>
            <a:endParaRPr lang="en-US" sz="1000" dirty="0"/>
          </a:p>
        </p:txBody>
      </p:sp>
      <p:sp>
        <p:nvSpPr>
          <p:cNvPr id="8" name="Text 6"/>
          <p:cNvSpPr/>
          <p:nvPr/>
        </p:nvSpPr>
        <p:spPr>
          <a:xfrm>
            <a:off x="164592" y="1719072"/>
            <a:ext cx="1645920" cy="594360"/>
          </a:xfrm>
          <a:prstGeom prst="rect">
            <a:avLst/>
          </a:prstGeom>
          <a:noFill/>
          <a:ln/>
        </p:spPr>
        <p:txBody>
          <a:bodyPr wrap="square" rtlCol="0" anchor="ctr"/>
          <a:lstStyle/>
          <a:p>
            <a:pPr marL="0" indent="0" algn="ctr">
              <a:buNone/>
            </a:pPr>
            <a:r>
              <a:rPr lang="en-US" sz="1100" b="1" dirty="0">
                <a:solidFill>
                  <a:srgbClr val="1565C0"/>
                </a:solidFill>
              </a:rPr>
              <a:t>Diagnostic</a:t>
            </a:r>
            <a:endParaRPr lang="en-US" sz="1100" dirty="0"/>
          </a:p>
        </p:txBody>
      </p:sp>
      <p:sp>
        <p:nvSpPr>
          <p:cNvPr id="9" name="Shape 7"/>
          <p:cNvSpPr/>
          <p:nvPr/>
        </p:nvSpPr>
        <p:spPr>
          <a:xfrm>
            <a:off x="1819656" y="1298448"/>
            <a:ext cx="91440" cy="164592"/>
          </a:xfrm>
          <a:prstGeom prst="rect">
            <a:avLst/>
          </a:prstGeom>
          <a:solidFill>
            <a:srgbClr val="F9A825"/>
          </a:solidFill>
          <a:ln w="12700">
            <a:solidFill>
              <a:srgbClr val="F9A825"/>
            </a:solidFill>
            <a:prstDash val="solid"/>
          </a:ln>
        </p:spPr>
      </p:sp>
      <p:sp>
        <p:nvSpPr>
          <p:cNvPr id="10" name="Shape 8"/>
          <p:cNvSpPr/>
          <p:nvPr/>
        </p:nvSpPr>
        <p:spPr>
          <a:xfrm>
            <a:off x="164592" y="2395728"/>
            <a:ext cx="1645920" cy="685800"/>
          </a:xfrm>
          <a:prstGeom prst="rect">
            <a:avLst/>
          </a:prstGeom>
          <a:solidFill>
            <a:srgbClr val="FFFFFF"/>
          </a:solidFill>
          <a:ln w="12700">
            <a:solidFill>
              <a:srgbClr val="1565C0"/>
            </a:solidFill>
            <a:prstDash val="solid"/>
          </a:ln>
          <a:effectLst>
            <a:outerShdw blurRad="101600" dist="38100" dir="8100000" algn="bl" rotWithShape="0">
              <a:srgbClr val="000000">
                <a:alpha val="14000"/>
              </a:srgbClr>
            </a:outerShdw>
          </a:effectLst>
        </p:spPr>
      </p:sp>
      <p:sp>
        <p:nvSpPr>
          <p:cNvPr id="11" name="Shape 9"/>
          <p:cNvSpPr/>
          <p:nvPr/>
        </p:nvSpPr>
        <p:spPr>
          <a:xfrm>
            <a:off x="164592" y="2395728"/>
            <a:ext cx="54864" cy="685800"/>
          </a:xfrm>
          <a:prstGeom prst="rect">
            <a:avLst/>
          </a:prstGeom>
          <a:solidFill>
            <a:srgbClr val="1565C0"/>
          </a:solidFill>
          <a:ln w="12700">
            <a:solidFill>
              <a:srgbClr val="1565C0"/>
            </a:solidFill>
            <a:prstDash val="solid"/>
          </a:ln>
        </p:spPr>
      </p:sp>
      <p:sp>
        <p:nvSpPr>
          <p:cNvPr id="12" name="Text 10"/>
          <p:cNvSpPr/>
          <p:nvPr/>
        </p:nvSpPr>
        <p:spPr>
          <a:xfrm>
            <a:off x="274320" y="2441448"/>
            <a:ext cx="1481328" cy="594360"/>
          </a:xfrm>
          <a:prstGeom prst="rect">
            <a:avLst/>
          </a:prstGeom>
          <a:noFill/>
          <a:ln/>
        </p:spPr>
        <p:txBody>
          <a:bodyPr wrap="square" rtlCol="0" anchor="ctr"/>
          <a:lstStyle/>
          <a:p>
            <a:pPr marL="0" indent="0">
              <a:buNone/>
            </a:pPr>
            <a:r>
              <a:rPr lang="en-US" sz="950" dirty="0">
                <a:solidFill>
                  <a:srgbClr val="455A64"/>
                </a:solidFill>
              </a:rPr>
              <a:t>Cartographie des systèmes</a:t>
            </a:r>
            <a:endParaRPr lang="en-US" sz="950" dirty="0"/>
          </a:p>
        </p:txBody>
      </p:sp>
      <p:sp>
        <p:nvSpPr>
          <p:cNvPr id="13" name="Shape 11"/>
          <p:cNvSpPr/>
          <p:nvPr/>
        </p:nvSpPr>
        <p:spPr>
          <a:xfrm>
            <a:off x="164592" y="3145536"/>
            <a:ext cx="1645920" cy="685800"/>
          </a:xfrm>
          <a:prstGeom prst="rect">
            <a:avLst/>
          </a:prstGeom>
          <a:solidFill>
            <a:srgbClr val="FFFFFF"/>
          </a:solidFill>
          <a:ln w="12700">
            <a:solidFill>
              <a:srgbClr val="1565C0"/>
            </a:solidFill>
            <a:prstDash val="solid"/>
          </a:ln>
          <a:effectLst>
            <a:outerShdw blurRad="101600" dist="38100" dir="8100000" algn="bl" rotWithShape="0">
              <a:srgbClr val="000000">
                <a:alpha val="14000"/>
              </a:srgbClr>
            </a:outerShdw>
          </a:effectLst>
        </p:spPr>
      </p:sp>
      <p:sp>
        <p:nvSpPr>
          <p:cNvPr id="14" name="Shape 12"/>
          <p:cNvSpPr/>
          <p:nvPr/>
        </p:nvSpPr>
        <p:spPr>
          <a:xfrm>
            <a:off x="164592" y="3145536"/>
            <a:ext cx="54864" cy="685800"/>
          </a:xfrm>
          <a:prstGeom prst="rect">
            <a:avLst/>
          </a:prstGeom>
          <a:solidFill>
            <a:srgbClr val="1565C0"/>
          </a:solidFill>
          <a:ln w="12700">
            <a:solidFill>
              <a:srgbClr val="1565C0"/>
            </a:solidFill>
            <a:prstDash val="solid"/>
          </a:ln>
        </p:spPr>
      </p:sp>
      <p:sp>
        <p:nvSpPr>
          <p:cNvPr id="15" name="Text 13"/>
          <p:cNvSpPr/>
          <p:nvPr/>
        </p:nvSpPr>
        <p:spPr>
          <a:xfrm>
            <a:off x="274320" y="3191256"/>
            <a:ext cx="1481328" cy="594360"/>
          </a:xfrm>
          <a:prstGeom prst="rect">
            <a:avLst/>
          </a:prstGeom>
          <a:noFill/>
          <a:ln/>
        </p:spPr>
        <p:txBody>
          <a:bodyPr wrap="square" rtlCol="0" anchor="ctr"/>
          <a:lstStyle/>
          <a:p>
            <a:pPr marL="0" indent="0">
              <a:buNone/>
            </a:pPr>
            <a:r>
              <a:rPr lang="en-US" sz="950" dirty="0">
                <a:solidFill>
                  <a:srgbClr val="455A64"/>
                </a:solidFill>
              </a:rPr>
              <a:t>Audit qualité des données</a:t>
            </a:r>
            <a:endParaRPr lang="en-US" sz="950" dirty="0"/>
          </a:p>
        </p:txBody>
      </p:sp>
      <p:sp>
        <p:nvSpPr>
          <p:cNvPr id="16" name="Shape 14"/>
          <p:cNvSpPr/>
          <p:nvPr/>
        </p:nvSpPr>
        <p:spPr>
          <a:xfrm>
            <a:off x="164592" y="3895344"/>
            <a:ext cx="1645920" cy="685800"/>
          </a:xfrm>
          <a:prstGeom prst="rect">
            <a:avLst/>
          </a:prstGeom>
          <a:solidFill>
            <a:srgbClr val="FFFFFF"/>
          </a:solidFill>
          <a:ln w="12700">
            <a:solidFill>
              <a:srgbClr val="1565C0"/>
            </a:solidFill>
            <a:prstDash val="solid"/>
          </a:ln>
          <a:effectLst>
            <a:outerShdw blurRad="101600" dist="38100" dir="8100000" algn="bl" rotWithShape="0">
              <a:srgbClr val="000000">
                <a:alpha val="14000"/>
              </a:srgbClr>
            </a:outerShdw>
          </a:effectLst>
        </p:spPr>
      </p:sp>
      <p:sp>
        <p:nvSpPr>
          <p:cNvPr id="17" name="Shape 15"/>
          <p:cNvSpPr/>
          <p:nvPr/>
        </p:nvSpPr>
        <p:spPr>
          <a:xfrm>
            <a:off x="164592" y="3895344"/>
            <a:ext cx="54864" cy="685800"/>
          </a:xfrm>
          <a:prstGeom prst="rect">
            <a:avLst/>
          </a:prstGeom>
          <a:solidFill>
            <a:srgbClr val="1565C0"/>
          </a:solidFill>
          <a:ln w="12700">
            <a:solidFill>
              <a:srgbClr val="1565C0"/>
            </a:solidFill>
            <a:prstDash val="solid"/>
          </a:ln>
        </p:spPr>
      </p:sp>
      <p:sp>
        <p:nvSpPr>
          <p:cNvPr id="18" name="Text 16"/>
          <p:cNvSpPr/>
          <p:nvPr/>
        </p:nvSpPr>
        <p:spPr>
          <a:xfrm>
            <a:off x="274320" y="3941064"/>
            <a:ext cx="1481328" cy="594360"/>
          </a:xfrm>
          <a:prstGeom prst="rect">
            <a:avLst/>
          </a:prstGeom>
          <a:noFill/>
          <a:ln/>
        </p:spPr>
        <p:txBody>
          <a:bodyPr wrap="square" rtlCol="0" anchor="ctr"/>
          <a:lstStyle/>
          <a:p>
            <a:pPr marL="0" indent="0">
              <a:buNone/>
            </a:pPr>
            <a:r>
              <a:rPr lang="en-US" sz="950" dirty="0">
                <a:solidFill>
                  <a:srgbClr val="455A64"/>
                </a:solidFill>
              </a:rPr>
              <a:t>Identification des référentiels</a:t>
            </a:r>
            <a:endParaRPr lang="en-US" sz="950" dirty="0"/>
          </a:p>
        </p:txBody>
      </p:sp>
      <p:sp>
        <p:nvSpPr>
          <p:cNvPr id="19" name="Shape 17"/>
          <p:cNvSpPr/>
          <p:nvPr/>
        </p:nvSpPr>
        <p:spPr>
          <a:xfrm>
            <a:off x="1929384" y="1051560"/>
            <a:ext cx="1645920" cy="621792"/>
          </a:xfrm>
          <a:prstGeom prst="rect">
            <a:avLst/>
          </a:prstGeom>
          <a:solidFill>
            <a:srgbClr val="00796B"/>
          </a:solidFill>
          <a:ln w="12700">
            <a:solidFill>
              <a:srgbClr val="00796B"/>
            </a:solidFill>
            <a:prstDash val="solid"/>
          </a:ln>
          <a:effectLst>
            <a:outerShdw blurRad="101600" dist="38100" dir="8100000" algn="bl" rotWithShape="0">
              <a:srgbClr val="000000">
                <a:alpha val="14000"/>
              </a:srgbClr>
            </a:outerShdw>
          </a:effectLst>
        </p:spPr>
      </p:sp>
      <p:sp>
        <p:nvSpPr>
          <p:cNvPr id="20" name="Text 18"/>
          <p:cNvSpPr/>
          <p:nvPr/>
        </p:nvSpPr>
        <p:spPr>
          <a:xfrm>
            <a:off x="1929384" y="1051560"/>
            <a:ext cx="1645920" cy="292608"/>
          </a:xfrm>
          <a:prstGeom prst="rect">
            <a:avLst/>
          </a:prstGeom>
          <a:noFill/>
          <a:ln/>
        </p:spPr>
        <p:txBody>
          <a:bodyPr wrap="square" lIns="0" tIns="0" rIns="0" bIns="0" rtlCol="0" anchor="ctr"/>
          <a:lstStyle/>
          <a:p>
            <a:pPr marL="0" indent="0" algn="ctr">
              <a:buNone/>
            </a:pPr>
            <a:r>
              <a:rPr lang="en-US" sz="1100" b="1" dirty="0">
                <a:solidFill>
                  <a:srgbClr val="FFFFFF"/>
                </a:solidFill>
              </a:rPr>
              <a:t>Phase 2</a:t>
            </a:r>
            <a:endParaRPr lang="en-US" sz="1100" dirty="0"/>
          </a:p>
        </p:txBody>
      </p:sp>
      <p:sp>
        <p:nvSpPr>
          <p:cNvPr id="21" name="Text 19"/>
          <p:cNvSpPr/>
          <p:nvPr/>
        </p:nvSpPr>
        <p:spPr>
          <a:xfrm>
            <a:off x="1929384" y="1344168"/>
            <a:ext cx="1645920" cy="329184"/>
          </a:xfrm>
          <a:prstGeom prst="rect">
            <a:avLst/>
          </a:prstGeom>
          <a:noFill/>
          <a:ln/>
        </p:spPr>
        <p:txBody>
          <a:bodyPr wrap="square" lIns="0" tIns="0" rIns="0" bIns="0" rtlCol="0" anchor="ctr"/>
          <a:lstStyle/>
          <a:p>
            <a:pPr marL="0" indent="0" algn="ctr">
              <a:buNone/>
            </a:pPr>
            <a:r>
              <a:rPr lang="en-US" sz="1000" dirty="0">
                <a:solidFill>
                  <a:srgbClr val="FFD54F"/>
                </a:solidFill>
              </a:rPr>
              <a:t>M2–M3</a:t>
            </a:r>
            <a:endParaRPr lang="en-US" sz="1000" dirty="0"/>
          </a:p>
        </p:txBody>
      </p:sp>
      <p:sp>
        <p:nvSpPr>
          <p:cNvPr id="22" name="Text 20"/>
          <p:cNvSpPr/>
          <p:nvPr/>
        </p:nvSpPr>
        <p:spPr>
          <a:xfrm>
            <a:off x="1929384" y="1719072"/>
            <a:ext cx="1645920" cy="594360"/>
          </a:xfrm>
          <a:prstGeom prst="rect">
            <a:avLst/>
          </a:prstGeom>
          <a:noFill/>
          <a:ln/>
        </p:spPr>
        <p:txBody>
          <a:bodyPr wrap="square" rtlCol="0" anchor="ctr"/>
          <a:lstStyle/>
          <a:p>
            <a:pPr marL="0" indent="0" algn="ctr">
              <a:buNone/>
            </a:pPr>
            <a:r>
              <a:rPr lang="en-US" sz="1100" b="1" dirty="0">
                <a:solidFill>
                  <a:srgbClr val="00796B"/>
                </a:solidFill>
              </a:rPr>
              <a:t>Gouvernance</a:t>
            </a:r>
            <a:endParaRPr lang="en-US" sz="1100" dirty="0"/>
          </a:p>
        </p:txBody>
      </p:sp>
      <p:sp>
        <p:nvSpPr>
          <p:cNvPr id="23" name="Shape 21"/>
          <p:cNvSpPr/>
          <p:nvPr/>
        </p:nvSpPr>
        <p:spPr>
          <a:xfrm>
            <a:off x="3584448" y="1298448"/>
            <a:ext cx="91440" cy="164592"/>
          </a:xfrm>
          <a:prstGeom prst="rect">
            <a:avLst/>
          </a:prstGeom>
          <a:solidFill>
            <a:srgbClr val="F9A825"/>
          </a:solidFill>
          <a:ln w="12700">
            <a:solidFill>
              <a:srgbClr val="F9A825"/>
            </a:solidFill>
            <a:prstDash val="solid"/>
          </a:ln>
        </p:spPr>
      </p:sp>
      <p:sp>
        <p:nvSpPr>
          <p:cNvPr id="24" name="Shape 22"/>
          <p:cNvSpPr/>
          <p:nvPr/>
        </p:nvSpPr>
        <p:spPr>
          <a:xfrm>
            <a:off x="1929384" y="2395728"/>
            <a:ext cx="1645920" cy="685800"/>
          </a:xfrm>
          <a:prstGeom prst="rect">
            <a:avLst/>
          </a:prstGeom>
          <a:solidFill>
            <a:srgbClr val="FFFFFF"/>
          </a:solidFill>
          <a:ln w="12700">
            <a:solidFill>
              <a:srgbClr val="00796B"/>
            </a:solidFill>
            <a:prstDash val="solid"/>
          </a:ln>
          <a:effectLst>
            <a:outerShdw blurRad="101600" dist="38100" dir="8100000" algn="bl" rotWithShape="0">
              <a:srgbClr val="000000">
                <a:alpha val="14000"/>
              </a:srgbClr>
            </a:outerShdw>
          </a:effectLst>
        </p:spPr>
      </p:sp>
      <p:sp>
        <p:nvSpPr>
          <p:cNvPr id="25" name="Shape 23"/>
          <p:cNvSpPr/>
          <p:nvPr/>
        </p:nvSpPr>
        <p:spPr>
          <a:xfrm>
            <a:off x="1929384" y="2395728"/>
            <a:ext cx="54864" cy="685800"/>
          </a:xfrm>
          <a:prstGeom prst="rect">
            <a:avLst/>
          </a:prstGeom>
          <a:solidFill>
            <a:srgbClr val="00796B"/>
          </a:solidFill>
          <a:ln w="12700">
            <a:solidFill>
              <a:srgbClr val="00796B"/>
            </a:solidFill>
            <a:prstDash val="solid"/>
          </a:ln>
        </p:spPr>
      </p:sp>
      <p:sp>
        <p:nvSpPr>
          <p:cNvPr id="26" name="Text 24"/>
          <p:cNvSpPr/>
          <p:nvPr/>
        </p:nvSpPr>
        <p:spPr>
          <a:xfrm>
            <a:off x="2039112" y="2441448"/>
            <a:ext cx="1481328" cy="594360"/>
          </a:xfrm>
          <a:prstGeom prst="rect">
            <a:avLst/>
          </a:prstGeom>
          <a:noFill/>
          <a:ln/>
        </p:spPr>
        <p:txBody>
          <a:bodyPr wrap="square" rtlCol="0" anchor="ctr"/>
          <a:lstStyle/>
          <a:p>
            <a:pPr marL="0" indent="0">
              <a:buNone/>
            </a:pPr>
            <a:r>
              <a:rPr lang="en-US" sz="950" dirty="0">
                <a:solidFill>
                  <a:srgbClr val="455A64"/>
                </a:solidFill>
              </a:rPr>
              <a:t>Constitution Comité SI</a:t>
            </a:r>
            <a:endParaRPr lang="en-US" sz="950" dirty="0"/>
          </a:p>
        </p:txBody>
      </p:sp>
      <p:sp>
        <p:nvSpPr>
          <p:cNvPr id="27" name="Shape 25"/>
          <p:cNvSpPr/>
          <p:nvPr/>
        </p:nvSpPr>
        <p:spPr>
          <a:xfrm>
            <a:off x="1929384" y="3145536"/>
            <a:ext cx="1645920" cy="685800"/>
          </a:xfrm>
          <a:prstGeom prst="rect">
            <a:avLst/>
          </a:prstGeom>
          <a:solidFill>
            <a:srgbClr val="FFFFFF"/>
          </a:solidFill>
          <a:ln w="12700">
            <a:solidFill>
              <a:srgbClr val="00796B"/>
            </a:solidFill>
            <a:prstDash val="solid"/>
          </a:ln>
          <a:effectLst>
            <a:outerShdw blurRad="101600" dist="38100" dir="8100000" algn="bl" rotWithShape="0">
              <a:srgbClr val="000000">
                <a:alpha val="14000"/>
              </a:srgbClr>
            </a:outerShdw>
          </a:effectLst>
        </p:spPr>
      </p:sp>
      <p:sp>
        <p:nvSpPr>
          <p:cNvPr id="28" name="Shape 26"/>
          <p:cNvSpPr/>
          <p:nvPr/>
        </p:nvSpPr>
        <p:spPr>
          <a:xfrm>
            <a:off x="1929384" y="3145536"/>
            <a:ext cx="54864" cy="685800"/>
          </a:xfrm>
          <a:prstGeom prst="rect">
            <a:avLst/>
          </a:prstGeom>
          <a:solidFill>
            <a:srgbClr val="00796B"/>
          </a:solidFill>
          <a:ln w="12700">
            <a:solidFill>
              <a:srgbClr val="00796B"/>
            </a:solidFill>
            <a:prstDash val="solid"/>
          </a:ln>
        </p:spPr>
      </p:sp>
      <p:sp>
        <p:nvSpPr>
          <p:cNvPr id="29" name="Text 27"/>
          <p:cNvSpPr/>
          <p:nvPr/>
        </p:nvSpPr>
        <p:spPr>
          <a:xfrm>
            <a:off x="2039112" y="3191256"/>
            <a:ext cx="1481328" cy="594360"/>
          </a:xfrm>
          <a:prstGeom prst="rect">
            <a:avLst/>
          </a:prstGeom>
          <a:noFill/>
          <a:ln/>
        </p:spPr>
        <p:txBody>
          <a:bodyPr wrap="square" rtlCol="0" anchor="ctr"/>
          <a:lstStyle/>
          <a:p>
            <a:pPr marL="0" indent="0">
              <a:buNone/>
            </a:pPr>
            <a:r>
              <a:rPr lang="en-US" sz="950" dirty="0">
                <a:solidFill>
                  <a:srgbClr val="455A64"/>
                </a:solidFill>
              </a:rPr>
              <a:t>Définition des rôles</a:t>
            </a:r>
            <a:endParaRPr lang="en-US" sz="950" dirty="0"/>
          </a:p>
        </p:txBody>
      </p:sp>
      <p:sp>
        <p:nvSpPr>
          <p:cNvPr id="30" name="Shape 28"/>
          <p:cNvSpPr/>
          <p:nvPr/>
        </p:nvSpPr>
        <p:spPr>
          <a:xfrm>
            <a:off x="1929384" y="3895344"/>
            <a:ext cx="1645920" cy="685800"/>
          </a:xfrm>
          <a:prstGeom prst="rect">
            <a:avLst/>
          </a:prstGeom>
          <a:solidFill>
            <a:srgbClr val="FFFFFF"/>
          </a:solidFill>
          <a:ln w="12700">
            <a:solidFill>
              <a:srgbClr val="00796B"/>
            </a:solidFill>
            <a:prstDash val="solid"/>
          </a:ln>
          <a:effectLst>
            <a:outerShdw blurRad="101600" dist="38100" dir="8100000" algn="bl" rotWithShape="0">
              <a:srgbClr val="000000">
                <a:alpha val="14000"/>
              </a:srgbClr>
            </a:outerShdw>
          </a:effectLst>
        </p:spPr>
      </p:sp>
      <p:sp>
        <p:nvSpPr>
          <p:cNvPr id="31" name="Shape 29"/>
          <p:cNvSpPr/>
          <p:nvPr/>
        </p:nvSpPr>
        <p:spPr>
          <a:xfrm>
            <a:off x="1929384" y="3895344"/>
            <a:ext cx="54864" cy="685800"/>
          </a:xfrm>
          <a:prstGeom prst="rect">
            <a:avLst/>
          </a:prstGeom>
          <a:solidFill>
            <a:srgbClr val="00796B"/>
          </a:solidFill>
          <a:ln w="12700">
            <a:solidFill>
              <a:srgbClr val="00796B"/>
            </a:solidFill>
            <a:prstDash val="solid"/>
          </a:ln>
        </p:spPr>
      </p:sp>
      <p:sp>
        <p:nvSpPr>
          <p:cNvPr id="32" name="Text 30"/>
          <p:cNvSpPr/>
          <p:nvPr/>
        </p:nvSpPr>
        <p:spPr>
          <a:xfrm>
            <a:off x="2039112" y="3941064"/>
            <a:ext cx="1481328" cy="594360"/>
          </a:xfrm>
          <a:prstGeom prst="rect">
            <a:avLst/>
          </a:prstGeom>
          <a:noFill/>
          <a:ln/>
        </p:spPr>
        <p:txBody>
          <a:bodyPr wrap="square" rtlCol="0" anchor="ctr"/>
          <a:lstStyle/>
          <a:p>
            <a:pPr marL="0" indent="0">
              <a:buNone/>
            </a:pPr>
            <a:r>
              <a:rPr lang="en-US" sz="950" dirty="0">
                <a:solidFill>
                  <a:srgbClr val="455A64"/>
                </a:solidFill>
              </a:rPr>
              <a:t>Charte de gouvernance</a:t>
            </a:r>
            <a:endParaRPr lang="en-US" sz="950" dirty="0"/>
          </a:p>
        </p:txBody>
      </p:sp>
      <p:sp>
        <p:nvSpPr>
          <p:cNvPr id="33" name="Shape 31"/>
          <p:cNvSpPr/>
          <p:nvPr/>
        </p:nvSpPr>
        <p:spPr>
          <a:xfrm>
            <a:off x="3694176" y="1051560"/>
            <a:ext cx="1645920" cy="621792"/>
          </a:xfrm>
          <a:prstGeom prst="rect">
            <a:avLst/>
          </a:prstGeom>
          <a:solidFill>
            <a:srgbClr val="2E7D32"/>
          </a:solidFill>
          <a:ln w="12700">
            <a:solidFill>
              <a:srgbClr val="2E7D32"/>
            </a:solidFill>
            <a:prstDash val="solid"/>
          </a:ln>
          <a:effectLst>
            <a:outerShdw blurRad="101600" dist="38100" dir="8100000" algn="bl" rotWithShape="0">
              <a:srgbClr val="000000">
                <a:alpha val="14000"/>
              </a:srgbClr>
            </a:outerShdw>
          </a:effectLst>
        </p:spPr>
      </p:sp>
      <p:sp>
        <p:nvSpPr>
          <p:cNvPr id="34" name="Text 32"/>
          <p:cNvSpPr/>
          <p:nvPr/>
        </p:nvSpPr>
        <p:spPr>
          <a:xfrm>
            <a:off x="3694176" y="1051560"/>
            <a:ext cx="1645920" cy="292608"/>
          </a:xfrm>
          <a:prstGeom prst="rect">
            <a:avLst/>
          </a:prstGeom>
          <a:noFill/>
          <a:ln/>
        </p:spPr>
        <p:txBody>
          <a:bodyPr wrap="square" lIns="0" tIns="0" rIns="0" bIns="0" rtlCol="0" anchor="ctr"/>
          <a:lstStyle/>
          <a:p>
            <a:pPr marL="0" indent="0" algn="ctr">
              <a:buNone/>
            </a:pPr>
            <a:r>
              <a:rPr lang="en-US" sz="1100" b="1" dirty="0">
                <a:solidFill>
                  <a:srgbClr val="FFFFFF"/>
                </a:solidFill>
              </a:rPr>
              <a:t>Phase 3</a:t>
            </a:r>
            <a:endParaRPr lang="en-US" sz="1100" dirty="0"/>
          </a:p>
        </p:txBody>
      </p:sp>
      <p:sp>
        <p:nvSpPr>
          <p:cNvPr id="35" name="Text 33"/>
          <p:cNvSpPr/>
          <p:nvPr/>
        </p:nvSpPr>
        <p:spPr>
          <a:xfrm>
            <a:off x="3694176" y="1344168"/>
            <a:ext cx="1645920" cy="329184"/>
          </a:xfrm>
          <a:prstGeom prst="rect">
            <a:avLst/>
          </a:prstGeom>
          <a:noFill/>
          <a:ln/>
        </p:spPr>
        <p:txBody>
          <a:bodyPr wrap="square" lIns="0" tIns="0" rIns="0" bIns="0" rtlCol="0" anchor="ctr"/>
          <a:lstStyle/>
          <a:p>
            <a:pPr marL="0" indent="0" algn="ctr">
              <a:buNone/>
            </a:pPr>
            <a:r>
              <a:rPr lang="en-US" sz="1000" dirty="0">
                <a:solidFill>
                  <a:srgbClr val="FFD54F"/>
                </a:solidFill>
              </a:rPr>
              <a:t>M3–M5</a:t>
            </a:r>
            <a:endParaRPr lang="en-US" sz="1000" dirty="0"/>
          </a:p>
        </p:txBody>
      </p:sp>
      <p:sp>
        <p:nvSpPr>
          <p:cNvPr id="36" name="Text 34"/>
          <p:cNvSpPr/>
          <p:nvPr/>
        </p:nvSpPr>
        <p:spPr>
          <a:xfrm>
            <a:off x="3694176" y="1719072"/>
            <a:ext cx="1645920" cy="594360"/>
          </a:xfrm>
          <a:prstGeom prst="rect">
            <a:avLst/>
          </a:prstGeom>
          <a:noFill/>
          <a:ln/>
        </p:spPr>
        <p:txBody>
          <a:bodyPr wrap="square" rtlCol="0" anchor="ctr"/>
          <a:lstStyle/>
          <a:p>
            <a:pPr marL="0" indent="0" algn="ctr">
              <a:buNone/>
            </a:pPr>
            <a:r>
              <a:rPr lang="en-US" sz="1100" b="1" dirty="0">
                <a:solidFill>
                  <a:srgbClr val="2E7D32"/>
                </a:solidFill>
              </a:rPr>
              <a:t>Dictionnaire</a:t>
            </a:r>
            <a:endParaRPr lang="en-US" sz="1100" dirty="0"/>
          </a:p>
          <a:p>
            <a:pPr marL="0" indent="0" algn="ctr">
              <a:buNone/>
            </a:pPr>
            <a:r>
              <a:rPr lang="en-US" sz="1100" b="1" dirty="0">
                <a:solidFill>
                  <a:srgbClr val="2E7D32"/>
                </a:solidFill>
              </a:rPr>
              <a:t>de Données</a:t>
            </a:r>
            <a:endParaRPr lang="en-US" sz="1100" dirty="0"/>
          </a:p>
        </p:txBody>
      </p:sp>
      <p:sp>
        <p:nvSpPr>
          <p:cNvPr id="37" name="Shape 35"/>
          <p:cNvSpPr/>
          <p:nvPr/>
        </p:nvSpPr>
        <p:spPr>
          <a:xfrm>
            <a:off x="5349240" y="1298448"/>
            <a:ext cx="91440" cy="164592"/>
          </a:xfrm>
          <a:prstGeom prst="rect">
            <a:avLst/>
          </a:prstGeom>
          <a:solidFill>
            <a:srgbClr val="F9A825"/>
          </a:solidFill>
          <a:ln w="12700">
            <a:solidFill>
              <a:srgbClr val="F9A825"/>
            </a:solidFill>
            <a:prstDash val="solid"/>
          </a:ln>
        </p:spPr>
      </p:sp>
      <p:sp>
        <p:nvSpPr>
          <p:cNvPr id="38" name="Shape 36"/>
          <p:cNvSpPr/>
          <p:nvPr/>
        </p:nvSpPr>
        <p:spPr>
          <a:xfrm>
            <a:off x="3694176" y="2395728"/>
            <a:ext cx="1645920" cy="685800"/>
          </a:xfrm>
          <a:prstGeom prst="rect">
            <a:avLst/>
          </a:prstGeom>
          <a:solidFill>
            <a:srgbClr val="FFFFFF"/>
          </a:solidFill>
          <a:ln w="12700">
            <a:solidFill>
              <a:srgbClr val="2E7D32"/>
            </a:solidFill>
            <a:prstDash val="solid"/>
          </a:ln>
          <a:effectLst>
            <a:outerShdw blurRad="101600" dist="38100" dir="8100000" algn="bl" rotWithShape="0">
              <a:srgbClr val="000000">
                <a:alpha val="14000"/>
              </a:srgbClr>
            </a:outerShdw>
          </a:effectLst>
        </p:spPr>
      </p:sp>
      <p:sp>
        <p:nvSpPr>
          <p:cNvPr id="39" name="Shape 37"/>
          <p:cNvSpPr/>
          <p:nvPr/>
        </p:nvSpPr>
        <p:spPr>
          <a:xfrm>
            <a:off x="3694176" y="2395728"/>
            <a:ext cx="54864" cy="685800"/>
          </a:xfrm>
          <a:prstGeom prst="rect">
            <a:avLst/>
          </a:prstGeom>
          <a:solidFill>
            <a:srgbClr val="2E7D32"/>
          </a:solidFill>
          <a:ln w="12700">
            <a:solidFill>
              <a:srgbClr val="2E7D32"/>
            </a:solidFill>
            <a:prstDash val="solid"/>
          </a:ln>
        </p:spPr>
      </p:sp>
      <p:sp>
        <p:nvSpPr>
          <p:cNvPr id="40" name="Text 38"/>
          <p:cNvSpPr/>
          <p:nvPr/>
        </p:nvSpPr>
        <p:spPr>
          <a:xfrm>
            <a:off x="3803904" y="2441448"/>
            <a:ext cx="1481328" cy="594360"/>
          </a:xfrm>
          <a:prstGeom prst="rect">
            <a:avLst/>
          </a:prstGeom>
          <a:noFill/>
          <a:ln/>
        </p:spPr>
        <p:txBody>
          <a:bodyPr wrap="square" rtlCol="0" anchor="ctr"/>
          <a:lstStyle/>
          <a:p>
            <a:pPr marL="0" indent="0">
              <a:buNone/>
            </a:pPr>
            <a:r>
              <a:rPr lang="en-US" sz="950" dirty="0">
                <a:solidFill>
                  <a:srgbClr val="455A64"/>
                </a:solidFill>
              </a:rPr>
              <a:t>Définition des concepts clés</a:t>
            </a:r>
            <a:endParaRPr lang="en-US" sz="950" dirty="0"/>
          </a:p>
        </p:txBody>
      </p:sp>
      <p:sp>
        <p:nvSpPr>
          <p:cNvPr id="41" name="Shape 39"/>
          <p:cNvSpPr/>
          <p:nvPr/>
        </p:nvSpPr>
        <p:spPr>
          <a:xfrm>
            <a:off x="3694176" y="3145536"/>
            <a:ext cx="1645920" cy="685800"/>
          </a:xfrm>
          <a:prstGeom prst="rect">
            <a:avLst/>
          </a:prstGeom>
          <a:solidFill>
            <a:srgbClr val="FFFFFF"/>
          </a:solidFill>
          <a:ln w="12700">
            <a:solidFill>
              <a:srgbClr val="2E7D32"/>
            </a:solidFill>
            <a:prstDash val="solid"/>
          </a:ln>
          <a:effectLst>
            <a:outerShdw blurRad="101600" dist="38100" dir="8100000" algn="bl" rotWithShape="0">
              <a:srgbClr val="000000">
                <a:alpha val="14000"/>
              </a:srgbClr>
            </a:outerShdw>
          </a:effectLst>
        </p:spPr>
      </p:sp>
      <p:sp>
        <p:nvSpPr>
          <p:cNvPr id="42" name="Shape 40"/>
          <p:cNvSpPr/>
          <p:nvPr/>
        </p:nvSpPr>
        <p:spPr>
          <a:xfrm>
            <a:off x="3694176" y="3145536"/>
            <a:ext cx="54864" cy="685800"/>
          </a:xfrm>
          <a:prstGeom prst="rect">
            <a:avLst/>
          </a:prstGeom>
          <a:solidFill>
            <a:srgbClr val="2E7D32"/>
          </a:solidFill>
          <a:ln w="12700">
            <a:solidFill>
              <a:srgbClr val="2E7D32"/>
            </a:solidFill>
            <a:prstDash val="solid"/>
          </a:ln>
        </p:spPr>
      </p:sp>
      <p:sp>
        <p:nvSpPr>
          <p:cNvPr id="43" name="Text 41"/>
          <p:cNvSpPr/>
          <p:nvPr/>
        </p:nvSpPr>
        <p:spPr>
          <a:xfrm>
            <a:off x="3803904" y="3191256"/>
            <a:ext cx="1481328" cy="594360"/>
          </a:xfrm>
          <a:prstGeom prst="rect">
            <a:avLst/>
          </a:prstGeom>
          <a:noFill/>
          <a:ln/>
        </p:spPr>
        <p:txBody>
          <a:bodyPr wrap="square" rtlCol="0" anchor="ctr"/>
          <a:lstStyle/>
          <a:p>
            <a:pPr marL="0" indent="0">
              <a:buNone/>
            </a:pPr>
            <a:r>
              <a:rPr lang="en-US" sz="950" dirty="0">
                <a:solidFill>
                  <a:srgbClr val="455A64"/>
                </a:solidFill>
              </a:rPr>
              <a:t>Validation par les métiers</a:t>
            </a:r>
            <a:endParaRPr lang="en-US" sz="950" dirty="0"/>
          </a:p>
        </p:txBody>
      </p:sp>
      <p:sp>
        <p:nvSpPr>
          <p:cNvPr id="44" name="Shape 42"/>
          <p:cNvSpPr/>
          <p:nvPr/>
        </p:nvSpPr>
        <p:spPr>
          <a:xfrm>
            <a:off x="3694176" y="3895344"/>
            <a:ext cx="1645920" cy="685800"/>
          </a:xfrm>
          <a:prstGeom prst="rect">
            <a:avLst/>
          </a:prstGeom>
          <a:solidFill>
            <a:srgbClr val="FFFFFF"/>
          </a:solidFill>
          <a:ln w="12700">
            <a:solidFill>
              <a:srgbClr val="2E7D32"/>
            </a:solidFill>
            <a:prstDash val="solid"/>
          </a:ln>
          <a:effectLst>
            <a:outerShdw blurRad="101600" dist="38100" dir="8100000" algn="bl" rotWithShape="0">
              <a:srgbClr val="000000">
                <a:alpha val="14000"/>
              </a:srgbClr>
            </a:outerShdw>
          </a:effectLst>
        </p:spPr>
      </p:sp>
      <p:sp>
        <p:nvSpPr>
          <p:cNvPr id="45" name="Shape 43"/>
          <p:cNvSpPr/>
          <p:nvPr/>
        </p:nvSpPr>
        <p:spPr>
          <a:xfrm>
            <a:off x="3694176" y="3895344"/>
            <a:ext cx="54864" cy="685800"/>
          </a:xfrm>
          <a:prstGeom prst="rect">
            <a:avLst/>
          </a:prstGeom>
          <a:solidFill>
            <a:srgbClr val="2E7D32"/>
          </a:solidFill>
          <a:ln w="12700">
            <a:solidFill>
              <a:srgbClr val="2E7D32"/>
            </a:solidFill>
            <a:prstDash val="solid"/>
          </a:ln>
        </p:spPr>
      </p:sp>
      <p:sp>
        <p:nvSpPr>
          <p:cNvPr id="46" name="Text 44"/>
          <p:cNvSpPr/>
          <p:nvPr/>
        </p:nvSpPr>
        <p:spPr>
          <a:xfrm>
            <a:off x="3803904" y="3941064"/>
            <a:ext cx="1481328" cy="594360"/>
          </a:xfrm>
          <a:prstGeom prst="rect">
            <a:avLst/>
          </a:prstGeom>
          <a:noFill/>
          <a:ln/>
        </p:spPr>
        <p:txBody>
          <a:bodyPr wrap="square" rtlCol="0" anchor="ctr"/>
          <a:lstStyle/>
          <a:p>
            <a:pPr marL="0" indent="0">
              <a:buNone/>
            </a:pPr>
            <a:r>
              <a:rPr lang="en-US" sz="950" dirty="0">
                <a:solidFill>
                  <a:srgbClr val="455A64"/>
                </a:solidFill>
              </a:rPr>
              <a:t>Publication du dictionnaire</a:t>
            </a:r>
            <a:endParaRPr lang="en-US" sz="950" dirty="0"/>
          </a:p>
        </p:txBody>
      </p:sp>
      <p:sp>
        <p:nvSpPr>
          <p:cNvPr id="47" name="Shape 45"/>
          <p:cNvSpPr/>
          <p:nvPr/>
        </p:nvSpPr>
        <p:spPr>
          <a:xfrm>
            <a:off x="5458968" y="1051560"/>
            <a:ext cx="1645920" cy="621792"/>
          </a:xfrm>
          <a:prstGeom prst="rect">
            <a:avLst/>
          </a:prstGeom>
          <a:solidFill>
            <a:srgbClr val="1976D2"/>
          </a:solidFill>
          <a:ln w="12700">
            <a:solidFill>
              <a:srgbClr val="1976D2"/>
            </a:solidFill>
            <a:prstDash val="solid"/>
          </a:ln>
          <a:effectLst>
            <a:outerShdw blurRad="101600" dist="38100" dir="8100000" algn="bl" rotWithShape="0">
              <a:srgbClr val="000000">
                <a:alpha val="14000"/>
              </a:srgbClr>
            </a:outerShdw>
          </a:effectLst>
        </p:spPr>
      </p:sp>
      <p:sp>
        <p:nvSpPr>
          <p:cNvPr id="48" name="Text 46"/>
          <p:cNvSpPr/>
          <p:nvPr/>
        </p:nvSpPr>
        <p:spPr>
          <a:xfrm>
            <a:off x="5458968" y="1051560"/>
            <a:ext cx="1645920" cy="292608"/>
          </a:xfrm>
          <a:prstGeom prst="rect">
            <a:avLst/>
          </a:prstGeom>
          <a:noFill/>
          <a:ln/>
        </p:spPr>
        <p:txBody>
          <a:bodyPr wrap="square" lIns="0" tIns="0" rIns="0" bIns="0" rtlCol="0" anchor="ctr"/>
          <a:lstStyle/>
          <a:p>
            <a:pPr marL="0" indent="0" algn="ctr">
              <a:buNone/>
            </a:pPr>
            <a:r>
              <a:rPr lang="en-US" sz="1100" b="1" dirty="0">
                <a:solidFill>
                  <a:srgbClr val="FFFFFF"/>
                </a:solidFill>
              </a:rPr>
              <a:t>Phase 4</a:t>
            </a:r>
            <a:endParaRPr lang="en-US" sz="1100" dirty="0"/>
          </a:p>
        </p:txBody>
      </p:sp>
      <p:sp>
        <p:nvSpPr>
          <p:cNvPr id="49" name="Text 47"/>
          <p:cNvSpPr/>
          <p:nvPr/>
        </p:nvSpPr>
        <p:spPr>
          <a:xfrm>
            <a:off x="5458968" y="1344168"/>
            <a:ext cx="1645920" cy="329184"/>
          </a:xfrm>
          <a:prstGeom prst="rect">
            <a:avLst/>
          </a:prstGeom>
          <a:noFill/>
          <a:ln/>
        </p:spPr>
        <p:txBody>
          <a:bodyPr wrap="square" lIns="0" tIns="0" rIns="0" bIns="0" rtlCol="0" anchor="ctr"/>
          <a:lstStyle/>
          <a:p>
            <a:pPr marL="0" indent="0" algn="ctr">
              <a:buNone/>
            </a:pPr>
            <a:r>
              <a:rPr lang="en-US" sz="1000" dirty="0">
                <a:solidFill>
                  <a:srgbClr val="FFD54F"/>
                </a:solidFill>
              </a:rPr>
              <a:t>M5–M9</a:t>
            </a:r>
            <a:endParaRPr lang="en-US" sz="1000" dirty="0"/>
          </a:p>
        </p:txBody>
      </p:sp>
      <p:sp>
        <p:nvSpPr>
          <p:cNvPr id="50" name="Text 48"/>
          <p:cNvSpPr/>
          <p:nvPr/>
        </p:nvSpPr>
        <p:spPr>
          <a:xfrm>
            <a:off x="5458968" y="1719072"/>
            <a:ext cx="1645920" cy="594360"/>
          </a:xfrm>
          <a:prstGeom prst="rect">
            <a:avLst/>
          </a:prstGeom>
          <a:noFill/>
          <a:ln/>
        </p:spPr>
        <p:txBody>
          <a:bodyPr wrap="square" rtlCol="0" anchor="ctr"/>
          <a:lstStyle/>
          <a:p>
            <a:pPr marL="0" indent="0" algn="ctr">
              <a:buNone/>
            </a:pPr>
            <a:r>
              <a:rPr lang="en-US" sz="1100" b="1" dirty="0">
                <a:solidFill>
                  <a:srgbClr val="1976D2"/>
                </a:solidFill>
              </a:rPr>
              <a:t>Déploiement</a:t>
            </a:r>
            <a:endParaRPr lang="en-US" sz="1100" dirty="0"/>
          </a:p>
          <a:p>
            <a:pPr marL="0" indent="0" algn="ctr">
              <a:buNone/>
            </a:pPr>
            <a:r>
              <a:rPr lang="en-US" sz="1100" b="1" dirty="0">
                <a:solidFill>
                  <a:srgbClr val="1976D2"/>
                </a:solidFill>
              </a:rPr>
              <a:t>MDM</a:t>
            </a:r>
            <a:endParaRPr lang="en-US" sz="1100" dirty="0"/>
          </a:p>
        </p:txBody>
      </p:sp>
      <p:sp>
        <p:nvSpPr>
          <p:cNvPr id="51" name="Shape 49"/>
          <p:cNvSpPr/>
          <p:nvPr/>
        </p:nvSpPr>
        <p:spPr>
          <a:xfrm>
            <a:off x="7114032" y="1298448"/>
            <a:ext cx="91440" cy="164592"/>
          </a:xfrm>
          <a:prstGeom prst="rect">
            <a:avLst/>
          </a:prstGeom>
          <a:solidFill>
            <a:srgbClr val="F9A825"/>
          </a:solidFill>
          <a:ln w="12700">
            <a:solidFill>
              <a:srgbClr val="F9A825"/>
            </a:solidFill>
            <a:prstDash val="solid"/>
          </a:ln>
        </p:spPr>
      </p:sp>
      <p:sp>
        <p:nvSpPr>
          <p:cNvPr id="52" name="Shape 50"/>
          <p:cNvSpPr/>
          <p:nvPr/>
        </p:nvSpPr>
        <p:spPr>
          <a:xfrm>
            <a:off x="5458968" y="2395728"/>
            <a:ext cx="1645920" cy="685800"/>
          </a:xfrm>
          <a:prstGeom prst="rect">
            <a:avLst/>
          </a:prstGeom>
          <a:solidFill>
            <a:srgbClr val="FFFFFF"/>
          </a:solidFill>
          <a:ln w="12700">
            <a:solidFill>
              <a:srgbClr val="1976D2"/>
            </a:solidFill>
            <a:prstDash val="solid"/>
          </a:ln>
          <a:effectLst>
            <a:outerShdw blurRad="101600" dist="38100" dir="8100000" algn="bl" rotWithShape="0">
              <a:srgbClr val="000000">
                <a:alpha val="14000"/>
              </a:srgbClr>
            </a:outerShdw>
          </a:effectLst>
        </p:spPr>
      </p:sp>
      <p:sp>
        <p:nvSpPr>
          <p:cNvPr id="53" name="Shape 51"/>
          <p:cNvSpPr/>
          <p:nvPr/>
        </p:nvSpPr>
        <p:spPr>
          <a:xfrm>
            <a:off x="5458968" y="2395728"/>
            <a:ext cx="54864" cy="685800"/>
          </a:xfrm>
          <a:prstGeom prst="rect">
            <a:avLst/>
          </a:prstGeom>
          <a:solidFill>
            <a:srgbClr val="1976D2"/>
          </a:solidFill>
          <a:ln w="12700">
            <a:solidFill>
              <a:srgbClr val="1976D2"/>
            </a:solidFill>
            <a:prstDash val="solid"/>
          </a:ln>
        </p:spPr>
      </p:sp>
      <p:sp>
        <p:nvSpPr>
          <p:cNvPr id="54" name="Text 52"/>
          <p:cNvSpPr/>
          <p:nvPr/>
        </p:nvSpPr>
        <p:spPr>
          <a:xfrm>
            <a:off x="5568696" y="2441448"/>
            <a:ext cx="1481328" cy="594360"/>
          </a:xfrm>
          <a:prstGeom prst="rect">
            <a:avLst/>
          </a:prstGeom>
          <a:noFill/>
          <a:ln/>
        </p:spPr>
        <p:txBody>
          <a:bodyPr wrap="square" rtlCol="0" anchor="ctr"/>
          <a:lstStyle/>
          <a:p>
            <a:pPr marL="0" indent="0">
              <a:buNone/>
            </a:pPr>
            <a:r>
              <a:rPr lang="en-US" sz="950" dirty="0">
                <a:solidFill>
                  <a:srgbClr val="455A64"/>
                </a:solidFill>
              </a:rPr>
              <a:t>Implémentation plateforme MDM</a:t>
            </a:r>
            <a:endParaRPr lang="en-US" sz="950" dirty="0"/>
          </a:p>
        </p:txBody>
      </p:sp>
      <p:sp>
        <p:nvSpPr>
          <p:cNvPr id="55" name="Shape 53"/>
          <p:cNvSpPr/>
          <p:nvPr/>
        </p:nvSpPr>
        <p:spPr>
          <a:xfrm>
            <a:off x="5458968" y="3145536"/>
            <a:ext cx="1645920" cy="685800"/>
          </a:xfrm>
          <a:prstGeom prst="rect">
            <a:avLst/>
          </a:prstGeom>
          <a:solidFill>
            <a:srgbClr val="FFFFFF"/>
          </a:solidFill>
          <a:ln w="12700">
            <a:solidFill>
              <a:srgbClr val="1976D2"/>
            </a:solidFill>
            <a:prstDash val="solid"/>
          </a:ln>
          <a:effectLst>
            <a:outerShdw blurRad="101600" dist="38100" dir="8100000" algn="bl" rotWithShape="0">
              <a:srgbClr val="000000">
                <a:alpha val="14000"/>
              </a:srgbClr>
            </a:outerShdw>
          </a:effectLst>
        </p:spPr>
      </p:sp>
      <p:sp>
        <p:nvSpPr>
          <p:cNvPr id="56" name="Shape 54"/>
          <p:cNvSpPr/>
          <p:nvPr/>
        </p:nvSpPr>
        <p:spPr>
          <a:xfrm>
            <a:off x="5458968" y="3145536"/>
            <a:ext cx="54864" cy="685800"/>
          </a:xfrm>
          <a:prstGeom prst="rect">
            <a:avLst/>
          </a:prstGeom>
          <a:solidFill>
            <a:srgbClr val="1976D2"/>
          </a:solidFill>
          <a:ln w="12700">
            <a:solidFill>
              <a:srgbClr val="1976D2"/>
            </a:solidFill>
            <a:prstDash val="solid"/>
          </a:ln>
        </p:spPr>
      </p:sp>
      <p:sp>
        <p:nvSpPr>
          <p:cNvPr id="57" name="Text 55"/>
          <p:cNvSpPr/>
          <p:nvPr/>
        </p:nvSpPr>
        <p:spPr>
          <a:xfrm>
            <a:off x="5568696" y="3191256"/>
            <a:ext cx="1481328" cy="594360"/>
          </a:xfrm>
          <a:prstGeom prst="rect">
            <a:avLst/>
          </a:prstGeom>
          <a:noFill/>
          <a:ln/>
        </p:spPr>
        <p:txBody>
          <a:bodyPr wrap="square" rtlCol="0" anchor="ctr"/>
          <a:lstStyle/>
          <a:p>
            <a:pPr marL="0" indent="0">
              <a:buNone/>
            </a:pPr>
            <a:r>
              <a:rPr lang="en-US" sz="950" dirty="0">
                <a:solidFill>
                  <a:srgbClr val="455A64"/>
                </a:solidFill>
              </a:rPr>
              <a:t>Intégration CBS &amp; systèmes</a:t>
            </a:r>
            <a:endParaRPr lang="en-US" sz="950" dirty="0"/>
          </a:p>
        </p:txBody>
      </p:sp>
      <p:sp>
        <p:nvSpPr>
          <p:cNvPr id="58" name="Shape 56"/>
          <p:cNvSpPr/>
          <p:nvPr/>
        </p:nvSpPr>
        <p:spPr>
          <a:xfrm>
            <a:off x="5458968" y="3895344"/>
            <a:ext cx="1645920" cy="685800"/>
          </a:xfrm>
          <a:prstGeom prst="rect">
            <a:avLst/>
          </a:prstGeom>
          <a:solidFill>
            <a:srgbClr val="FFFFFF"/>
          </a:solidFill>
          <a:ln w="12700">
            <a:solidFill>
              <a:srgbClr val="1976D2"/>
            </a:solidFill>
            <a:prstDash val="solid"/>
          </a:ln>
          <a:effectLst>
            <a:outerShdw blurRad="101600" dist="38100" dir="8100000" algn="bl" rotWithShape="0">
              <a:srgbClr val="000000">
                <a:alpha val="14000"/>
              </a:srgbClr>
            </a:outerShdw>
          </a:effectLst>
        </p:spPr>
      </p:sp>
      <p:sp>
        <p:nvSpPr>
          <p:cNvPr id="59" name="Shape 57"/>
          <p:cNvSpPr/>
          <p:nvPr/>
        </p:nvSpPr>
        <p:spPr>
          <a:xfrm>
            <a:off x="5458968" y="3895344"/>
            <a:ext cx="54864" cy="685800"/>
          </a:xfrm>
          <a:prstGeom prst="rect">
            <a:avLst/>
          </a:prstGeom>
          <a:solidFill>
            <a:srgbClr val="1976D2"/>
          </a:solidFill>
          <a:ln w="12700">
            <a:solidFill>
              <a:srgbClr val="1976D2"/>
            </a:solidFill>
            <a:prstDash val="solid"/>
          </a:ln>
        </p:spPr>
      </p:sp>
      <p:sp>
        <p:nvSpPr>
          <p:cNvPr id="60" name="Text 58"/>
          <p:cNvSpPr/>
          <p:nvPr/>
        </p:nvSpPr>
        <p:spPr>
          <a:xfrm>
            <a:off x="5568696" y="3941064"/>
            <a:ext cx="1481328" cy="594360"/>
          </a:xfrm>
          <a:prstGeom prst="rect">
            <a:avLst/>
          </a:prstGeom>
          <a:noFill/>
          <a:ln/>
        </p:spPr>
        <p:txBody>
          <a:bodyPr wrap="square" rtlCol="0" anchor="ctr"/>
          <a:lstStyle/>
          <a:p>
            <a:pPr marL="0" indent="0">
              <a:buNone/>
            </a:pPr>
            <a:r>
              <a:rPr lang="en-US" sz="950" dirty="0">
                <a:solidFill>
                  <a:srgbClr val="455A64"/>
                </a:solidFill>
              </a:rPr>
              <a:t>Construction Golden Record</a:t>
            </a:r>
            <a:endParaRPr lang="en-US" sz="950" dirty="0"/>
          </a:p>
        </p:txBody>
      </p:sp>
      <p:sp>
        <p:nvSpPr>
          <p:cNvPr id="61" name="Shape 59"/>
          <p:cNvSpPr/>
          <p:nvPr/>
        </p:nvSpPr>
        <p:spPr>
          <a:xfrm>
            <a:off x="7223760" y="1051560"/>
            <a:ext cx="1645920" cy="621792"/>
          </a:xfrm>
          <a:prstGeom prst="rect">
            <a:avLst/>
          </a:prstGeom>
          <a:solidFill>
            <a:srgbClr val="F9A825"/>
          </a:solidFill>
          <a:ln w="12700">
            <a:solidFill>
              <a:srgbClr val="F9A825"/>
            </a:solidFill>
            <a:prstDash val="solid"/>
          </a:ln>
          <a:effectLst>
            <a:outerShdw blurRad="101600" dist="38100" dir="8100000" algn="bl" rotWithShape="0">
              <a:srgbClr val="000000">
                <a:alpha val="14000"/>
              </a:srgbClr>
            </a:outerShdw>
          </a:effectLst>
        </p:spPr>
      </p:sp>
      <p:sp>
        <p:nvSpPr>
          <p:cNvPr id="62" name="Text 60"/>
          <p:cNvSpPr/>
          <p:nvPr/>
        </p:nvSpPr>
        <p:spPr>
          <a:xfrm>
            <a:off x="7223760" y="1051560"/>
            <a:ext cx="1645920" cy="292608"/>
          </a:xfrm>
          <a:prstGeom prst="rect">
            <a:avLst/>
          </a:prstGeom>
          <a:noFill/>
          <a:ln/>
        </p:spPr>
        <p:txBody>
          <a:bodyPr wrap="square" lIns="0" tIns="0" rIns="0" bIns="0" rtlCol="0" anchor="ctr"/>
          <a:lstStyle/>
          <a:p>
            <a:pPr marL="0" indent="0" algn="ctr">
              <a:buNone/>
            </a:pPr>
            <a:r>
              <a:rPr lang="en-US" sz="1100" b="1" dirty="0">
                <a:solidFill>
                  <a:srgbClr val="FFFFFF"/>
                </a:solidFill>
              </a:rPr>
              <a:t>Phase 5</a:t>
            </a:r>
            <a:endParaRPr lang="en-US" sz="1100" dirty="0"/>
          </a:p>
        </p:txBody>
      </p:sp>
      <p:sp>
        <p:nvSpPr>
          <p:cNvPr id="63" name="Text 61"/>
          <p:cNvSpPr/>
          <p:nvPr/>
        </p:nvSpPr>
        <p:spPr>
          <a:xfrm>
            <a:off x="7223760" y="1344168"/>
            <a:ext cx="1645920" cy="329184"/>
          </a:xfrm>
          <a:prstGeom prst="rect">
            <a:avLst/>
          </a:prstGeom>
          <a:noFill/>
          <a:ln/>
        </p:spPr>
        <p:txBody>
          <a:bodyPr wrap="square" lIns="0" tIns="0" rIns="0" bIns="0" rtlCol="0" anchor="ctr"/>
          <a:lstStyle/>
          <a:p>
            <a:pPr marL="0" indent="0" algn="ctr">
              <a:buNone/>
            </a:pPr>
            <a:r>
              <a:rPr lang="en-US" sz="1000" dirty="0">
                <a:solidFill>
                  <a:srgbClr val="0B1D3A"/>
                </a:solidFill>
              </a:rPr>
              <a:t>M9+</a:t>
            </a:r>
            <a:endParaRPr lang="en-US" sz="1000" dirty="0"/>
          </a:p>
        </p:txBody>
      </p:sp>
      <p:sp>
        <p:nvSpPr>
          <p:cNvPr id="64" name="Text 62"/>
          <p:cNvSpPr/>
          <p:nvPr/>
        </p:nvSpPr>
        <p:spPr>
          <a:xfrm>
            <a:off x="7223760" y="1719072"/>
            <a:ext cx="1645920" cy="594360"/>
          </a:xfrm>
          <a:prstGeom prst="rect">
            <a:avLst/>
          </a:prstGeom>
          <a:noFill/>
          <a:ln/>
        </p:spPr>
        <p:txBody>
          <a:bodyPr wrap="square" rtlCol="0" anchor="ctr"/>
          <a:lstStyle/>
          <a:p>
            <a:pPr marL="0" indent="0" algn="ctr">
              <a:buNone/>
            </a:pPr>
            <a:r>
              <a:rPr lang="en-US" sz="1100" b="1" dirty="0">
                <a:solidFill>
                  <a:srgbClr val="F9A825"/>
                </a:solidFill>
              </a:rPr>
              <a:t>Suivi &amp;</a:t>
            </a:r>
            <a:endParaRPr lang="en-US" sz="1100" dirty="0"/>
          </a:p>
          <a:p>
            <a:pPr marL="0" indent="0" algn="ctr">
              <a:buNone/>
            </a:pPr>
            <a:r>
              <a:rPr lang="en-US" sz="1100" b="1" dirty="0">
                <a:solidFill>
                  <a:srgbClr val="F9A825"/>
                </a:solidFill>
              </a:rPr>
              <a:t>Amélioration</a:t>
            </a:r>
            <a:endParaRPr lang="en-US" sz="1100" dirty="0"/>
          </a:p>
        </p:txBody>
      </p:sp>
      <p:sp>
        <p:nvSpPr>
          <p:cNvPr id="65" name="Shape 63"/>
          <p:cNvSpPr/>
          <p:nvPr/>
        </p:nvSpPr>
        <p:spPr>
          <a:xfrm>
            <a:off x="7223760" y="2395728"/>
            <a:ext cx="1645920" cy="685800"/>
          </a:xfrm>
          <a:prstGeom prst="rect">
            <a:avLst/>
          </a:prstGeom>
          <a:solidFill>
            <a:srgbClr val="FFFFFF"/>
          </a:solidFill>
          <a:ln w="12700">
            <a:solidFill>
              <a:srgbClr val="F9A825"/>
            </a:solidFill>
            <a:prstDash val="solid"/>
          </a:ln>
          <a:effectLst>
            <a:outerShdw blurRad="101600" dist="38100" dir="8100000" algn="bl" rotWithShape="0">
              <a:srgbClr val="000000">
                <a:alpha val="14000"/>
              </a:srgbClr>
            </a:outerShdw>
          </a:effectLst>
        </p:spPr>
      </p:sp>
      <p:sp>
        <p:nvSpPr>
          <p:cNvPr id="66" name="Shape 64"/>
          <p:cNvSpPr/>
          <p:nvPr/>
        </p:nvSpPr>
        <p:spPr>
          <a:xfrm>
            <a:off x="7223760" y="2395728"/>
            <a:ext cx="54864" cy="685800"/>
          </a:xfrm>
          <a:prstGeom prst="rect">
            <a:avLst/>
          </a:prstGeom>
          <a:solidFill>
            <a:srgbClr val="F9A825"/>
          </a:solidFill>
          <a:ln w="12700">
            <a:solidFill>
              <a:srgbClr val="F9A825"/>
            </a:solidFill>
            <a:prstDash val="solid"/>
          </a:ln>
        </p:spPr>
      </p:sp>
      <p:sp>
        <p:nvSpPr>
          <p:cNvPr id="67" name="Text 65"/>
          <p:cNvSpPr/>
          <p:nvPr/>
        </p:nvSpPr>
        <p:spPr>
          <a:xfrm>
            <a:off x="7333488" y="2441448"/>
            <a:ext cx="1481328" cy="594360"/>
          </a:xfrm>
          <a:prstGeom prst="rect">
            <a:avLst/>
          </a:prstGeom>
          <a:noFill/>
          <a:ln/>
        </p:spPr>
        <p:txBody>
          <a:bodyPr wrap="square" rtlCol="0" anchor="ctr"/>
          <a:lstStyle/>
          <a:p>
            <a:pPr marL="0" indent="0">
              <a:buNone/>
            </a:pPr>
            <a:r>
              <a:rPr lang="en-US" sz="950" dirty="0">
                <a:solidFill>
                  <a:srgbClr val="455A64"/>
                </a:solidFill>
              </a:rPr>
              <a:t>KPIs et tableaux de bord</a:t>
            </a:r>
            <a:endParaRPr lang="en-US" sz="950" dirty="0"/>
          </a:p>
        </p:txBody>
      </p:sp>
      <p:sp>
        <p:nvSpPr>
          <p:cNvPr id="68" name="Shape 66"/>
          <p:cNvSpPr/>
          <p:nvPr/>
        </p:nvSpPr>
        <p:spPr>
          <a:xfrm>
            <a:off x="7223760" y="3145536"/>
            <a:ext cx="1645920" cy="685800"/>
          </a:xfrm>
          <a:prstGeom prst="rect">
            <a:avLst/>
          </a:prstGeom>
          <a:solidFill>
            <a:srgbClr val="FFFFFF"/>
          </a:solidFill>
          <a:ln w="12700">
            <a:solidFill>
              <a:srgbClr val="F9A825"/>
            </a:solidFill>
            <a:prstDash val="solid"/>
          </a:ln>
          <a:effectLst>
            <a:outerShdw blurRad="101600" dist="38100" dir="8100000" algn="bl" rotWithShape="0">
              <a:srgbClr val="000000">
                <a:alpha val="14000"/>
              </a:srgbClr>
            </a:outerShdw>
          </a:effectLst>
        </p:spPr>
      </p:sp>
      <p:sp>
        <p:nvSpPr>
          <p:cNvPr id="69" name="Shape 67"/>
          <p:cNvSpPr/>
          <p:nvPr/>
        </p:nvSpPr>
        <p:spPr>
          <a:xfrm>
            <a:off x="7223760" y="3145536"/>
            <a:ext cx="54864" cy="685800"/>
          </a:xfrm>
          <a:prstGeom prst="rect">
            <a:avLst/>
          </a:prstGeom>
          <a:solidFill>
            <a:srgbClr val="F9A825"/>
          </a:solidFill>
          <a:ln w="12700">
            <a:solidFill>
              <a:srgbClr val="F9A825"/>
            </a:solidFill>
            <a:prstDash val="solid"/>
          </a:ln>
        </p:spPr>
      </p:sp>
      <p:sp>
        <p:nvSpPr>
          <p:cNvPr id="70" name="Text 68"/>
          <p:cNvSpPr/>
          <p:nvPr/>
        </p:nvSpPr>
        <p:spPr>
          <a:xfrm>
            <a:off x="7333488" y="3191256"/>
            <a:ext cx="1481328" cy="594360"/>
          </a:xfrm>
          <a:prstGeom prst="rect">
            <a:avLst/>
          </a:prstGeom>
          <a:noFill/>
          <a:ln/>
        </p:spPr>
        <p:txBody>
          <a:bodyPr wrap="square" rtlCol="0" anchor="ctr"/>
          <a:lstStyle/>
          <a:p>
            <a:pPr marL="0" indent="0">
              <a:buNone/>
            </a:pPr>
            <a:r>
              <a:rPr lang="en-US" sz="950" dirty="0">
                <a:solidFill>
                  <a:srgbClr val="455A64"/>
                </a:solidFill>
              </a:rPr>
              <a:t>Audits qualité réguliers</a:t>
            </a:r>
            <a:endParaRPr lang="en-US" sz="950" dirty="0"/>
          </a:p>
        </p:txBody>
      </p:sp>
      <p:sp>
        <p:nvSpPr>
          <p:cNvPr id="71" name="Shape 69"/>
          <p:cNvSpPr/>
          <p:nvPr/>
        </p:nvSpPr>
        <p:spPr>
          <a:xfrm>
            <a:off x="7223760" y="3895344"/>
            <a:ext cx="1645920" cy="685800"/>
          </a:xfrm>
          <a:prstGeom prst="rect">
            <a:avLst/>
          </a:prstGeom>
          <a:solidFill>
            <a:srgbClr val="FFFFFF"/>
          </a:solidFill>
          <a:ln w="12700">
            <a:solidFill>
              <a:srgbClr val="F9A825"/>
            </a:solidFill>
            <a:prstDash val="solid"/>
          </a:ln>
          <a:effectLst>
            <a:outerShdw blurRad="101600" dist="38100" dir="8100000" algn="bl" rotWithShape="0">
              <a:srgbClr val="000000">
                <a:alpha val="14000"/>
              </a:srgbClr>
            </a:outerShdw>
          </a:effectLst>
        </p:spPr>
      </p:sp>
      <p:sp>
        <p:nvSpPr>
          <p:cNvPr id="72" name="Shape 70"/>
          <p:cNvSpPr/>
          <p:nvPr/>
        </p:nvSpPr>
        <p:spPr>
          <a:xfrm>
            <a:off x="7223760" y="3895344"/>
            <a:ext cx="54864" cy="685800"/>
          </a:xfrm>
          <a:prstGeom prst="rect">
            <a:avLst/>
          </a:prstGeom>
          <a:solidFill>
            <a:srgbClr val="F9A825"/>
          </a:solidFill>
          <a:ln w="12700">
            <a:solidFill>
              <a:srgbClr val="F9A825"/>
            </a:solidFill>
            <a:prstDash val="solid"/>
          </a:ln>
        </p:spPr>
      </p:sp>
      <p:sp>
        <p:nvSpPr>
          <p:cNvPr id="73" name="Text 71"/>
          <p:cNvSpPr/>
          <p:nvPr/>
        </p:nvSpPr>
        <p:spPr>
          <a:xfrm>
            <a:off x="7333488" y="3941064"/>
            <a:ext cx="1481328" cy="594360"/>
          </a:xfrm>
          <a:prstGeom prst="rect">
            <a:avLst/>
          </a:prstGeom>
          <a:noFill/>
          <a:ln/>
        </p:spPr>
        <p:txBody>
          <a:bodyPr wrap="square" rtlCol="0" anchor="ctr"/>
          <a:lstStyle/>
          <a:p>
            <a:pPr marL="0" indent="0">
              <a:buNone/>
            </a:pPr>
            <a:r>
              <a:rPr lang="en-US" sz="950" dirty="0">
                <a:solidFill>
                  <a:srgbClr val="455A64"/>
                </a:solidFill>
              </a:rPr>
              <a:t>Évolution continue du SI</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Shape 1"/>
          <p:cNvSpPr/>
          <p:nvPr/>
        </p:nvSpPr>
        <p:spPr>
          <a:xfrm>
            <a:off x="0" y="0"/>
            <a:ext cx="54864" cy="5143500"/>
          </a:xfrm>
          <a:prstGeom prst="rect">
            <a:avLst/>
          </a:prstGeom>
          <a:solidFill>
            <a:srgbClr val="F9A825"/>
          </a:solidFill>
          <a:ln w="12700">
            <a:solidFill>
              <a:srgbClr val="F9A825"/>
            </a:solidFill>
            <a:prstDash val="solid"/>
          </a:ln>
        </p:spPr>
      </p:sp>
      <p:sp>
        <p:nvSpPr>
          <p:cNvPr id="4" name="Text 2"/>
          <p:cNvSpPr/>
          <p:nvPr/>
        </p:nvSpPr>
        <p:spPr>
          <a:xfrm>
            <a:off x="228600" y="137160"/>
            <a:ext cx="8686800" cy="6858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07b – Indicateurs de Succès (KPI)</a:t>
            </a:r>
            <a:endParaRPr lang="en-US" sz="2200" dirty="0"/>
          </a:p>
        </p:txBody>
      </p:sp>
      <p:sp>
        <p:nvSpPr>
          <p:cNvPr id="5" name="Shape 3"/>
          <p:cNvSpPr/>
          <p:nvPr/>
        </p:nvSpPr>
        <p:spPr>
          <a:xfrm>
            <a:off x="182880" y="1051560"/>
            <a:ext cx="2834640" cy="1508760"/>
          </a:xfrm>
          <a:prstGeom prst="rect">
            <a:avLst/>
          </a:prstGeom>
          <a:solidFill>
            <a:srgbClr val="FFFFFF"/>
          </a:solidFill>
          <a:ln w="12700">
            <a:solidFill>
              <a:srgbClr val="C62828"/>
            </a:solidFill>
            <a:prstDash val="solid"/>
          </a:ln>
          <a:effectLst>
            <a:outerShdw blurRad="101600" dist="38100" dir="8100000" algn="bl" rotWithShape="0">
              <a:srgbClr val="000000">
                <a:alpha val="14000"/>
              </a:srgbClr>
            </a:outerShdw>
          </a:effectLst>
        </p:spPr>
      </p:sp>
      <p:sp>
        <p:nvSpPr>
          <p:cNvPr id="6" name="Shape 4"/>
          <p:cNvSpPr/>
          <p:nvPr/>
        </p:nvSpPr>
        <p:spPr>
          <a:xfrm>
            <a:off x="182880" y="1051560"/>
            <a:ext cx="2834640" cy="594360"/>
          </a:xfrm>
          <a:prstGeom prst="rect">
            <a:avLst/>
          </a:prstGeom>
          <a:solidFill>
            <a:srgbClr val="C62828"/>
          </a:solidFill>
          <a:ln w="12700">
            <a:solidFill>
              <a:srgbClr val="C62828"/>
            </a:solidFill>
            <a:prstDash val="solid"/>
          </a:ln>
        </p:spPr>
      </p:sp>
      <p:pic>
        <p:nvPicPr>
          <p:cNvPr id="7" name="Image 0" descr="preencoded.png"/>
          <p:cNvPicPr>
            <a:picLocks noChangeAspect="1"/>
          </p:cNvPicPr>
          <p:nvPr/>
        </p:nvPicPr>
        <p:blipFill>
          <a:blip r:embed="rId3"/>
          <a:stretch>
            <a:fillRect/>
          </a:stretch>
        </p:blipFill>
        <p:spPr>
          <a:xfrm>
            <a:off x="292608" y="1161288"/>
            <a:ext cx="365760" cy="365760"/>
          </a:xfrm>
          <a:prstGeom prst="rect">
            <a:avLst/>
          </a:prstGeom>
        </p:spPr>
      </p:pic>
      <p:sp>
        <p:nvSpPr>
          <p:cNvPr id="8" name="Text 5"/>
          <p:cNvSpPr/>
          <p:nvPr/>
        </p:nvSpPr>
        <p:spPr>
          <a:xfrm>
            <a:off x="749808" y="1097280"/>
            <a:ext cx="2176272" cy="512064"/>
          </a:xfrm>
          <a:prstGeom prst="rect">
            <a:avLst/>
          </a:prstGeom>
          <a:noFill/>
          <a:ln/>
        </p:spPr>
        <p:txBody>
          <a:bodyPr wrap="square" rtlCol="0" anchor="ctr"/>
          <a:lstStyle/>
          <a:p>
            <a:pPr marL="0" indent="0">
              <a:buNone/>
            </a:pPr>
            <a:r>
              <a:rPr lang="en-US" sz="2600" b="1" dirty="0">
                <a:solidFill>
                  <a:srgbClr val="FFFFFF"/>
                </a:solidFill>
              </a:rPr>
              <a:t>-50%</a:t>
            </a:r>
            <a:endParaRPr lang="en-US" sz="2600" dirty="0"/>
          </a:p>
        </p:txBody>
      </p:sp>
      <p:sp>
        <p:nvSpPr>
          <p:cNvPr id="9" name="Text 6"/>
          <p:cNvSpPr/>
          <p:nvPr/>
        </p:nvSpPr>
        <p:spPr>
          <a:xfrm>
            <a:off x="320040" y="1709928"/>
            <a:ext cx="2560320" cy="786384"/>
          </a:xfrm>
          <a:prstGeom prst="rect">
            <a:avLst/>
          </a:prstGeom>
          <a:noFill/>
          <a:ln/>
        </p:spPr>
        <p:txBody>
          <a:bodyPr wrap="square" rtlCol="0" anchor="ctr"/>
          <a:lstStyle/>
          <a:p>
            <a:pPr marL="0" indent="0" algn="ctr">
              <a:buNone/>
            </a:pPr>
            <a:r>
              <a:rPr lang="en-US" sz="1100" dirty="0">
                <a:solidFill>
                  <a:srgbClr val="455A64"/>
                </a:solidFill>
              </a:rPr>
              <a:t>Réduction des</a:t>
            </a:r>
            <a:endParaRPr lang="en-US" sz="1100" dirty="0"/>
          </a:p>
          <a:p>
            <a:pPr marL="0" indent="0" algn="ctr">
              <a:buNone/>
            </a:pPr>
            <a:r>
              <a:rPr lang="en-US" sz="1100" dirty="0">
                <a:solidFill>
                  <a:srgbClr val="455A64"/>
                </a:solidFill>
              </a:rPr>
              <a:t>erreurs de données</a:t>
            </a:r>
            <a:endParaRPr lang="en-US" sz="1100" dirty="0"/>
          </a:p>
        </p:txBody>
      </p:sp>
      <p:sp>
        <p:nvSpPr>
          <p:cNvPr id="10" name="Shape 7"/>
          <p:cNvSpPr/>
          <p:nvPr/>
        </p:nvSpPr>
        <p:spPr>
          <a:xfrm>
            <a:off x="3172968" y="1051560"/>
            <a:ext cx="2834640" cy="1508760"/>
          </a:xfrm>
          <a:prstGeom prst="rect">
            <a:avLst/>
          </a:prstGeom>
          <a:solidFill>
            <a:srgbClr val="FFFFFF"/>
          </a:solidFill>
          <a:ln w="12700">
            <a:solidFill>
              <a:srgbClr val="1565C0"/>
            </a:solidFill>
            <a:prstDash val="solid"/>
          </a:ln>
          <a:effectLst>
            <a:outerShdw blurRad="101600" dist="38100" dir="8100000" algn="bl" rotWithShape="0">
              <a:srgbClr val="000000">
                <a:alpha val="14000"/>
              </a:srgbClr>
            </a:outerShdw>
          </a:effectLst>
        </p:spPr>
      </p:sp>
      <p:sp>
        <p:nvSpPr>
          <p:cNvPr id="11" name="Shape 8"/>
          <p:cNvSpPr/>
          <p:nvPr/>
        </p:nvSpPr>
        <p:spPr>
          <a:xfrm>
            <a:off x="3172968" y="1051560"/>
            <a:ext cx="2834640" cy="594360"/>
          </a:xfrm>
          <a:prstGeom prst="rect">
            <a:avLst/>
          </a:prstGeom>
          <a:solidFill>
            <a:srgbClr val="1565C0"/>
          </a:solidFill>
          <a:ln w="12700">
            <a:solidFill>
              <a:srgbClr val="1565C0"/>
            </a:solidFill>
            <a:prstDash val="solid"/>
          </a:ln>
        </p:spPr>
      </p:sp>
      <p:pic>
        <p:nvPicPr>
          <p:cNvPr id="12" name="Image 1" descr="preencoded.png"/>
          <p:cNvPicPr>
            <a:picLocks noChangeAspect="1"/>
          </p:cNvPicPr>
          <p:nvPr/>
        </p:nvPicPr>
        <p:blipFill>
          <a:blip r:embed="rId4"/>
          <a:stretch>
            <a:fillRect/>
          </a:stretch>
        </p:blipFill>
        <p:spPr>
          <a:xfrm>
            <a:off x="3282696" y="1161288"/>
            <a:ext cx="365760" cy="365760"/>
          </a:xfrm>
          <a:prstGeom prst="rect">
            <a:avLst/>
          </a:prstGeom>
        </p:spPr>
      </p:pic>
      <p:sp>
        <p:nvSpPr>
          <p:cNvPr id="13" name="Text 9"/>
          <p:cNvSpPr/>
          <p:nvPr/>
        </p:nvSpPr>
        <p:spPr>
          <a:xfrm>
            <a:off x="3739896" y="1097280"/>
            <a:ext cx="2176272" cy="512064"/>
          </a:xfrm>
          <a:prstGeom prst="rect">
            <a:avLst/>
          </a:prstGeom>
          <a:noFill/>
          <a:ln/>
        </p:spPr>
        <p:txBody>
          <a:bodyPr wrap="square" rtlCol="0" anchor="ctr"/>
          <a:lstStyle/>
          <a:p>
            <a:pPr marL="0" indent="0">
              <a:buNone/>
            </a:pPr>
            <a:r>
              <a:rPr lang="en-US" sz="2600" b="1" dirty="0">
                <a:solidFill>
                  <a:srgbClr val="FFFFFF"/>
                </a:solidFill>
              </a:rPr>
              <a:t>-40%</a:t>
            </a:r>
            <a:endParaRPr lang="en-US" sz="2600" dirty="0"/>
          </a:p>
        </p:txBody>
      </p:sp>
      <p:sp>
        <p:nvSpPr>
          <p:cNvPr id="14" name="Text 10"/>
          <p:cNvSpPr/>
          <p:nvPr/>
        </p:nvSpPr>
        <p:spPr>
          <a:xfrm>
            <a:off x="3310128" y="1709928"/>
            <a:ext cx="2560320" cy="786384"/>
          </a:xfrm>
          <a:prstGeom prst="rect">
            <a:avLst/>
          </a:prstGeom>
          <a:noFill/>
          <a:ln/>
        </p:spPr>
        <p:txBody>
          <a:bodyPr wrap="square" rtlCol="0" anchor="ctr"/>
          <a:lstStyle/>
          <a:p>
            <a:pPr marL="0" indent="0" algn="ctr">
              <a:buNone/>
            </a:pPr>
            <a:r>
              <a:rPr lang="en-US" sz="1100" dirty="0">
                <a:solidFill>
                  <a:srgbClr val="455A64"/>
                </a:solidFill>
              </a:rPr>
              <a:t>Délai production</a:t>
            </a:r>
            <a:endParaRPr lang="en-US" sz="1100" dirty="0"/>
          </a:p>
          <a:p>
            <a:pPr marL="0" indent="0" algn="ctr">
              <a:buNone/>
            </a:pPr>
            <a:r>
              <a:rPr lang="en-US" sz="1100" dirty="0">
                <a:solidFill>
                  <a:srgbClr val="455A64"/>
                </a:solidFill>
              </a:rPr>
              <a:t>des reportings</a:t>
            </a:r>
            <a:endParaRPr lang="en-US" sz="1100" dirty="0"/>
          </a:p>
        </p:txBody>
      </p:sp>
      <p:sp>
        <p:nvSpPr>
          <p:cNvPr id="15" name="Shape 11"/>
          <p:cNvSpPr/>
          <p:nvPr/>
        </p:nvSpPr>
        <p:spPr>
          <a:xfrm>
            <a:off x="6163056" y="1051560"/>
            <a:ext cx="2834640" cy="1508760"/>
          </a:xfrm>
          <a:prstGeom prst="rect">
            <a:avLst/>
          </a:prstGeom>
          <a:solidFill>
            <a:srgbClr val="FFFFFF"/>
          </a:solidFill>
          <a:ln w="12700">
            <a:solidFill>
              <a:srgbClr val="00796B"/>
            </a:solidFill>
            <a:prstDash val="solid"/>
          </a:ln>
          <a:effectLst>
            <a:outerShdw blurRad="101600" dist="38100" dir="8100000" algn="bl" rotWithShape="0">
              <a:srgbClr val="000000">
                <a:alpha val="14000"/>
              </a:srgbClr>
            </a:outerShdw>
          </a:effectLst>
        </p:spPr>
      </p:sp>
      <p:sp>
        <p:nvSpPr>
          <p:cNvPr id="16" name="Shape 12"/>
          <p:cNvSpPr/>
          <p:nvPr/>
        </p:nvSpPr>
        <p:spPr>
          <a:xfrm>
            <a:off x="6163056" y="1051560"/>
            <a:ext cx="2834640" cy="594360"/>
          </a:xfrm>
          <a:prstGeom prst="rect">
            <a:avLst/>
          </a:prstGeom>
          <a:solidFill>
            <a:srgbClr val="00796B"/>
          </a:solidFill>
          <a:ln w="12700">
            <a:solidFill>
              <a:srgbClr val="00796B"/>
            </a:solidFill>
            <a:prstDash val="solid"/>
          </a:ln>
        </p:spPr>
      </p:sp>
      <p:pic>
        <p:nvPicPr>
          <p:cNvPr id="17" name="Image 2" descr="preencoded.png"/>
          <p:cNvPicPr>
            <a:picLocks noChangeAspect="1"/>
          </p:cNvPicPr>
          <p:nvPr/>
        </p:nvPicPr>
        <p:blipFill>
          <a:blip r:embed="rId5"/>
          <a:stretch>
            <a:fillRect/>
          </a:stretch>
        </p:blipFill>
        <p:spPr>
          <a:xfrm>
            <a:off x="6272784" y="1161288"/>
            <a:ext cx="365760" cy="365760"/>
          </a:xfrm>
          <a:prstGeom prst="rect">
            <a:avLst/>
          </a:prstGeom>
        </p:spPr>
      </p:pic>
      <p:sp>
        <p:nvSpPr>
          <p:cNvPr id="18" name="Text 13"/>
          <p:cNvSpPr/>
          <p:nvPr/>
        </p:nvSpPr>
        <p:spPr>
          <a:xfrm>
            <a:off x="6729984" y="1097280"/>
            <a:ext cx="2176272" cy="512064"/>
          </a:xfrm>
          <a:prstGeom prst="rect">
            <a:avLst/>
          </a:prstGeom>
          <a:noFill/>
          <a:ln/>
        </p:spPr>
        <p:txBody>
          <a:bodyPr wrap="square" rtlCol="0" anchor="ctr"/>
          <a:lstStyle/>
          <a:p>
            <a:pPr marL="0" indent="0">
              <a:buNone/>
            </a:pPr>
            <a:r>
              <a:rPr lang="en-US" sz="2600" b="1" dirty="0">
                <a:solidFill>
                  <a:srgbClr val="FFFFFF"/>
                </a:solidFill>
              </a:rPr>
              <a:t>&gt;80%</a:t>
            </a:r>
            <a:endParaRPr lang="en-US" sz="2600" dirty="0"/>
          </a:p>
        </p:txBody>
      </p:sp>
      <p:sp>
        <p:nvSpPr>
          <p:cNvPr id="19" name="Text 14"/>
          <p:cNvSpPr/>
          <p:nvPr/>
        </p:nvSpPr>
        <p:spPr>
          <a:xfrm>
            <a:off x="6300216" y="1709928"/>
            <a:ext cx="2560320" cy="786384"/>
          </a:xfrm>
          <a:prstGeom prst="rect">
            <a:avLst/>
          </a:prstGeom>
          <a:noFill/>
          <a:ln/>
        </p:spPr>
        <p:txBody>
          <a:bodyPr wrap="square" rtlCol="0" anchor="ctr"/>
          <a:lstStyle/>
          <a:p>
            <a:pPr marL="0" indent="0" algn="ctr">
              <a:buNone/>
            </a:pPr>
            <a:r>
              <a:rPr lang="en-US" sz="1100" dirty="0">
                <a:solidFill>
                  <a:srgbClr val="455A64"/>
                </a:solidFill>
              </a:rPr>
              <a:t>Taux adoption</a:t>
            </a:r>
            <a:endParaRPr lang="en-US" sz="1100" dirty="0"/>
          </a:p>
          <a:p>
            <a:pPr marL="0" indent="0" algn="ctr">
              <a:buNone/>
            </a:pPr>
            <a:r>
              <a:rPr lang="en-US" sz="1100" dirty="0">
                <a:solidFill>
                  <a:srgbClr val="455A64"/>
                </a:solidFill>
              </a:rPr>
              <a:t>standards données</a:t>
            </a:r>
            <a:endParaRPr lang="en-US" sz="1100" dirty="0"/>
          </a:p>
        </p:txBody>
      </p:sp>
      <p:sp>
        <p:nvSpPr>
          <p:cNvPr id="20" name="Shape 15"/>
          <p:cNvSpPr/>
          <p:nvPr/>
        </p:nvSpPr>
        <p:spPr>
          <a:xfrm>
            <a:off x="1499616" y="2743200"/>
            <a:ext cx="2834640" cy="1508760"/>
          </a:xfrm>
          <a:prstGeom prst="rect">
            <a:avLst/>
          </a:prstGeom>
          <a:solidFill>
            <a:srgbClr val="FFFFFF"/>
          </a:solidFill>
          <a:ln w="12700">
            <a:solidFill>
              <a:srgbClr val="2E7D32"/>
            </a:solidFill>
            <a:prstDash val="solid"/>
          </a:ln>
          <a:effectLst>
            <a:outerShdw blurRad="101600" dist="38100" dir="8100000" algn="bl" rotWithShape="0">
              <a:srgbClr val="000000">
                <a:alpha val="14000"/>
              </a:srgbClr>
            </a:outerShdw>
          </a:effectLst>
        </p:spPr>
      </p:sp>
      <p:sp>
        <p:nvSpPr>
          <p:cNvPr id="21" name="Shape 16"/>
          <p:cNvSpPr/>
          <p:nvPr/>
        </p:nvSpPr>
        <p:spPr>
          <a:xfrm>
            <a:off x="1499616" y="2743200"/>
            <a:ext cx="2834640" cy="594360"/>
          </a:xfrm>
          <a:prstGeom prst="rect">
            <a:avLst/>
          </a:prstGeom>
          <a:solidFill>
            <a:srgbClr val="2E7D32"/>
          </a:solidFill>
          <a:ln w="12700">
            <a:solidFill>
              <a:srgbClr val="2E7D32"/>
            </a:solidFill>
            <a:prstDash val="solid"/>
          </a:ln>
        </p:spPr>
      </p:sp>
      <p:pic>
        <p:nvPicPr>
          <p:cNvPr id="22" name="Image 3" descr="preencoded.png"/>
          <p:cNvPicPr>
            <a:picLocks noChangeAspect="1"/>
          </p:cNvPicPr>
          <p:nvPr/>
        </p:nvPicPr>
        <p:blipFill>
          <a:blip r:embed="rId6"/>
          <a:stretch>
            <a:fillRect/>
          </a:stretch>
        </p:blipFill>
        <p:spPr>
          <a:xfrm>
            <a:off x="1609344" y="2852928"/>
            <a:ext cx="365760" cy="365760"/>
          </a:xfrm>
          <a:prstGeom prst="rect">
            <a:avLst/>
          </a:prstGeom>
        </p:spPr>
      </p:pic>
      <p:sp>
        <p:nvSpPr>
          <p:cNvPr id="23" name="Text 17"/>
          <p:cNvSpPr/>
          <p:nvPr/>
        </p:nvSpPr>
        <p:spPr>
          <a:xfrm>
            <a:off x="2066544" y="2788920"/>
            <a:ext cx="2176272" cy="512064"/>
          </a:xfrm>
          <a:prstGeom prst="rect">
            <a:avLst/>
          </a:prstGeom>
          <a:noFill/>
          <a:ln/>
        </p:spPr>
        <p:txBody>
          <a:bodyPr wrap="square" rtlCol="0" anchor="ctr"/>
          <a:lstStyle/>
          <a:p>
            <a:pPr marL="0" indent="0">
              <a:buNone/>
            </a:pPr>
            <a:r>
              <a:rPr lang="en-US" sz="2600" b="1" dirty="0">
                <a:solidFill>
                  <a:srgbClr val="FFFFFF"/>
                </a:solidFill>
              </a:rPr>
              <a:t>+60%</a:t>
            </a:r>
            <a:endParaRPr lang="en-US" sz="2600" dirty="0"/>
          </a:p>
        </p:txBody>
      </p:sp>
      <p:sp>
        <p:nvSpPr>
          <p:cNvPr id="24" name="Text 18"/>
          <p:cNvSpPr/>
          <p:nvPr/>
        </p:nvSpPr>
        <p:spPr>
          <a:xfrm>
            <a:off x="1636776" y="3401568"/>
            <a:ext cx="2560320" cy="786384"/>
          </a:xfrm>
          <a:prstGeom prst="rect">
            <a:avLst/>
          </a:prstGeom>
          <a:noFill/>
          <a:ln/>
        </p:spPr>
        <p:txBody>
          <a:bodyPr wrap="square" rtlCol="0" anchor="ctr"/>
          <a:lstStyle/>
          <a:p>
            <a:pPr marL="0" indent="0" algn="ctr">
              <a:buNone/>
            </a:pPr>
            <a:r>
              <a:rPr lang="en-US" sz="1100" dirty="0">
                <a:solidFill>
                  <a:srgbClr val="455A64"/>
                </a:solidFill>
              </a:rPr>
              <a:t>Systèmes</a:t>
            </a:r>
            <a:endParaRPr lang="en-US" sz="1100" dirty="0"/>
          </a:p>
          <a:p>
            <a:pPr marL="0" indent="0" algn="ctr">
              <a:buNone/>
            </a:pPr>
            <a:r>
              <a:rPr lang="en-US" sz="1100" dirty="0">
                <a:solidFill>
                  <a:srgbClr val="455A64"/>
                </a:solidFill>
              </a:rPr>
              <a:t>interconnectés</a:t>
            </a:r>
            <a:endParaRPr lang="en-US" sz="1100" dirty="0"/>
          </a:p>
        </p:txBody>
      </p:sp>
      <p:sp>
        <p:nvSpPr>
          <p:cNvPr id="25" name="Shape 19"/>
          <p:cNvSpPr/>
          <p:nvPr/>
        </p:nvSpPr>
        <p:spPr>
          <a:xfrm>
            <a:off x="4489704" y="2743200"/>
            <a:ext cx="2834640" cy="1508760"/>
          </a:xfrm>
          <a:prstGeom prst="rect">
            <a:avLst/>
          </a:prstGeom>
          <a:solidFill>
            <a:srgbClr val="FFFFFF"/>
          </a:solidFill>
          <a:ln w="12700">
            <a:solidFill>
              <a:srgbClr val="F9A825"/>
            </a:solidFill>
            <a:prstDash val="solid"/>
          </a:ln>
          <a:effectLst>
            <a:outerShdw blurRad="101600" dist="38100" dir="8100000" algn="bl" rotWithShape="0">
              <a:srgbClr val="000000">
                <a:alpha val="14000"/>
              </a:srgbClr>
            </a:outerShdw>
          </a:effectLst>
        </p:spPr>
      </p:sp>
      <p:sp>
        <p:nvSpPr>
          <p:cNvPr id="26" name="Shape 20"/>
          <p:cNvSpPr/>
          <p:nvPr/>
        </p:nvSpPr>
        <p:spPr>
          <a:xfrm>
            <a:off x="4489704" y="2743200"/>
            <a:ext cx="2834640" cy="594360"/>
          </a:xfrm>
          <a:prstGeom prst="rect">
            <a:avLst/>
          </a:prstGeom>
          <a:solidFill>
            <a:srgbClr val="F9A825"/>
          </a:solidFill>
          <a:ln w="12700">
            <a:solidFill>
              <a:srgbClr val="F9A825"/>
            </a:solidFill>
            <a:prstDash val="solid"/>
          </a:ln>
        </p:spPr>
      </p:sp>
      <p:pic>
        <p:nvPicPr>
          <p:cNvPr id="27" name="Image 4" descr="preencoded.png"/>
          <p:cNvPicPr>
            <a:picLocks noChangeAspect="1"/>
          </p:cNvPicPr>
          <p:nvPr/>
        </p:nvPicPr>
        <p:blipFill>
          <a:blip r:embed="rId7"/>
          <a:stretch>
            <a:fillRect/>
          </a:stretch>
        </p:blipFill>
        <p:spPr>
          <a:xfrm>
            <a:off x="4599432" y="2852928"/>
            <a:ext cx="365760" cy="365760"/>
          </a:xfrm>
          <a:prstGeom prst="rect">
            <a:avLst/>
          </a:prstGeom>
        </p:spPr>
      </p:pic>
      <p:sp>
        <p:nvSpPr>
          <p:cNvPr id="28" name="Text 21"/>
          <p:cNvSpPr/>
          <p:nvPr/>
        </p:nvSpPr>
        <p:spPr>
          <a:xfrm>
            <a:off x="5056632" y="2788920"/>
            <a:ext cx="2176272" cy="512064"/>
          </a:xfrm>
          <a:prstGeom prst="rect">
            <a:avLst/>
          </a:prstGeom>
          <a:noFill/>
          <a:ln/>
        </p:spPr>
        <p:txBody>
          <a:bodyPr wrap="square" rtlCol="0" anchor="ctr"/>
          <a:lstStyle/>
          <a:p>
            <a:pPr marL="0" indent="0">
              <a:buNone/>
            </a:pPr>
            <a:r>
              <a:rPr lang="en-US" sz="2600" b="1" dirty="0">
                <a:solidFill>
                  <a:srgbClr val="FFFFFF"/>
                </a:solidFill>
              </a:rPr>
              <a:t>&gt;85%</a:t>
            </a:r>
            <a:endParaRPr lang="en-US" sz="2600" dirty="0"/>
          </a:p>
        </p:txBody>
      </p:sp>
      <p:sp>
        <p:nvSpPr>
          <p:cNvPr id="29" name="Text 22"/>
          <p:cNvSpPr/>
          <p:nvPr/>
        </p:nvSpPr>
        <p:spPr>
          <a:xfrm>
            <a:off x="4626864" y="3401568"/>
            <a:ext cx="2560320" cy="786384"/>
          </a:xfrm>
          <a:prstGeom prst="rect">
            <a:avLst/>
          </a:prstGeom>
          <a:noFill/>
          <a:ln/>
        </p:spPr>
        <p:txBody>
          <a:bodyPr wrap="square" rtlCol="0" anchor="ctr"/>
          <a:lstStyle/>
          <a:p>
            <a:pPr marL="0" indent="0" algn="ctr">
              <a:buNone/>
            </a:pPr>
            <a:r>
              <a:rPr lang="en-US" sz="1100" dirty="0">
                <a:solidFill>
                  <a:srgbClr val="455A64"/>
                </a:solidFill>
              </a:rPr>
              <a:t>Satisfaction</a:t>
            </a:r>
            <a:endParaRPr lang="en-US" sz="1100" dirty="0"/>
          </a:p>
          <a:p>
            <a:pPr marL="0" indent="0" algn="ctr">
              <a:buNone/>
            </a:pPr>
            <a:r>
              <a:rPr lang="en-US" sz="1100" dirty="0">
                <a:solidFill>
                  <a:srgbClr val="455A64"/>
                </a:solidFill>
              </a:rPr>
              <a:t>utilisateurs</a:t>
            </a:r>
            <a:endParaRPr lang="en-US" sz="1100" dirty="0"/>
          </a:p>
        </p:txBody>
      </p:sp>
      <p:sp>
        <p:nvSpPr>
          <p:cNvPr id="30" name="Shape 23"/>
          <p:cNvSpPr/>
          <p:nvPr/>
        </p:nvSpPr>
        <p:spPr>
          <a:xfrm>
            <a:off x="182880" y="4343400"/>
            <a:ext cx="8778240" cy="658368"/>
          </a:xfrm>
          <a:prstGeom prst="rect">
            <a:avLst/>
          </a:prstGeom>
          <a:solidFill>
            <a:srgbClr val="0D2545"/>
          </a:solidFill>
          <a:ln w="12700">
            <a:solidFill>
              <a:srgbClr val="0D2545"/>
            </a:solidFill>
            <a:prstDash val="solid"/>
          </a:ln>
        </p:spPr>
      </p:sp>
      <p:sp>
        <p:nvSpPr>
          <p:cNvPr id="31" name="Text 24"/>
          <p:cNvSpPr/>
          <p:nvPr/>
        </p:nvSpPr>
        <p:spPr>
          <a:xfrm>
            <a:off x="365760" y="4407408"/>
            <a:ext cx="8412480" cy="530352"/>
          </a:xfrm>
          <a:prstGeom prst="rect">
            <a:avLst/>
          </a:prstGeom>
          <a:noFill/>
          <a:ln/>
        </p:spPr>
        <p:txBody>
          <a:bodyPr wrap="square" rtlCol="0" anchor="ctr"/>
          <a:lstStyle/>
          <a:p>
            <a:pPr marL="0" indent="0">
              <a:buNone/>
            </a:pPr>
            <a:r>
              <a:rPr lang="en-US" sz="1000" i="1" dirty="0">
                <a:solidFill>
                  <a:srgbClr val="ECEFF1"/>
                </a:solidFill>
              </a:rPr>
              <a:t>Ces KPIs sont mesurés trimestriellement par le Comité SI et publiés dans le tableau de bord de gouvernance. Un audit annuel validera les progrès et ajustera les cibles si nécessaire.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9A825"/>
          </a:solidFill>
          <a:ln w="12700">
            <a:solidFill>
              <a:srgbClr val="F9A825"/>
            </a:solidFill>
            <a:prstDash val="solid"/>
          </a:ln>
        </p:spPr>
      </p:sp>
      <p:sp>
        <p:nvSpPr>
          <p:cNvPr id="3" name="Shape 1"/>
          <p:cNvSpPr/>
          <p:nvPr/>
        </p:nvSpPr>
        <p:spPr>
          <a:xfrm>
            <a:off x="0" y="64008"/>
            <a:ext cx="54864" cy="5079492"/>
          </a:xfrm>
          <a:prstGeom prst="rect">
            <a:avLst/>
          </a:prstGeom>
          <a:solidFill>
            <a:srgbClr val="F9A825"/>
          </a:solidFill>
          <a:ln w="12700">
            <a:solidFill>
              <a:srgbClr val="F9A825"/>
            </a:solidFill>
            <a:prstDash val="solid"/>
          </a:ln>
        </p:spPr>
      </p:sp>
      <p:sp>
        <p:nvSpPr>
          <p:cNvPr id="4" name="Shape 2"/>
          <p:cNvSpPr/>
          <p:nvPr/>
        </p:nvSpPr>
        <p:spPr>
          <a:xfrm>
            <a:off x="6217920" y="731520"/>
            <a:ext cx="2377440" cy="2377440"/>
          </a:xfrm>
          <a:prstGeom prst="ellipse">
            <a:avLst/>
          </a:prstGeom>
          <a:solidFill>
            <a:srgbClr val="1976D2">
              <a:alpha val="35000"/>
            </a:srgbClr>
          </a:solidFill>
          <a:ln w="12700">
            <a:solidFill>
              <a:srgbClr val="1976D2">
                <a:alpha val="35000"/>
              </a:srgbClr>
            </a:solidFill>
            <a:prstDash val="solid"/>
          </a:ln>
        </p:spPr>
      </p:sp>
      <p:pic>
        <p:nvPicPr>
          <p:cNvPr id="5" name="Image 0" descr="preencoded.png"/>
          <p:cNvPicPr>
            <a:picLocks noChangeAspect="1"/>
          </p:cNvPicPr>
          <p:nvPr/>
        </p:nvPicPr>
        <p:blipFill>
          <a:blip r:embed="rId3"/>
          <a:stretch>
            <a:fillRect/>
          </a:stretch>
        </p:blipFill>
        <p:spPr>
          <a:xfrm>
            <a:off x="6720840" y="1097280"/>
            <a:ext cx="1371600" cy="1371600"/>
          </a:xfrm>
          <a:prstGeom prst="rect">
            <a:avLst/>
          </a:prstGeom>
        </p:spPr>
      </p:pic>
      <p:sp>
        <p:nvSpPr>
          <p:cNvPr id="6" name="Text 3"/>
          <p:cNvSpPr/>
          <p:nvPr/>
        </p:nvSpPr>
        <p:spPr>
          <a:xfrm>
            <a:off x="320040" y="1463040"/>
            <a:ext cx="566928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Bénéfices</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&amp; Conclusion</a:t>
            </a:r>
            <a:endParaRPr lang="en-US" sz="3600" dirty="0"/>
          </a:p>
        </p:txBody>
      </p:sp>
      <p:sp>
        <p:nvSpPr>
          <p:cNvPr id="7" name="Text 4"/>
          <p:cNvSpPr/>
          <p:nvPr/>
        </p:nvSpPr>
        <p:spPr>
          <a:xfrm>
            <a:off x="320040" y="2514600"/>
            <a:ext cx="5486400" cy="731520"/>
          </a:xfrm>
          <a:prstGeom prst="rect">
            <a:avLst/>
          </a:prstGeom>
          <a:noFill/>
          <a:ln/>
        </p:spPr>
        <p:txBody>
          <a:bodyPr wrap="square" rtlCol="0" anchor="ctr"/>
          <a:lstStyle/>
          <a:p>
            <a:pPr marL="0" indent="0">
              <a:buNone/>
            </a:pPr>
            <a:r>
              <a:rPr lang="en-US" sz="1400" i="1" dirty="0">
                <a:solidFill>
                  <a:srgbClr val="42A5F5"/>
                </a:solidFill>
                <a:latin typeface="Calibri" pitchFamily="34" charset="0"/>
                <a:ea typeface="Calibri" pitchFamily="34" charset="-122"/>
                <a:cs typeface="Calibri" pitchFamily="34" charset="-120"/>
              </a:rPr>
              <a:t>Impact stratégique pour Vision Bank</a:t>
            </a:r>
            <a:endParaRPr lang="en-US" sz="1400" dirty="0"/>
          </a:p>
        </p:txBody>
      </p:sp>
      <p:sp>
        <p:nvSpPr>
          <p:cNvPr id="8" name="Shape 5"/>
          <p:cNvSpPr/>
          <p:nvPr/>
        </p:nvSpPr>
        <p:spPr>
          <a:xfrm>
            <a:off x="320040" y="4114800"/>
            <a:ext cx="1097280" cy="347472"/>
          </a:xfrm>
          <a:prstGeom prst="roundRect">
            <a:avLst>
              <a:gd name="adj" fmla="val 13158"/>
            </a:avLst>
          </a:prstGeom>
          <a:solidFill>
            <a:srgbClr val="F9A825"/>
          </a:solidFill>
          <a:ln w="12700">
            <a:solidFill>
              <a:srgbClr val="F9A825"/>
            </a:solidFill>
            <a:prstDash val="solid"/>
          </a:ln>
        </p:spPr>
      </p:sp>
      <p:sp>
        <p:nvSpPr>
          <p:cNvPr id="9" name="Text 6"/>
          <p:cNvSpPr/>
          <p:nvPr/>
        </p:nvSpPr>
        <p:spPr>
          <a:xfrm>
            <a:off x="320040" y="4114800"/>
            <a:ext cx="1097280" cy="347472"/>
          </a:xfrm>
          <a:prstGeom prst="rect">
            <a:avLst/>
          </a:prstGeom>
          <a:noFill/>
          <a:ln/>
        </p:spPr>
        <p:txBody>
          <a:bodyPr wrap="square" lIns="0" tIns="0" rIns="0" bIns="0" rtlCol="0" anchor="ctr"/>
          <a:lstStyle/>
          <a:p>
            <a:pPr marL="0" indent="0" algn="ctr">
              <a:buNone/>
            </a:pPr>
            <a:r>
              <a:rPr lang="en-US" sz="950" b="1" dirty="0">
                <a:solidFill>
                  <a:srgbClr val="0B1D3A"/>
                </a:solidFill>
              </a:rPr>
              <a:t>ÉTAPE 07</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1D3A"/>
          </a:solidFill>
          <a:ln w="12700">
            <a:solidFill>
              <a:srgbClr val="0B1D3A"/>
            </a:solidFill>
            <a:prstDash val="solid"/>
          </a:ln>
        </p:spPr>
      </p:sp>
      <p:sp>
        <p:nvSpPr>
          <p:cNvPr id="3" name="Shape 1"/>
          <p:cNvSpPr/>
          <p:nvPr/>
        </p:nvSpPr>
        <p:spPr>
          <a:xfrm>
            <a:off x="0" y="0"/>
            <a:ext cx="54864" cy="5143500"/>
          </a:xfrm>
          <a:prstGeom prst="rect">
            <a:avLst/>
          </a:prstGeom>
          <a:solidFill>
            <a:srgbClr val="F9A825"/>
          </a:solidFill>
          <a:ln w="12700">
            <a:solidFill>
              <a:srgbClr val="F9A825"/>
            </a:solidFill>
            <a:prstDash val="solid"/>
          </a:ln>
        </p:spPr>
      </p:sp>
      <p:sp>
        <p:nvSpPr>
          <p:cNvPr id="4" name="Text 2"/>
          <p:cNvSpPr/>
          <p:nvPr/>
        </p:nvSpPr>
        <p:spPr>
          <a:xfrm>
            <a:off x="228600" y="137160"/>
            <a:ext cx="8686800" cy="6858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08 – Bénéfices de la Vue Unique Client pour Vision Bank</a:t>
            </a:r>
            <a:endParaRPr lang="en-US" sz="2200" dirty="0"/>
          </a:p>
        </p:txBody>
      </p:sp>
      <p:sp>
        <p:nvSpPr>
          <p:cNvPr id="5" name="Shape 3"/>
          <p:cNvSpPr/>
          <p:nvPr/>
        </p:nvSpPr>
        <p:spPr>
          <a:xfrm>
            <a:off x="182880" y="1051560"/>
            <a:ext cx="2834640" cy="1783080"/>
          </a:xfrm>
          <a:prstGeom prst="rect">
            <a:avLst/>
          </a:prstGeom>
          <a:solidFill>
            <a:srgbClr val="FFFFFF"/>
          </a:solidFill>
          <a:ln w="12700">
            <a:solidFill>
              <a:srgbClr val="1565C0"/>
            </a:solidFill>
            <a:prstDash val="solid"/>
          </a:ln>
          <a:effectLst>
            <a:outerShdw blurRad="101600" dist="38100" dir="8100000" algn="bl" rotWithShape="0">
              <a:srgbClr val="000000">
                <a:alpha val="14000"/>
              </a:srgbClr>
            </a:outerShdw>
          </a:effectLst>
        </p:spPr>
      </p:sp>
      <p:sp>
        <p:nvSpPr>
          <p:cNvPr id="6" name="Shape 4"/>
          <p:cNvSpPr/>
          <p:nvPr/>
        </p:nvSpPr>
        <p:spPr>
          <a:xfrm>
            <a:off x="182880" y="1051560"/>
            <a:ext cx="2834640" cy="566928"/>
          </a:xfrm>
          <a:prstGeom prst="rect">
            <a:avLst/>
          </a:prstGeom>
          <a:solidFill>
            <a:srgbClr val="1565C0"/>
          </a:solidFill>
          <a:ln w="12700">
            <a:solidFill>
              <a:srgbClr val="1565C0"/>
            </a:solidFill>
            <a:prstDash val="solid"/>
          </a:ln>
        </p:spPr>
      </p:sp>
      <p:pic>
        <p:nvPicPr>
          <p:cNvPr id="7" name="Image 0" descr="preencoded.png"/>
          <p:cNvPicPr>
            <a:picLocks noChangeAspect="1"/>
          </p:cNvPicPr>
          <p:nvPr/>
        </p:nvPicPr>
        <p:blipFill>
          <a:blip r:embed="rId3"/>
          <a:stretch>
            <a:fillRect/>
          </a:stretch>
        </p:blipFill>
        <p:spPr>
          <a:xfrm>
            <a:off x="274320" y="1161288"/>
            <a:ext cx="365760" cy="365760"/>
          </a:xfrm>
          <a:prstGeom prst="rect">
            <a:avLst/>
          </a:prstGeom>
        </p:spPr>
      </p:pic>
      <p:sp>
        <p:nvSpPr>
          <p:cNvPr id="8" name="Text 5"/>
          <p:cNvSpPr/>
          <p:nvPr/>
        </p:nvSpPr>
        <p:spPr>
          <a:xfrm>
            <a:off x="713232" y="1143000"/>
            <a:ext cx="2240280" cy="438912"/>
          </a:xfrm>
          <a:prstGeom prst="rect">
            <a:avLst/>
          </a:prstGeom>
          <a:noFill/>
          <a:ln/>
        </p:spPr>
        <p:txBody>
          <a:bodyPr wrap="square" rtlCol="0" anchor="ctr"/>
          <a:lstStyle/>
          <a:p>
            <a:pPr marL="0" indent="0">
              <a:buNone/>
            </a:pPr>
            <a:r>
              <a:rPr lang="en-US" sz="1100" b="1" dirty="0">
                <a:solidFill>
                  <a:srgbClr val="FFFFFF"/>
                </a:solidFill>
              </a:rPr>
              <a:t>Vision Client 360°</a:t>
            </a:r>
            <a:endParaRPr lang="en-US" sz="1100" dirty="0"/>
          </a:p>
        </p:txBody>
      </p:sp>
      <p:sp>
        <p:nvSpPr>
          <p:cNvPr id="9" name="Text 6"/>
          <p:cNvSpPr/>
          <p:nvPr/>
        </p:nvSpPr>
        <p:spPr>
          <a:xfrm>
            <a:off x="292608" y="1691640"/>
            <a:ext cx="2615184" cy="1069848"/>
          </a:xfrm>
          <a:prstGeom prst="rect">
            <a:avLst/>
          </a:prstGeom>
          <a:noFill/>
          <a:ln/>
        </p:spPr>
        <p:txBody>
          <a:bodyPr wrap="square" rtlCol="0" anchor="ctr"/>
          <a:lstStyle/>
          <a:p>
            <a:pPr marL="0" indent="0">
              <a:buNone/>
            </a:pPr>
            <a:r>
              <a:rPr lang="en-US" sz="950" dirty="0">
                <a:solidFill>
                  <a:srgbClr val="455A64"/>
                </a:solidFill>
              </a:rPr>
              <a:t>Chaque collaborateur accède à une fiche client consolidée, sans contradiction entre systèmes.</a:t>
            </a:r>
            <a:endParaRPr lang="en-US" sz="950" dirty="0"/>
          </a:p>
        </p:txBody>
      </p:sp>
      <p:sp>
        <p:nvSpPr>
          <p:cNvPr id="10" name="Shape 7"/>
          <p:cNvSpPr/>
          <p:nvPr/>
        </p:nvSpPr>
        <p:spPr>
          <a:xfrm>
            <a:off x="3172968" y="1051560"/>
            <a:ext cx="2834640" cy="1783080"/>
          </a:xfrm>
          <a:prstGeom prst="rect">
            <a:avLst/>
          </a:prstGeom>
          <a:solidFill>
            <a:srgbClr val="FFFFFF"/>
          </a:solidFill>
          <a:ln w="12700">
            <a:solidFill>
              <a:srgbClr val="00796B"/>
            </a:solidFill>
            <a:prstDash val="solid"/>
          </a:ln>
          <a:effectLst>
            <a:outerShdw blurRad="101600" dist="38100" dir="8100000" algn="bl" rotWithShape="0">
              <a:srgbClr val="000000">
                <a:alpha val="14000"/>
              </a:srgbClr>
            </a:outerShdw>
          </a:effectLst>
        </p:spPr>
      </p:sp>
      <p:sp>
        <p:nvSpPr>
          <p:cNvPr id="11" name="Shape 8"/>
          <p:cNvSpPr/>
          <p:nvPr/>
        </p:nvSpPr>
        <p:spPr>
          <a:xfrm>
            <a:off x="3172968" y="1051560"/>
            <a:ext cx="2834640" cy="566928"/>
          </a:xfrm>
          <a:prstGeom prst="rect">
            <a:avLst/>
          </a:prstGeom>
          <a:solidFill>
            <a:srgbClr val="00796B"/>
          </a:solidFill>
          <a:ln w="12700">
            <a:solidFill>
              <a:srgbClr val="00796B"/>
            </a:solidFill>
            <a:prstDash val="solid"/>
          </a:ln>
        </p:spPr>
      </p:sp>
      <p:pic>
        <p:nvPicPr>
          <p:cNvPr id="12" name="Image 1" descr="preencoded.png"/>
          <p:cNvPicPr>
            <a:picLocks noChangeAspect="1"/>
          </p:cNvPicPr>
          <p:nvPr/>
        </p:nvPicPr>
        <p:blipFill>
          <a:blip r:embed="rId4"/>
          <a:stretch>
            <a:fillRect/>
          </a:stretch>
        </p:blipFill>
        <p:spPr>
          <a:xfrm>
            <a:off x="3264408" y="1161288"/>
            <a:ext cx="365760" cy="365760"/>
          </a:xfrm>
          <a:prstGeom prst="rect">
            <a:avLst/>
          </a:prstGeom>
        </p:spPr>
      </p:pic>
      <p:sp>
        <p:nvSpPr>
          <p:cNvPr id="13" name="Text 9"/>
          <p:cNvSpPr/>
          <p:nvPr/>
        </p:nvSpPr>
        <p:spPr>
          <a:xfrm>
            <a:off x="3703320" y="1143000"/>
            <a:ext cx="2240280" cy="438912"/>
          </a:xfrm>
          <a:prstGeom prst="rect">
            <a:avLst/>
          </a:prstGeom>
          <a:noFill/>
          <a:ln/>
        </p:spPr>
        <p:txBody>
          <a:bodyPr wrap="square" rtlCol="0" anchor="ctr"/>
          <a:lstStyle/>
          <a:p>
            <a:pPr marL="0" indent="0">
              <a:buNone/>
            </a:pPr>
            <a:r>
              <a:rPr lang="en-US" sz="1100" b="1" dirty="0">
                <a:solidFill>
                  <a:srgbClr val="FFFFFF"/>
                </a:solidFill>
              </a:rPr>
              <a:t>Meilleure Prise de Décision</a:t>
            </a:r>
            <a:endParaRPr lang="en-US" sz="1100" dirty="0"/>
          </a:p>
        </p:txBody>
      </p:sp>
      <p:sp>
        <p:nvSpPr>
          <p:cNvPr id="14" name="Text 10"/>
          <p:cNvSpPr/>
          <p:nvPr/>
        </p:nvSpPr>
        <p:spPr>
          <a:xfrm>
            <a:off x="3282696" y="1691640"/>
            <a:ext cx="2615184" cy="1069848"/>
          </a:xfrm>
          <a:prstGeom prst="rect">
            <a:avLst/>
          </a:prstGeom>
          <a:noFill/>
          <a:ln/>
        </p:spPr>
        <p:txBody>
          <a:bodyPr wrap="square" rtlCol="0" anchor="ctr"/>
          <a:lstStyle/>
          <a:p>
            <a:pPr marL="0" indent="0">
              <a:buNone/>
            </a:pPr>
            <a:r>
              <a:rPr lang="en-US" sz="950" dirty="0">
                <a:solidFill>
                  <a:srgbClr val="455A64"/>
                </a:solidFill>
              </a:rPr>
              <a:t>Le management dispose de reportings fiables basés sur des données harmonisées et validées.</a:t>
            </a:r>
            <a:endParaRPr lang="en-US" sz="950" dirty="0"/>
          </a:p>
        </p:txBody>
      </p:sp>
      <p:sp>
        <p:nvSpPr>
          <p:cNvPr id="15" name="Shape 11"/>
          <p:cNvSpPr/>
          <p:nvPr/>
        </p:nvSpPr>
        <p:spPr>
          <a:xfrm>
            <a:off x="6163056" y="1051560"/>
            <a:ext cx="2834640" cy="1783080"/>
          </a:xfrm>
          <a:prstGeom prst="rect">
            <a:avLst/>
          </a:prstGeom>
          <a:solidFill>
            <a:srgbClr val="FFFFFF"/>
          </a:solidFill>
          <a:ln w="12700">
            <a:solidFill>
              <a:srgbClr val="2E7D32"/>
            </a:solidFill>
            <a:prstDash val="solid"/>
          </a:ln>
          <a:effectLst>
            <a:outerShdw blurRad="101600" dist="38100" dir="8100000" algn="bl" rotWithShape="0">
              <a:srgbClr val="000000">
                <a:alpha val="14000"/>
              </a:srgbClr>
            </a:outerShdw>
          </a:effectLst>
        </p:spPr>
      </p:sp>
      <p:sp>
        <p:nvSpPr>
          <p:cNvPr id="16" name="Shape 12"/>
          <p:cNvSpPr/>
          <p:nvPr/>
        </p:nvSpPr>
        <p:spPr>
          <a:xfrm>
            <a:off x="6163056" y="1051560"/>
            <a:ext cx="2834640" cy="566928"/>
          </a:xfrm>
          <a:prstGeom prst="rect">
            <a:avLst/>
          </a:prstGeom>
          <a:solidFill>
            <a:srgbClr val="2E7D32"/>
          </a:solidFill>
          <a:ln w="12700">
            <a:solidFill>
              <a:srgbClr val="2E7D32"/>
            </a:solidFill>
            <a:prstDash val="solid"/>
          </a:ln>
        </p:spPr>
      </p:sp>
      <p:pic>
        <p:nvPicPr>
          <p:cNvPr id="17" name="Image 2" descr="preencoded.png"/>
          <p:cNvPicPr>
            <a:picLocks noChangeAspect="1"/>
          </p:cNvPicPr>
          <p:nvPr/>
        </p:nvPicPr>
        <p:blipFill>
          <a:blip r:embed="rId5"/>
          <a:stretch>
            <a:fillRect/>
          </a:stretch>
        </p:blipFill>
        <p:spPr>
          <a:xfrm>
            <a:off x="6254496" y="1161288"/>
            <a:ext cx="365760" cy="365760"/>
          </a:xfrm>
          <a:prstGeom prst="rect">
            <a:avLst/>
          </a:prstGeom>
        </p:spPr>
      </p:pic>
      <p:sp>
        <p:nvSpPr>
          <p:cNvPr id="18" name="Text 13"/>
          <p:cNvSpPr/>
          <p:nvPr/>
        </p:nvSpPr>
        <p:spPr>
          <a:xfrm>
            <a:off x="6693408" y="1143000"/>
            <a:ext cx="2240280" cy="438912"/>
          </a:xfrm>
          <a:prstGeom prst="rect">
            <a:avLst/>
          </a:prstGeom>
          <a:noFill/>
          <a:ln/>
        </p:spPr>
        <p:txBody>
          <a:bodyPr wrap="square" rtlCol="0" anchor="ctr"/>
          <a:lstStyle/>
          <a:p>
            <a:pPr marL="0" indent="0">
              <a:buNone/>
            </a:pPr>
            <a:r>
              <a:rPr lang="en-US" sz="1100" b="1" dirty="0">
                <a:solidFill>
                  <a:srgbClr val="FFFFFF"/>
                </a:solidFill>
              </a:rPr>
              <a:t>Conformité Réglementaire</a:t>
            </a:r>
            <a:endParaRPr lang="en-US" sz="1100" dirty="0"/>
          </a:p>
        </p:txBody>
      </p:sp>
      <p:sp>
        <p:nvSpPr>
          <p:cNvPr id="19" name="Text 14"/>
          <p:cNvSpPr/>
          <p:nvPr/>
        </p:nvSpPr>
        <p:spPr>
          <a:xfrm>
            <a:off x="6272784" y="1691640"/>
            <a:ext cx="2615184" cy="1069848"/>
          </a:xfrm>
          <a:prstGeom prst="rect">
            <a:avLst/>
          </a:prstGeom>
          <a:noFill/>
          <a:ln/>
        </p:spPr>
        <p:txBody>
          <a:bodyPr wrap="square" rtlCol="0" anchor="ctr"/>
          <a:lstStyle/>
          <a:p>
            <a:pPr marL="0" indent="0">
              <a:buNone/>
            </a:pPr>
            <a:r>
              <a:rPr lang="en-US" sz="950" dirty="0">
                <a:solidFill>
                  <a:srgbClr val="455A64"/>
                </a:solidFill>
              </a:rPr>
              <a:t>KYC, FATCA, BCRG : les obligations légales sont couvertes par un référentiel client certifié.</a:t>
            </a:r>
            <a:endParaRPr lang="en-US" sz="950" dirty="0"/>
          </a:p>
        </p:txBody>
      </p:sp>
      <p:sp>
        <p:nvSpPr>
          <p:cNvPr id="20" name="Shape 15"/>
          <p:cNvSpPr/>
          <p:nvPr/>
        </p:nvSpPr>
        <p:spPr>
          <a:xfrm>
            <a:off x="182880" y="2971800"/>
            <a:ext cx="2834640" cy="1783080"/>
          </a:xfrm>
          <a:prstGeom prst="rect">
            <a:avLst/>
          </a:prstGeom>
          <a:solidFill>
            <a:srgbClr val="FFFFFF"/>
          </a:solidFill>
          <a:ln w="12700">
            <a:solidFill>
              <a:srgbClr val="1976D2"/>
            </a:solidFill>
            <a:prstDash val="solid"/>
          </a:ln>
          <a:effectLst>
            <a:outerShdw blurRad="101600" dist="38100" dir="8100000" algn="bl" rotWithShape="0">
              <a:srgbClr val="000000">
                <a:alpha val="14000"/>
              </a:srgbClr>
            </a:outerShdw>
          </a:effectLst>
        </p:spPr>
      </p:sp>
      <p:sp>
        <p:nvSpPr>
          <p:cNvPr id="21" name="Shape 16"/>
          <p:cNvSpPr/>
          <p:nvPr/>
        </p:nvSpPr>
        <p:spPr>
          <a:xfrm>
            <a:off x="182880" y="2971800"/>
            <a:ext cx="2834640" cy="566928"/>
          </a:xfrm>
          <a:prstGeom prst="rect">
            <a:avLst/>
          </a:prstGeom>
          <a:solidFill>
            <a:srgbClr val="1976D2"/>
          </a:solidFill>
          <a:ln w="12700">
            <a:solidFill>
              <a:srgbClr val="1976D2"/>
            </a:solidFill>
            <a:prstDash val="solid"/>
          </a:ln>
        </p:spPr>
      </p:sp>
      <p:pic>
        <p:nvPicPr>
          <p:cNvPr id="22" name="Image 3" descr="preencoded.png"/>
          <p:cNvPicPr>
            <a:picLocks noChangeAspect="1"/>
          </p:cNvPicPr>
          <p:nvPr/>
        </p:nvPicPr>
        <p:blipFill>
          <a:blip r:embed="rId6"/>
          <a:stretch>
            <a:fillRect/>
          </a:stretch>
        </p:blipFill>
        <p:spPr>
          <a:xfrm>
            <a:off x="274320" y="3081528"/>
            <a:ext cx="365760" cy="365760"/>
          </a:xfrm>
          <a:prstGeom prst="rect">
            <a:avLst/>
          </a:prstGeom>
        </p:spPr>
      </p:pic>
      <p:sp>
        <p:nvSpPr>
          <p:cNvPr id="23" name="Text 17"/>
          <p:cNvSpPr/>
          <p:nvPr/>
        </p:nvSpPr>
        <p:spPr>
          <a:xfrm>
            <a:off x="713232" y="3063240"/>
            <a:ext cx="2240280" cy="438912"/>
          </a:xfrm>
          <a:prstGeom prst="rect">
            <a:avLst/>
          </a:prstGeom>
          <a:noFill/>
          <a:ln/>
        </p:spPr>
        <p:txBody>
          <a:bodyPr wrap="square" rtlCol="0" anchor="ctr"/>
          <a:lstStyle/>
          <a:p>
            <a:pPr marL="0" indent="0">
              <a:buNone/>
            </a:pPr>
            <a:r>
              <a:rPr lang="en-US" sz="1100" b="1" dirty="0">
                <a:solidFill>
                  <a:srgbClr val="FFFFFF"/>
                </a:solidFill>
              </a:rPr>
              <a:t>Réduction Conflits IT/Métiers</a:t>
            </a:r>
            <a:endParaRPr lang="en-US" sz="1100" dirty="0"/>
          </a:p>
        </p:txBody>
      </p:sp>
      <p:sp>
        <p:nvSpPr>
          <p:cNvPr id="24" name="Text 18"/>
          <p:cNvSpPr/>
          <p:nvPr/>
        </p:nvSpPr>
        <p:spPr>
          <a:xfrm>
            <a:off x="292608" y="3611880"/>
            <a:ext cx="2615184" cy="1069848"/>
          </a:xfrm>
          <a:prstGeom prst="rect">
            <a:avLst/>
          </a:prstGeom>
          <a:noFill/>
          <a:ln/>
        </p:spPr>
        <p:txBody>
          <a:bodyPr wrap="square" rtlCol="0" anchor="ctr"/>
          <a:lstStyle/>
          <a:p>
            <a:pPr marL="0" indent="0">
              <a:buNone/>
            </a:pPr>
            <a:r>
              <a:rPr lang="en-US" sz="950" dirty="0">
                <a:solidFill>
                  <a:srgbClr val="455A64"/>
                </a:solidFill>
              </a:rPr>
              <a:t>Une définition unique par concept élimine les débats sur la signification des données.</a:t>
            </a:r>
            <a:endParaRPr lang="en-US" sz="950" dirty="0"/>
          </a:p>
        </p:txBody>
      </p:sp>
      <p:sp>
        <p:nvSpPr>
          <p:cNvPr id="25" name="Shape 19"/>
          <p:cNvSpPr/>
          <p:nvPr/>
        </p:nvSpPr>
        <p:spPr>
          <a:xfrm>
            <a:off x="3172968" y="2971800"/>
            <a:ext cx="2834640" cy="1783080"/>
          </a:xfrm>
          <a:prstGeom prst="rect">
            <a:avLst/>
          </a:prstGeom>
          <a:solidFill>
            <a:srgbClr val="FFFFFF"/>
          </a:solidFill>
          <a:ln w="12700">
            <a:solidFill>
              <a:srgbClr val="455A64"/>
            </a:solidFill>
            <a:prstDash val="solid"/>
          </a:ln>
          <a:effectLst>
            <a:outerShdw blurRad="101600" dist="38100" dir="8100000" algn="bl" rotWithShape="0">
              <a:srgbClr val="000000">
                <a:alpha val="14000"/>
              </a:srgbClr>
            </a:outerShdw>
          </a:effectLst>
        </p:spPr>
      </p:sp>
      <p:sp>
        <p:nvSpPr>
          <p:cNvPr id="26" name="Shape 20"/>
          <p:cNvSpPr/>
          <p:nvPr/>
        </p:nvSpPr>
        <p:spPr>
          <a:xfrm>
            <a:off x="3172968" y="2971800"/>
            <a:ext cx="2834640" cy="566928"/>
          </a:xfrm>
          <a:prstGeom prst="rect">
            <a:avLst/>
          </a:prstGeom>
          <a:solidFill>
            <a:srgbClr val="455A64"/>
          </a:solidFill>
          <a:ln w="12700">
            <a:solidFill>
              <a:srgbClr val="455A64"/>
            </a:solidFill>
            <a:prstDash val="solid"/>
          </a:ln>
        </p:spPr>
      </p:sp>
      <p:pic>
        <p:nvPicPr>
          <p:cNvPr id="27" name="Image 4" descr="preencoded.png"/>
          <p:cNvPicPr>
            <a:picLocks noChangeAspect="1"/>
          </p:cNvPicPr>
          <p:nvPr/>
        </p:nvPicPr>
        <p:blipFill>
          <a:blip r:embed="rId7"/>
          <a:stretch>
            <a:fillRect/>
          </a:stretch>
        </p:blipFill>
        <p:spPr>
          <a:xfrm>
            <a:off x="3264408" y="3081528"/>
            <a:ext cx="365760" cy="365760"/>
          </a:xfrm>
          <a:prstGeom prst="rect">
            <a:avLst/>
          </a:prstGeom>
        </p:spPr>
      </p:pic>
      <p:sp>
        <p:nvSpPr>
          <p:cNvPr id="28" name="Text 21"/>
          <p:cNvSpPr/>
          <p:nvPr/>
        </p:nvSpPr>
        <p:spPr>
          <a:xfrm>
            <a:off x="3703320" y="3063240"/>
            <a:ext cx="2240280" cy="438912"/>
          </a:xfrm>
          <a:prstGeom prst="rect">
            <a:avLst/>
          </a:prstGeom>
          <a:noFill/>
          <a:ln/>
        </p:spPr>
        <p:txBody>
          <a:bodyPr wrap="square" rtlCol="0" anchor="ctr"/>
          <a:lstStyle/>
          <a:p>
            <a:pPr marL="0" indent="0">
              <a:buNone/>
            </a:pPr>
            <a:r>
              <a:rPr lang="en-US" sz="1100" b="1" dirty="0">
                <a:solidFill>
                  <a:srgbClr val="FFFFFF"/>
                </a:solidFill>
              </a:rPr>
              <a:t>Accélération Digitale</a:t>
            </a:r>
            <a:endParaRPr lang="en-US" sz="1100" dirty="0"/>
          </a:p>
        </p:txBody>
      </p:sp>
      <p:sp>
        <p:nvSpPr>
          <p:cNvPr id="29" name="Text 22"/>
          <p:cNvSpPr/>
          <p:nvPr/>
        </p:nvSpPr>
        <p:spPr>
          <a:xfrm>
            <a:off x="3282696" y="3611880"/>
            <a:ext cx="2615184" cy="1069848"/>
          </a:xfrm>
          <a:prstGeom prst="rect">
            <a:avLst/>
          </a:prstGeom>
          <a:noFill/>
          <a:ln/>
        </p:spPr>
        <p:txBody>
          <a:bodyPr wrap="square" rtlCol="0" anchor="ctr"/>
          <a:lstStyle/>
          <a:p>
            <a:pPr marL="0" indent="0">
              <a:buNone/>
            </a:pPr>
            <a:r>
              <a:rPr lang="en-US" sz="950" dirty="0">
                <a:solidFill>
                  <a:srgbClr val="455A64"/>
                </a:solidFill>
              </a:rPr>
              <a:t>Les nouveaux projets (mobile, IA, open banking) s'appuient sur une base de données fiable.</a:t>
            </a:r>
            <a:endParaRPr lang="en-US" sz="950" dirty="0"/>
          </a:p>
        </p:txBody>
      </p:sp>
      <p:sp>
        <p:nvSpPr>
          <p:cNvPr id="30" name="Shape 23"/>
          <p:cNvSpPr/>
          <p:nvPr/>
        </p:nvSpPr>
        <p:spPr>
          <a:xfrm>
            <a:off x="6163056" y="2971800"/>
            <a:ext cx="2834640" cy="1783080"/>
          </a:xfrm>
          <a:prstGeom prst="rect">
            <a:avLst/>
          </a:prstGeom>
          <a:solidFill>
            <a:srgbClr val="FFFFFF"/>
          </a:solidFill>
          <a:ln w="12700">
            <a:solidFill>
              <a:srgbClr val="F9A825"/>
            </a:solidFill>
            <a:prstDash val="solid"/>
          </a:ln>
          <a:effectLst>
            <a:outerShdw blurRad="101600" dist="38100" dir="8100000" algn="bl" rotWithShape="0">
              <a:srgbClr val="000000">
                <a:alpha val="14000"/>
              </a:srgbClr>
            </a:outerShdw>
          </a:effectLst>
        </p:spPr>
      </p:sp>
      <p:sp>
        <p:nvSpPr>
          <p:cNvPr id="31" name="Shape 24"/>
          <p:cNvSpPr/>
          <p:nvPr/>
        </p:nvSpPr>
        <p:spPr>
          <a:xfrm>
            <a:off x="6163056" y="2971800"/>
            <a:ext cx="2834640" cy="566928"/>
          </a:xfrm>
          <a:prstGeom prst="rect">
            <a:avLst/>
          </a:prstGeom>
          <a:solidFill>
            <a:srgbClr val="F9A825"/>
          </a:solidFill>
          <a:ln w="12700">
            <a:solidFill>
              <a:srgbClr val="F9A825"/>
            </a:solidFill>
            <a:prstDash val="solid"/>
          </a:ln>
        </p:spPr>
      </p:sp>
      <p:pic>
        <p:nvPicPr>
          <p:cNvPr id="32" name="Image 5" descr="preencoded.png"/>
          <p:cNvPicPr>
            <a:picLocks noChangeAspect="1"/>
          </p:cNvPicPr>
          <p:nvPr/>
        </p:nvPicPr>
        <p:blipFill>
          <a:blip r:embed="rId8"/>
          <a:stretch>
            <a:fillRect/>
          </a:stretch>
        </p:blipFill>
        <p:spPr>
          <a:xfrm>
            <a:off x="6254496" y="3081528"/>
            <a:ext cx="365760" cy="365760"/>
          </a:xfrm>
          <a:prstGeom prst="rect">
            <a:avLst/>
          </a:prstGeom>
        </p:spPr>
      </p:pic>
      <p:sp>
        <p:nvSpPr>
          <p:cNvPr id="33" name="Text 25"/>
          <p:cNvSpPr/>
          <p:nvPr/>
        </p:nvSpPr>
        <p:spPr>
          <a:xfrm>
            <a:off x="6693408" y="3063240"/>
            <a:ext cx="2240280" cy="438912"/>
          </a:xfrm>
          <a:prstGeom prst="rect">
            <a:avLst/>
          </a:prstGeom>
          <a:noFill/>
          <a:ln/>
        </p:spPr>
        <p:txBody>
          <a:bodyPr wrap="square" rtlCol="0" anchor="ctr"/>
          <a:lstStyle/>
          <a:p>
            <a:pPr marL="0" indent="0">
              <a:buNone/>
            </a:pPr>
            <a:r>
              <a:rPr lang="en-US" sz="1100" b="1" dirty="0">
                <a:solidFill>
                  <a:srgbClr val="FFFFFF"/>
                </a:solidFill>
              </a:rPr>
              <a:t>Fondation Banque Digitale</a:t>
            </a:r>
            <a:endParaRPr lang="en-US" sz="1100" dirty="0"/>
          </a:p>
        </p:txBody>
      </p:sp>
      <p:sp>
        <p:nvSpPr>
          <p:cNvPr id="34" name="Text 26"/>
          <p:cNvSpPr/>
          <p:nvPr/>
        </p:nvSpPr>
        <p:spPr>
          <a:xfrm>
            <a:off x="6272784" y="3611880"/>
            <a:ext cx="2615184" cy="1069848"/>
          </a:xfrm>
          <a:prstGeom prst="rect">
            <a:avLst/>
          </a:prstGeom>
          <a:noFill/>
          <a:ln/>
        </p:spPr>
        <p:txBody>
          <a:bodyPr wrap="square" rtlCol="0" anchor="ctr"/>
          <a:lstStyle/>
          <a:p>
            <a:pPr marL="0" indent="0">
              <a:buNone/>
            </a:pPr>
            <a:r>
              <a:rPr lang="en-US" sz="950" dirty="0">
                <a:solidFill>
                  <a:srgbClr val="455A64"/>
                </a:solidFill>
              </a:rPr>
              <a:t>La Vue Unique Client est le socle indispensable à la transformation numérique de Vision Bank.</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9A825"/>
          </a:solidFill>
          <a:ln w="12700">
            <a:solidFill>
              <a:srgbClr val="F9A825"/>
            </a:solidFill>
            <a:prstDash val="solid"/>
          </a:ln>
        </p:spPr>
      </p:sp>
      <p:sp>
        <p:nvSpPr>
          <p:cNvPr id="3" name="Shape 1"/>
          <p:cNvSpPr/>
          <p:nvPr/>
        </p:nvSpPr>
        <p:spPr>
          <a:xfrm>
            <a:off x="0" y="73152"/>
            <a:ext cx="54864" cy="5070348"/>
          </a:xfrm>
          <a:prstGeom prst="rect">
            <a:avLst/>
          </a:prstGeom>
          <a:solidFill>
            <a:srgbClr val="F9A825"/>
          </a:solidFill>
          <a:ln w="12700">
            <a:solidFill>
              <a:srgbClr val="F9A825"/>
            </a:solidFill>
            <a:prstDash val="solid"/>
          </a:ln>
        </p:spPr>
      </p:sp>
      <p:sp>
        <p:nvSpPr>
          <p:cNvPr id="4" name="Shape 2"/>
          <p:cNvSpPr/>
          <p:nvPr/>
        </p:nvSpPr>
        <p:spPr>
          <a:xfrm>
            <a:off x="0" y="4983480"/>
            <a:ext cx="9144000" cy="160020"/>
          </a:xfrm>
          <a:prstGeom prst="rect">
            <a:avLst/>
          </a:prstGeom>
          <a:solidFill>
            <a:srgbClr val="0D2545"/>
          </a:solidFill>
          <a:ln w="12700">
            <a:solidFill>
              <a:srgbClr val="0D2545"/>
            </a:solidFill>
            <a:prstDash val="solid"/>
          </a:ln>
        </p:spPr>
      </p:sp>
      <p:sp>
        <p:nvSpPr>
          <p:cNvPr id="5" name="Shape 3"/>
          <p:cNvSpPr/>
          <p:nvPr/>
        </p:nvSpPr>
        <p:spPr>
          <a:xfrm>
            <a:off x="5943600" y="457200"/>
            <a:ext cx="2926080" cy="2926080"/>
          </a:xfrm>
          <a:prstGeom prst="ellipse">
            <a:avLst/>
          </a:prstGeom>
          <a:solidFill>
            <a:srgbClr val="1976D2">
              <a:alpha val="28000"/>
            </a:srgbClr>
          </a:solidFill>
          <a:ln w="12700">
            <a:solidFill>
              <a:srgbClr val="1976D2">
                <a:alpha val="28000"/>
              </a:srgbClr>
            </a:solidFill>
            <a:prstDash val="solid"/>
          </a:ln>
        </p:spPr>
      </p:sp>
      <p:pic>
        <p:nvPicPr>
          <p:cNvPr id="6" name="Image 0" descr="preencoded.png"/>
          <p:cNvPicPr>
            <a:picLocks noChangeAspect="1"/>
          </p:cNvPicPr>
          <p:nvPr/>
        </p:nvPicPr>
        <p:blipFill>
          <a:blip r:embed="rId3"/>
          <a:stretch>
            <a:fillRect/>
          </a:stretch>
        </p:blipFill>
        <p:spPr>
          <a:xfrm>
            <a:off x="6766560" y="1005840"/>
            <a:ext cx="1371600" cy="1371600"/>
          </a:xfrm>
          <a:prstGeom prst="rect">
            <a:avLst/>
          </a:prstGeom>
        </p:spPr>
      </p:pic>
      <p:sp>
        <p:nvSpPr>
          <p:cNvPr id="7" name="Text 4"/>
          <p:cNvSpPr/>
          <p:nvPr/>
        </p:nvSpPr>
        <p:spPr>
          <a:xfrm>
            <a:off x="320040" y="731520"/>
            <a:ext cx="5303520" cy="822960"/>
          </a:xfrm>
          <a:prstGeom prst="rect">
            <a:avLst/>
          </a:prstGeom>
          <a:noFill/>
          <a:ln/>
        </p:spPr>
        <p:txBody>
          <a:bodyPr wrap="square" rtlCol="0" anchor="ctr"/>
          <a:lstStyle/>
          <a:p>
            <a:pPr marL="0" indent="0">
              <a:buNone/>
            </a:pPr>
            <a:r>
              <a:rPr lang="en-US" sz="3600" b="1" dirty="0">
                <a:solidFill>
                  <a:srgbClr val="F9A825"/>
                </a:solidFill>
                <a:latin typeface="Georgia" pitchFamily="34" charset="0"/>
                <a:ea typeface="Georgia" pitchFamily="34" charset="-122"/>
                <a:cs typeface="Georgia" pitchFamily="34" charset="-120"/>
              </a:rPr>
              <a:t>Conclusion</a:t>
            </a:r>
            <a:endParaRPr lang="en-US" sz="3600" dirty="0"/>
          </a:p>
        </p:txBody>
      </p:sp>
      <p:sp>
        <p:nvSpPr>
          <p:cNvPr id="8" name="Shape 5"/>
          <p:cNvSpPr/>
          <p:nvPr/>
        </p:nvSpPr>
        <p:spPr>
          <a:xfrm>
            <a:off x="320040" y="1819656"/>
            <a:ext cx="164592" cy="164592"/>
          </a:xfrm>
          <a:prstGeom prst="ellipse">
            <a:avLst/>
          </a:prstGeom>
          <a:solidFill>
            <a:srgbClr val="F9A825"/>
          </a:solidFill>
          <a:ln w="12700">
            <a:solidFill>
              <a:srgbClr val="F9A825"/>
            </a:solidFill>
            <a:prstDash val="solid"/>
          </a:ln>
        </p:spPr>
      </p:sp>
      <p:sp>
        <p:nvSpPr>
          <p:cNvPr id="9" name="Text 6"/>
          <p:cNvSpPr/>
          <p:nvPr/>
        </p:nvSpPr>
        <p:spPr>
          <a:xfrm>
            <a:off x="594360" y="1691640"/>
            <a:ext cx="5029200" cy="438912"/>
          </a:xfrm>
          <a:prstGeom prst="rect">
            <a:avLst/>
          </a:prstGeom>
          <a:noFill/>
          <a:ln/>
        </p:spPr>
        <p:txBody>
          <a:bodyPr wrap="square" rtlCol="0" anchor="ctr"/>
          <a:lstStyle/>
          <a:p>
            <a:pPr marL="0" indent="0">
              <a:buNone/>
            </a:pPr>
            <a:r>
              <a:rPr lang="en-US" sz="1100" dirty="0">
                <a:solidFill>
                  <a:srgbClr val="FFFFFF"/>
                </a:solidFill>
              </a:rPr>
              <a:t>La Vue Unique Client est un impératif stratégique pour Vision Bank</a:t>
            </a:r>
            <a:endParaRPr lang="en-US" sz="1100" dirty="0"/>
          </a:p>
        </p:txBody>
      </p:sp>
      <p:sp>
        <p:nvSpPr>
          <p:cNvPr id="10" name="Shape 7"/>
          <p:cNvSpPr/>
          <p:nvPr/>
        </p:nvSpPr>
        <p:spPr>
          <a:xfrm>
            <a:off x="320040" y="2295144"/>
            <a:ext cx="164592" cy="164592"/>
          </a:xfrm>
          <a:prstGeom prst="ellipse">
            <a:avLst/>
          </a:prstGeom>
          <a:solidFill>
            <a:srgbClr val="F9A825"/>
          </a:solidFill>
          <a:ln w="12700">
            <a:solidFill>
              <a:srgbClr val="F9A825"/>
            </a:solidFill>
            <a:prstDash val="solid"/>
          </a:ln>
        </p:spPr>
      </p:sp>
      <p:sp>
        <p:nvSpPr>
          <p:cNvPr id="11" name="Text 8"/>
          <p:cNvSpPr/>
          <p:nvPr/>
        </p:nvSpPr>
        <p:spPr>
          <a:xfrm>
            <a:off x="594360" y="2167128"/>
            <a:ext cx="5029200" cy="438912"/>
          </a:xfrm>
          <a:prstGeom prst="rect">
            <a:avLst/>
          </a:prstGeom>
          <a:noFill/>
          <a:ln/>
        </p:spPr>
        <p:txBody>
          <a:bodyPr wrap="square" rtlCol="0" anchor="ctr"/>
          <a:lstStyle/>
          <a:p>
            <a:pPr marL="0" indent="0">
              <a:buNone/>
            </a:pPr>
            <a:r>
              <a:rPr lang="en-US" sz="1100" dirty="0">
                <a:solidFill>
                  <a:srgbClr val="FFFFFF"/>
                </a:solidFill>
              </a:rPr>
              <a:t>Le SSOT garantit une vérité unique sur chaque donnée client</a:t>
            </a:r>
            <a:endParaRPr lang="en-US" sz="1100" dirty="0"/>
          </a:p>
        </p:txBody>
      </p:sp>
      <p:sp>
        <p:nvSpPr>
          <p:cNvPr id="12" name="Shape 9"/>
          <p:cNvSpPr/>
          <p:nvPr/>
        </p:nvSpPr>
        <p:spPr>
          <a:xfrm>
            <a:off x="320040" y="2770632"/>
            <a:ext cx="164592" cy="164592"/>
          </a:xfrm>
          <a:prstGeom prst="ellipse">
            <a:avLst/>
          </a:prstGeom>
          <a:solidFill>
            <a:srgbClr val="F9A825"/>
          </a:solidFill>
          <a:ln w="12700">
            <a:solidFill>
              <a:srgbClr val="F9A825"/>
            </a:solidFill>
            <a:prstDash val="solid"/>
          </a:ln>
        </p:spPr>
      </p:sp>
      <p:sp>
        <p:nvSpPr>
          <p:cNvPr id="13" name="Text 10"/>
          <p:cNvSpPr/>
          <p:nvPr/>
        </p:nvSpPr>
        <p:spPr>
          <a:xfrm>
            <a:off x="594360" y="2642616"/>
            <a:ext cx="5029200" cy="438912"/>
          </a:xfrm>
          <a:prstGeom prst="rect">
            <a:avLst/>
          </a:prstGeom>
          <a:noFill/>
          <a:ln/>
        </p:spPr>
        <p:txBody>
          <a:bodyPr wrap="square" rtlCol="0" anchor="ctr"/>
          <a:lstStyle/>
          <a:p>
            <a:pPr marL="0" indent="0">
              <a:buNone/>
            </a:pPr>
            <a:r>
              <a:rPr lang="en-US" sz="1100" dirty="0">
                <a:solidFill>
                  <a:srgbClr val="FFFFFF"/>
                </a:solidFill>
              </a:rPr>
              <a:t>Le MDM / Golden Record centralise et distribue le référentiel certifié</a:t>
            </a:r>
            <a:endParaRPr lang="en-US" sz="1100" dirty="0"/>
          </a:p>
        </p:txBody>
      </p:sp>
      <p:sp>
        <p:nvSpPr>
          <p:cNvPr id="14" name="Shape 11"/>
          <p:cNvSpPr/>
          <p:nvPr/>
        </p:nvSpPr>
        <p:spPr>
          <a:xfrm>
            <a:off x="320040" y="3246120"/>
            <a:ext cx="164592" cy="164592"/>
          </a:xfrm>
          <a:prstGeom prst="ellipse">
            <a:avLst/>
          </a:prstGeom>
          <a:solidFill>
            <a:srgbClr val="F9A825"/>
          </a:solidFill>
          <a:ln w="12700">
            <a:solidFill>
              <a:srgbClr val="F9A825"/>
            </a:solidFill>
            <a:prstDash val="solid"/>
          </a:ln>
        </p:spPr>
      </p:sp>
      <p:sp>
        <p:nvSpPr>
          <p:cNvPr id="15" name="Text 12"/>
          <p:cNvSpPr/>
          <p:nvPr/>
        </p:nvSpPr>
        <p:spPr>
          <a:xfrm>
            <a:off x="594360" y="3118104"/>
            <a:ext cx="5029200" cy="438912"/>
          </a:xfrm>
          <a:prstGeom prst="rect">
            <a:avLst/>
          </a:prstGeom>
          <a:noFill/>
          <a:ln/>
        </p:spPr>
        <p:txBody>
          <a:bodyPr wrap="square" rtlCol="0" anchor="ctr"/>
          <a:lstStyle/>
          <a:p>
            <a:pPr marL="0" indent="0">
              <a:buNone/>
            </a:pPr>
            <a:r>
              <a:rPr lang="en-US" sz="1100" dirty="0">
                <a:solidFill>
                  <a:srgbClr val="FFFFFF"/>
                </a:solidFill>
              </a:rPr>
              <a:t>La gouvernance SI (Comité SI) pilote et pérennise la démarche</a:t>
            </a:r>
            <a:endParaRPr lang="en-US" sz="1100" dirty="0"/>
          </a:p>
        </p:txBody>
      </p:sp>
      <p:sp>
        <p:nvSpPr>
          <p:cNvPr id="16" name="Shape 13"/>
          <p:cNvSpPr/>
          <p:nvPr/>
        </p:nvSpPr>
        <p:spPr>
          <a:xfrm>
            <a:off x="320040" y="3721608"/>
            <a:ext cx="164592" cy="164592"/>
          </a:xfrm>
          <a:prstGeom prst="ellipse">
            <a:avLst/>
          </a:prstGeom>
          <a:solidFill>
            <a:srgbClr val="F9A825"/>
          </a:solidFill>
          <a:ln w="12700">
            <a:solidFill>
              <a:srgbClr val="F9A825"/>
            </a:solidFill>
            <a:prstDash val="solid"/>
          </a:ln>
        </p:spPr>
      </p:sp>
      <p:sp>
        <p:nvSpPr>
          <p:cNvPr id="17" name="Text 14"/>
          <p:cNvSpPr/>
          <p:nvPr/>
        </p:nvSpPr>
        <p:spPr>
          <a:xfrm>
            <a:off x="594360" y="3593592"/>
            <a:ext cx="5029200" cy="438912"/>
          </a:xfrm>
          <a:prstGeom prst="rect">
            <a:avLst/>
          </a:prstGeom>
          <a:noFill/>
          <a:ln/>
        </p:spPr>
        <p:txBody>
          <a:bodyPr wrap="square" rtlCol="0" anchor="ctr"/>
          <a:lstStyle/>
          <a:p>
            <a:pPr marL="0" indent="0">
              <a:buNone/>
            </a:pPr>
            <a:r>
              <a:rPr lang="en-US" sz="1100" dirty="0">
                <a:solidFill>
                  <a:srgbClr val="FFFFFF"/>
                </a:solidFill>
              </a:rPr>
              <a:t>Le dictionnaire de données aligne les définitions métier et IT</a:t>
            </a:r>
            <a:endParaRPr lang="en-US" sz="1100" dirty="0"/>
          </a:p>
        </p:txBody>
      </p:sp>
      <p:sp>
        <p:nvSpPr>
          <p:cNvPr id="18" name="Shape 15"/>
          <p:cNvSpPr/>
          <p:nvPr/>
        </p:nvSpPr>
        <p:spPr>
          <a:xfrm>
            <a:off x="320040" y="4197096"/>
            <a:ext cx="164592" cy="164592"/>
          </a:xfrm>
          <a:prstGeom prst="ellipse">
            <a:avLst/>
          </a:prstGeom>
          <a:solidFill>
            <a:srgbClr val="F9A825"/>
          </a:solidFill>
          <a:ln w="12700">
            <a:solidFill>
              <a:srgbClr val="F9A825"/>
            </a:solidFill>
            <a:prstDash val="solid"/>
          </a:ln>
        </p:spPr>
      </p:sp>
      <p:sp>
        <p:nvSpPr>
          <p:cNvPr id="19" name="Text 16"/>
          <p:cNvSpPr/>
          <p:nvPr/>
        </p:nvSpPr>
        <p:spPr>
          <a:xfrm>
            <a:off x="594360" y="4069080"/>
            <a:ext cx="5029200" cy="438912"/>
          </a:xfrm>
          <a:prstGeom prst="rect">
            <a:avLst/>
          </a:prstGeom>
          <a:noFill/>
          <a:ln/>
        </p:spPr>
        <p:txBody>
          <a:bodyPr wrap="square" rtlCol="0" anchor="ctr"/>
          <a:lstStyle/>
          <a:p>
            <a:pPr marL="0" indent="0">
              <a:buNone/>
            </a:pPr>
            <a:r>
              <a:rPr lang="en-US" sz="1100" dirty="0">
                <a:solidFill>
                  <a:srgbClr val="FFFFFF"/>
                </a:solidFill>
              </a:rPr>
              <a:t>La roadmap en 5 phases assure un déploiement progressif et maîtrisé</a:t>
            </a:r>
            <a:endParaRPr lang="en-US" sz="1100" dirty="0"/>
          </a:p>
        </p:txBody>
      </p:sp>
      <p:sp>
        <p:nvSpPr>
          <p:cNvPr id="20" name="Shape 17"/>
          <p:cNvSpPr/>
          <p:nvPr/>
        </p:nvSpPr>
        <p:spPr>
          <a:xfrm>
            <a:off x="320040" y="4663440"/>
            <a:ext cx="5029200" cy="292608"/>
          </a:xfrm>
          <a:prstGeom prst="rect">
            <a:avLst/>
          </a:prstGeom>
          <a:solidFill>
            <a:srgbClr val="F9A825">
              <a:alpha val="80000"/>
            </a:srgbClr>
          </a:solidFill>
          <a:ln w="12700">
            <a:solidFill>
              <a:srgbClr val="F9A825"/>
            </a:solidFill>
            <a:prstDash val="solid"/>
          </a:ln>
        </p:spPr>
      </p:sp>
      <p:sp>
        <p:nvSpPr>
          <p:cNvPr id="21" name="Text 18"/>
          <p:cNvSpPr/>
          <p:nvPr/>
        </p:nvSpPr>
        <p:spPr>
          <a:xfrm>
            <a:off x="320040" y="4663440"/>
            <a:ext cx="5029200" cy="292608"/>
          </a:xfrm>
          <a:prstGeom prst="rect">
            <a:avLst/>
          </a:prstGeom>
          <a:noFill/>
          <a:ln/>
        </p:spPr>
        <p:txBody>
          <a:bodyPr wrap="square" rtlCol="0" anchor="ctr"/>
          <a:lstStyle/>
          <a:p>
            <a:pPr marL="0" indent="0" algn="ctr">
              <a:buNone/>
            </a:pPr>
            <a:r>
              <a:rPr lang="en-US" sz="1000" b="1" dirty="0">
                <a:solidFill>
                  <a:srgbClr val="0B1D3A"/>
                </a:solidFill>
              </a:rPr>
              <a:t>Vision Bank — Vers une banque 100% orientée données</a:t>
            </a:r>
            <a:endParaRPr lang="en-US" sz="1000" dirty="0"/>
          </a:p>
        </p:txBody>
      </p:sp>
      <p:sp>
        <p:nvSpPr>
          <p:cNvPr id="22" name="Text 19"/>
          <p:cNvSpPr/>
          <p:nvPr/>
        </p:nvSpPr>
        <p:spPr>
          <a:xfrm>
            <a:off x="182880" y="4983480"/>
            <a:ext cx="8778240" cy="160020"/>
          </a:xfrm>
          <a:prstGeom prst="rect">
            <a:avLst/>
          </a:prstGeom>
          <a:noFill/>
          <a:ln/>
        </p:spPr>
        <p:txBody>
          <a:bodyPr wrap="square" rtlCol="0" anchor="ctr"/>
          <a:lstStyle/>
          <a:p>
            <a:pPr marL="0" indent="0" algn="r">
              <a:buNone/>
            </a:pPr>
            <a:r>
              <a:rPr lang="en-US" sz="900" dirty="0">
                <a:solidFill>
                  <a:srgbClr val="90A4AE"/>
                </a:solidFill>
              </a:rPr>
              <a:t>Master SI  |  Exposé  |  2024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4292</TotalTime>
  <Words>1488</Words>
  <Application>Microsoft Office PowerPoint</Application>
  <PresentationFormat>Affichage à l'écran (16:9)</PresentationFormat>
  <Paragraphs>354</Paragraphs>
  <Slides>22</Slides>
  <Notes>22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22</vt:i4>
      </vt:variant>
    </vt:vector>
  </HeadingPairs>
  <TitlesOfParts>
    <vt:vector size="26"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Vue Unique Client – Vision Bank</dc:title>
  <dc:subject>PptxGenJS Presentation</dc:subject>
  <dc:creator>PptxGenJS</dc:creator>
  <cp:lastModifiedBy>Alpha KEITA</cp:lastModifiedBy>
  <cp:revision>1</cp:revision>
  <dcterms:created xsi:type="dcterms:W3CDTF">2026-03-18T19:59:52Z</dcterms:created>
  <dcterms:modified xsi:type="dcterms:W3CDTF">2026-04-16T23:44:22Z</dcterms:modified>
</cp:coreProperties>
</file>