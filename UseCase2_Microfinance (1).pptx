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E6A817"/>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594360" y="201168"/>
            <a:ext cx="8229600" cy="438912"/>
          </a:xfrm>
          <a:prstGeom prst="rect">
            <a:avLst/>
          </a:prstGeom>
          <a:noFill/>
          <a:ln/>
        </p:spPr>
        <p:txBody>
          <a:bodyPr wrap="square" lIns="0" tIns="0" rIns="0" bIns="0" rtlCol="0" anchor="ctr"/>
          <a:lstStyle/>
          <a:p>
            <a:pPr indent="0" marL="0">
              <a:buNone/>
            </a:pPr>
            <a:r>
              <a:rPr lang="en-US" sz="1400" b="1" spc="100" kern="0" dirty="0">
                <a:solidFill>
                  <a:srgbClr val="E6A817"/>
                </a:solidFill>
              </a:rPr>
              <a:t>📘 Exercice — Use Case 2</a:t>
            </a:r>
            <a:endParaRPr lang="en-US" sz="1400" dirty="0"/>
          </a:p>
        </p:txBody>
      </p:sp>
      <p:sp>
        <p:nvSpPr>
          <p:cNvPr id="5" name="Text 3"/>
          <p:cNvSpPr/>
          <p:nvPr/>
        </p:nvSpPr>
        <p:spPr>
          <a:xfrm>
            <a:off x="594360" y="777240"/>
            <a:ext cx="8229600" cy="548640"/>
          </a:xfrm>
          <a:prstGeom prst="rect">
            <a:avLst/>
          </a:prstGeom>
          <a:noFill/>
          <a:ln/>
        </p:spPr>
        <p:txBody>
          <a:bodyPr wrap="square" lIns="0" tIns="0" rIns="0" bIns="0" rtlCol="0" anchor="ctr"/>
          <a:lstStyle/>
          <a:p>
            <a:pPr indent="0" marL="0">
              <a:buNone/>
            </a:pPr>
            <a:r>
              <a:rPr lang="en-US" sz="2600" b="1" dirty="0">
                <a:solidFill>
                  <a:srgbClr val="FFFFFF"/>
                </a:solidFill>
              </a:rPr>
              <a:t>Microfinance :</a:t>
            </a:r>
            <a:endParaRPr lang="en-US" sz="2600" dirty="0"/>
          </a:p>
        </p:txBody>
      </p:sp>
      <p:sp>
        <p:nvSpPr>
          <p:cNvPr id="6" name="Text 4"/>
          <p:cNvSpPr/>
          <p:nvPr/>
        </p:nvSpPr>
        <p:spPr>
          <a:xfrm>
            <a:off x="594360" y="1325880"/>
            <a:ext cx="8229600" cy="1554480"/>
          </a:xfrm>
          <a:prstGeom prst="rect">
            <a:avLst/>
          </a:prstGeom>
          <a:noFill/>
          <a:ln/>
        </p:spPr>
        <p:txBody>
          <a:bodyPr wrap="square" lIns="0" tIns="0" rIns="0" bIns="0" rtlCol="0" anchor="ctr"/>
          <a:lstStyle/>
          <a:p>
            <a:pPr indent="0" marL="0">
              <a:lnSpc>
                <a:spcPct val="125000"/>
              </a:lnSpc>
              <a:buNone/>
            </a:pPr>
            <a:r>
              <a:rPr lang="en-US" sz="3400" b="1" dirty="0">
                <a:solidFill>
                  <a:srgbClr val="FFFFFF"/>
                </a:solidFill>
              </a:rPr>
              <a:t>Identifiant Client Unique</a:t>
            </a:r>
            <a:endParaRPr lang="en-US" sz="3400" dirty="0"/>
          </a:p>
          <a:p>
            <a:pPr indent="0" marL="0">
              <a:lnSpc>
                <a:spcPct val="125000"/>
              </a:lnSpc>
              <a:buNone/>
            </a:pPr>
            <a:r>
              <a:rPr lang="en-US" sz="3400" b="1" dirty="0">
                <a:solidFill>
                  <a:srgbClr val="FFFFFF"/>
                </a:solidFill>
              </a:rPr>
              <a:t>&amp; API d'Interopérabilité</a:t>
            </a:r>
            <a:endParaRPr lang="en-US" sz="3400" dirty="0"/>
          </a:p>
        </p:txBody>
      </p:sp>
      <p:sp>
        <p:nvSpPr>
          <p:cNvPr id="7" name="Shape 5"/>
          <p:cNvSpPr/>
          <p:nvPr/>
        </p:nvSpPr>
        <p:spPr>
          <a:xfrm>
            <a:off x="594360" y="2926080"/>
            <a:ext cx="3200400" cy="59436"/>
          </a:xfrm>
          <a:prstGeom prst="rect">
            <a:avLst/>
          </a:prstGeom>
          <a:solidFill>
            <a:srgbClr val="E6A817"/>
          </a:solidFill>
          <a:ln/>
        </p:spPr>
      </p:sp>
      <p:sp>
        <p:nvSpPr>
          <p:cNvPr id="8" name="Text 6"/>
          <p:cNvSpPr/>
          <p:nvPr/>
        </p:nvSpPr>
        <p:spPr>
          <a:xfrm>
            <a:off x="594360" y="3127248"/>
            <a:ext cx="4023360" cy="347472"/>
          </a:xfrm>
          <a:prstGeom prst="rect">
            <a:avLst/>
          </a:prstGeom>
          <a:noFill/>
          <a:ln/>
        </p:spPr>
        <p:txBody>
          <a:bodyPr wrap="square" lIns="0" tIns="0" rIns="0" bIns="0" rtlCol="0" anchor="ctr"/>
          <a:lstStyle/>
          <a:p>
            <a:pPr indent="0" marL="0">
              <a:buNone/>
            </a:pPr>
            <a:r>
              <a:rPr lang="en-US" sz="1200" dirty="0">
                <a:solidFill>
                  <a:srgbClr val="FFFFFF"/>
                </a:solidFill>
              </a:rPr>
              <a:t>1. État existant</a:t>
            </a:r>
            <a:endParaRPr lang="en-US" sz="1200" dirty="0"/>
          </a:p>
        </p:txBody>
      </p:sp>
      <p:sp>
        <p:nvSpPr>
          <p:cNvPr id="9" name="Text 7"/>
          <p:cNvSpPr/>
          <p:nvPr/>
        </p:nvSpPr>
        <p:spPr>
          <a:xfrm>
            <a:off x="594360" y="3529584"/>
            <a:ext cx="4023360" cy="347472"/>
          </a:xfrm>
          <a:prstGeom prst="rect">
            <a:avLst/>
          </a:prstGeom>
          <a:noFill/>
          <a:ln/>
        </p:spPr>
        <p:txBody>
          <a:bodyPr wrap="square" lIns="0" tIns="0" rIns="0" bIns="0" rtlCol="0" anchor="ctr"/>
          <a:lstStyle/>
          <a:p>
            <a:pPr indent="0" marL="0">
              <a:buNone/>
            </a:pPr>
            <a:r>
              <a:rPr lang="en-US" sz="1200" dirty="0">
                <a:solidFill>
                  <a:srgbClr val="FFFFFF"/>
                </a:solidFill>
              </a:rPr>
              <a:t>2. Problèmes</a:t>
            </a:r>
            <a:endParaRPr lang="en-US" sz="1200" dirty="0"/>
          </a:p>
        </p:txBody>
      </p:sp>
      <p:sp>
        <p:nvSpPr>
          <p:cNvPr id="10" name="Text 8"/>
          <p:cNvSpPr/>
          <p:nvPr/>
        </p:nvSpPr>
        <p:spPr>
          <a:xfrm>
            <a:off x="594360" y="3931920"/>
            <a:ext cx="4023360" cy="347472"/>
          </a:xfrm>
          <a:prstGeom prst="rect">
            <a:avLst/>
          </a:prstGeom>
          <a:noFill/>
          <a:ln/>
        </p:spPr>
        <p:txBody>
          <a:bodyPr wrap="square" lIns="0" tIns="0" rIns="0" bIns="0" rtlCol="0" anchor="ctr"/>
          <a:lstStyle/>
          <a:p>
            <a:pPr indent="0" marL="0">
              <a:buNone/>
            </a:pPr>
            <a:r>
              <a:rPr lang="en-US" sz="1200" dirty="0">
                <a:solidFill>
                  <a:srgbClr val="FFFFFF"/>
                </a:solidFill>
              </a:rPr>
              <a:t>3. Master Data</a:t>
            </a:r>
            <a:endParaRPr lang="en-US" sz="1200" dirty="0"/>
          </a:p>
        </p:txBody>
      </p:sp>
      <p:sp>
        <p:nvSpPr>
          <p:cNvPr id="11" name="Text 9"/>
          <p:cNvSpPr/>
          <p:nvPr/>
        </p:nvSpPr>
        <p:spPr>
          <a:xfrm>
            <a:off x="594360" y="4334256"/>
            <a:ext cx="4023360" cy="347472"/>
          </a:xfrm>
          <a:prstGeom prst="rect">
            <a:avLst/>
          </a:prstGeom>
          <a:noFill/>
          <a:ln/>
        </p:spPr>
        <p:txBody>
          <a:bodyPr wrap="square" lIns="0" tIns="0" rIns="0" bIns="0" rtlCol="0" anchor="ctr"/>
          <a:lstStyle/>
          <a:p>
            <a:pPr indent="0" marL="0">
              <a:buNone/>
            </a:pPr>
            <a:r>
              <a:rPr lang="en-US" sz="1200" dirty="0">
                <a:solidFill>
                  <a:srgbClr val="FFFFFF"/>
                </a:solidFill>
              </a:rPr>
              <a:t>4. SSOT</a:t>
            </a:r>
            <a:endParaRPr lang="en-US" sz="1200" dirty="0"/>
          </a:p>
        </p:txBody>
      </p:sp>
      <p:sp>
        <p:nvSpPr>
          <p:cNvPr id="12" name="Text 10"/>
          <p:cNvSpPr/>
          <p:nvPr/>
        </p:nvSpPr>
        <p:spPr>
          <a:xfrm>
            <a:off x="4800600" y="3127248"/>
            <a:ext cx="4023360" cy="347472"/>
          </a:xfrm>
          <a:prstGeom prst="rect">
            <a:avLst/>
          </a:prstGeom>
          <a:noFill/>
          <a:ln/>
        </p:spPr>
        <p:txBody>
          <a:bodyPr wrap="square" lIns="0" tIns="0" rIns="0" bIns="0" rtlCol="0" anchor="ctr"/>
          <a:lstStyle/>
          <a:p>
            <a:pPr indent="0" marL="0">
              <a:buNone/>
            </a:pPr>
            <a:r>
              <a:rPr lang="en-US" sz="1200" dirty="0">
                <a:solidFill>
                  <a:srgbClr val="E6A817"/>
                </a:solidFill>
              </a:rPr>
              <a:t>5. Solution</a:t>
            </a:r>
            <a:endParaRPr lang="en-US" sz="1200" dirty="0"/>
          </a:p>
        </p:txBody>
      </p:sp>
      <p:sp>
        <p:nvSpPr>
          <p:cNvPr id="13" name="Text 11"/>
          <p:cNvSpPr/>
          <p:nvPr/>
        </p:nvSpPr>
        <p:spPr>
          <a:xfrm>
            <a:off x="4800600" y="3529584"/>
            <a:ext cx="4023360" cy="347472"/>
          </a:xfrm>
          <a:prstGeom prst="rect">
            <a:avLst/>
          </a:prstGeom>
          <a:noFill/>
          <a:ln/>
        </p:spPr>
        <p:txBody>
          <a:bodyPr wrap="square" lIns="0" tIns="0" rIns="0" bIns="0" rtlCol="0" anchor="ctr"/>
          <a:lstStyle/>
          <a:p>
            <a:pPr indent="0" marL="0">
              <a:buNone/>
            </a:pPr>
            <a:r>
              <a:rPr lang="en-US" sz="1200" dirty="0">
                <a:solidFill>
                  <a:srgbClr val="E6A817"/>
                </a:solidFill>
              </a:rPr>
              <a:t>6. API</a:t>
            </a:r>
            <a:endParaRPr lang="en-US" sz="1200" dirty="0"/>
          </a:p>
        </p:txBody>
      </p:sp>
      <p:sp>
        <p:nvSpPr>
          <p:cNvPr id="14" name="Text 12"/>
          <p:cNvSpPr/>
          <p:nvPr/>
        </p:nvSpPr>
        <p:spPr>
          <a:xfrm>
            <a:off x="4800600" y="3931920"/>
            <a:ext cx="4023360" cy="347472"/>
          </a:xfrm>
          <a:prstGeom prst="rect">
            <a:avLst/>
          </a:prstGeom>
          <a:noFill/>
          <a:ln/>
        </p:spPr>
        <p:txBody>
          <a:bodyPr wrap="square" lIns="0" tIns="0" rIns="0" bIns="0" rtlCol="0" anchor="ctr"/>
          <a:lstStyle/>
          <a:p>
            <a:pPr indent="0" marL="0">
              <a:buNone/>
            </a:pPr>
            <a:r>
              <a:rPr lang="en-US" sz="1200" dirty="0">
                <a:solidFill>
                  <a:srgbClr val="E6A817"/>
                </a:solidFill>
              </a:rPr>
              <a:t>7. Bénéfices</a:t>
            </a:r>
            <a:endParaRPr lang="en-US" sz="1200" dirty="0"/>
          </a:p>
        </p:txBody>
      </p:sp>
      <p:sp>
        <p:nvSpPr>
          <p:cNvPr id="15" name="Shape 13"/>
          <p:cNvSpPr/>
          <p:nvPr/>
        </p:nvSpPr>
        <p:spPr>
          <a:xfrm>
            <a:off x="0" y="4773168"/>
            <a:ext cx="9144000" cy="370332"/>
          </a:xfrm>
          <a:prstGeom prst="rect">
            <a:avLst/>
          </a:prstGeom>
          <a:solidFill>
            <a:srgbClr val="1565C0"/>
          </a:solidFill>
          <a:ln/>
        </p:spPr>
      </p:sp>
      <p:sp>
        <p:nvSpPr>
          <p:cNvPr id="16" name="Text 14"/>
          <p:cNvSpPr/>
          <p:nvPr/>
        </p:nvSpPr>
        <p:spPr>
          <a:xfrm>
            <a:off x="0" y="4773168"/>
            <a:ext cx="9144000" cy="370332"/>
          </a:xfrm>
          <a:prstGeom prst="rect">
            <a:avLst/>
          </a:prstGeom>
          <a:noFill/>
          <a:ln/>
        </p:spPr>
        <p:txBody>
          <a:bodyPr wrap="square" lIns="0" tIns="0" rIns="0" bIns="0" rtlCol="0" anchor="ctr"/>
          <a:lstStyle/>
          <a:p>
            <a:pPr algn="ctr" indent="0" marL="0">
              <a:buNone/>
            </a:pPr>
            <a:r>
              <a:rPr lang="en-US" sz="1000" i="1" dirty="0">
                <a:solidFill>
                  <a:srgbClr val="E6A817"/>
                </a:solidFill>
              </a:rPr>
              <a:t>Traitement complet de l'exercice — 7 parties développées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E6A817"/>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Plan du Traitement — 7 Parties</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804672"/>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804672"/>
            <a:ext cx="4251960" cy="59436"/>
          </a:xfrm>
          <a:prstGeom prst="rect">
            <a:avLst/>
          </a:prstGeom>
          <a:solidFill>
            <a:srgbClr val="1565C0"/>
          </a:solidFill>
          <a:ln/>
        </p:spPr>
      </p:sp>
      <p:sp>
        <p:nvSpPr>
          <p:cNvPr id="10" name="Shape 8"/>
          <p:cNvSpPr/>
          <p:nvPr/>
        </p:nvSpPr>
        <p:spPr>
          <a:xfrm>
            <a:off x="320040" y="804672"/>
            <a:ext cx="475488" cy="841248"/>
          </a:xfrm>
          <a:prstGeom prst="rect">
            <a:avLst/>
          </a:prstGeom>
          <a:solidFill>
            <a:srgbClr val="1565C0"/>
          </a:solidFill>
          <a:ln/>
        </p:spPr>
      </p:sp>
      <p:sp>
        <p:nvSpPr>
          <p:cNvPr id="11" name="Text 9"/>
          <p:cNvSpPr/>
          <p:nvPr/>
        </p:nvSpPr>
        <p:spPr>
          <a:xfrm>
            <a:off x="320040" y="804672"/>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1️⃣</a:t>
            </a:r>
            <a:endParaRPr lang="en-US" sz="1800" dirty="0"/>
          </a:p>
        </p:txBody>
      </p:sp>
      <p:sp>
        <p:nvSpPr>
          <p:cNvPr id="12" name="Text 10"/>
          <p:cNvSpPr/>
          <p:nvPr/>
        </p:nvSpPr>
        <p:spPr>
          <a:xfrm>
            <a:off x="886968" y="868680"/>
            <a:ext cx="3566160" cy="329184"/>
          </a:xfrm>
          <a:prstGeom prst="rect">
            <a:avLst/>
          </a:prstGeom>
          <a:noFill/>
          <a:ln/>
        </p:spPr>
        <p:txBody>
          <a:bodyPr wrap="square" lIns="0" tIns="0" rIns="0" bIns="0" rtlCol="0" anchor="ctr"/>
          <a:lstStyle/>
          <a:p>
            <a:pPr indent="0" marL="0">
              <a:buNone/>
            </a:pPr>
            <a:r>
              <a:rPr lang="en-US" sz="1300" b="1" dirty="0">
                <a:solidFill>
                  <a:srgbClr val="1565C0"/>
                </a:solidFill>
              </a:rPr>
              <a:t>État existant</a:t>
            </a:r>
            <a:endParaRPr lang="en-US" sz="1300" dirty="0"/>
          </a:p>
        </p:txBody>
      </p:sp>
      <p:sp>
        <p:nvSpPr>
          <p:cNvPr id="13" name="Text 11"/>
          <p:cNvSpPr/>
          <p:nvPr/>
        </p:nvSpPr>
        <p:spPr>
          <a:xfrm>
            <a:off x="886968" y="1234440"/>
            <a:ext cx="3566160" cy="365760"/>
          </a:xfrm>
          <a:prstGeom prst="rect">
            <a:avLst/>
          </a:prstGeom>
          <a:noFill/>
          <a:ln/>
        </p:spPr>
        <p:txBody>
          <a:bodyPr wrap="square" lIns="0" tIns="0" rIns="0" bIns="0" rtlCol="0" anchor="ctr"/>
          <a:lstStyle/>
          <a:p>
            <a:pPr indent="0" marL="0">
              <a:buNone/>
            </a:pPr>
            <a:r>
              <a:rPr lang="en-US" sz="1100" dirty="0">
                <a:solidFill>
                  <a:srgbClr val="546E7A"/>
                </a:solidFill>
              </a:rPr>
              <a:t>Systèmes, identifiants, silos</a:t>
            </a:r>
            <a:endParaRPr lang="en-US" sz="1100" dirty="0"/>
          </a:p>
        </p:txBody>
      </p:sp>
      <p:sp>
        <p:nvSpPr>
          <p:cNvPr id="14" name="Shape 12"/>
          <p:cNvSpPr/>
          <p:nvPr/>
        </p:nvSpPr>
        <p:spPr>
          <a:xfrm>
            <a:off x="320040" y="1773936"/>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320040" y="1773936"/>
            <a:ext cx="4251960" cy="59436"/>
          </a:xfrm>
          <a:prstGeom prst="rect">
            <a:avLst/>
          </a:prstGeom>
          <a:solidFill>
            <a:srgbClr val="C62828"/>
          </a:solidFill>
          <a:ln/>
        </p:spPr>
      </p:sp>
      <p:sp>
        <p:nvSpPr>
          <p:cNvPr id="16" name="Shape 14"/>
          <p:cNvSpPr/>
          <p:nvPr/>
        </p:nvSpPr>
        <p:spPr>
          <a:xfrm>
            <a:off x="320040" y="1773936"/>
            <a:ext cx="475488" cy="841248"/>
          </a:xfrm>
          <a:prstGeom prst="rect">
            <a:avLst/>
          </a:prstGeom>
          <a:solidFill>
            <a:srgbClr val="C62828"/>
          </a:solidFill>
          <a:ln/>
        </p:spPr>
      </p:sp>
      <p:sp>
        <p:nvSpPr>
          <p:cNvPr id="17" name="Text 15"/>
          <p:cNvSpPr/>
          <p:nvPr/>
        </p:nvSpPr>
        <p:spPr>
          <a:xfrm>
            <a:off x="320040" y="1773936"/>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2️⃣</a:t>
            </a:r>
            <a:endParaRPr lang="en-US" sz="1800" dirty="0"/>
          </a:p>
        </p:txBody>
      </p:sp>
      <p:sp>
        <p:nvSpPr>
          <p:cNvPr id="18" name="Text 16"/>
          <p:cNvSpPr/>
          <p:nvPr/>
        </p:nvSpPr>
        <p:spPr>
          <a:xfrm>
            <a:off x="886968" y="1837944"/>
            <a:ext cx="3566160" cy="329184"/>
          </a:xfrm>
          <a:prstGeom prst="rect">
            <a:avLst/>
          </a:prstGeom>
          <a:noFill/>
          <a:ln/>
        </p:spPr>
        <p:txBody>
          <a:bodyPr wrap="square" lIns="0" tIns="0" rIns="0" bIns="0" rtlCol="0" anchor="ctr"/>
          <a:lstStyle/>
          <a:p>
            <a:pPr indent="0" marL="0">
              <a:buNone/>
            </a:pPr>
            <a:r>
              <a:rPr lang="en-US" sz="1300" b="1" dirty="0">
                <a:solidFill>
                  <a:srgbClr val="C62828"/>
                </a:solidFill>
              </a:rPr>
              <a:t>Problèmes identifiés</a:t>
            </a:r>
            <a:endParaRPr lang="en-US" sz="1300" dirty="0"/>
          </a:p>
        </p:txBody>
      </p:sp>
      <p:sp>
        <p:nvSpPr>
          <p:cNvPr id="19" name="Text 17"/>
          <p:cNvSpPr/>
          <p:nvPr/>
        </p:nvSpPr>
        <p:spPr>
          <a:xfrm>
            <a:off x="886968" y="2203704"/>
            <a:ext cx="3566160" cy="365760"/>
          </a:xfrm>
          <a:prstGeom prst="rect">
            <a:avLst/>
          </a:prstGeom>
          <a:noFill/>
          <a:ln/>
        </p:spPr>
        <p:txBody>
          <a:bodyPr wrap="square" lIns="0" tIns="0" rIns="0" bIns="0" rtlCol="0" anchor="ctr"/>
          <a:lstStyle/>
          <a:p>
            <a:pPr indent="0" marL="0">
              <a:buNone/>
            </a:pPr>
            <a:r>
              <a:rPr lang="en-US" sz="1100" dirty="0">
                <a:solidFill>
                  <a:srgbClr val="546E7A"/>
                </a:solidFill>
              </a:rPr>
              <a:t>5 problèmes concrets liés à l'absence d'ID unique</a:t>
            </a:r>
            <a:endParaRPr lang="en-US" sz="1100" dirty="0"/>
          </a:p>
        </p:txBody>
      </p:sp>
      <p:sp>
        <p:nvSpPr>
          <p:cNvPr id="20" name="Shape 18"/>
          <p:cNvSpPr/>
          <p:nvPr/>
        </p:nvSpPr>
        <p:spPr>
          <a:xfrm>
            <a:off x="320040" y="2743200"/>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320040" y="2743200"/>
            <a:ext cx="4251960" cy="59436"/>
          </a:xfrm>
          <a:prstGeom prst="rect">
            <a:avLst/>
          </a:prstGeom>
          <a:solidFill>
            <a:srgbClr val="00796B"/>
          </a:solidFill>
          <a:ln/>
        </p:spPr>
      </p:sp>
      <p:sp>
        <p:nvSpPr>
          <p:cNvPr id="22" name="Shape 20"/>
          <p:cNvSpPr/>
          <p:nvPr/>
        </p:nvSpPr>
        <p:spPr>
          <a:xfrm>
            <a:off x="320040" y="2743200"/>
            <a:ext cx="475488" cy="841248"/>
          </a:xfrm>
          <a:prstGeom prst="rect">
            <a:avLst/>
          </a:prstGeom>
          <a:solidFill>
            <a:srgbClr val="00796B"/>
          </a:solidFill>
          <a:ln/>
        </p:spPr>
      </p:sp>
      <p:sp>
        <p:nvSpPr>
          <p:cNvPr id="23" name="Text 21"/>
          <p:cNvSpPr/>
          <p:nvPr/>
        </p:nvSpPr>
        <p:spPr>
          <a:xfrm>
            <a:off x="320040" y="2743200"/>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3️⃣</a:t>
            </a:r>
            <a:endParaRPr lang="en-US" sz="1800" dirty="0"/>
          </a:p>
        </p:txBody>
      </p:sp>
      <p:sp>
        <p:nvSpPr>
          <p:cNvPr id="24" name="Text 22"/>
          <p:cNvSpPr/>
          <p:nvPr/>
        </p:nvSpPr>
        <p:spPr>
          <a:xfrm>
            <a:off x="886968" y="2807208"/>
            <a:ext cx="3566160" cy="329184"/>
          </a:xfrm>
          <a:prstGeom prst="rect">
            <a:avLst/>
          </a:prstGeom>
          <a:noFill/>
          <a:ln/>
        </p:spPr>
        <p:txBody>
          <a:bodyPr wrap="square" lIns="0" tIns="0" rIns="0" bIns="0" rtlCol="0" anchor="ctr"/>
          <a:lstStyle/>
          <a:p>
            <a:pPr indent="0" marL="0">
              <a:buNone/>
            </a:pPr>
            <a:r>
              <a:rPr lang="en-US" sz="1300" b="1" dirty="0">
                <a:solidFill>
                  <a:srgbClr val="00796B"/>
                </a:solidFill>
              </a:rPr>
              <a:t>Master Data</a:t>
            </a:r>
            <a:endParaRPr lang="en-US" sz="1300" dirty="0"/>
          </a:p>
        </p:txBody>
      </p:sp>
      <p:sp>
        <p:nvSpPr>
          <p:cNvPr id="25" name="Text 23"/>
          <p:cNvSpPr/>
          <p:nvPr/>
        </p:nvSpPr>
        <p:spPr>
          <a:xfrm>
            <a:off x="886968" y="3172968"/>
            <a:ext cx="3566160" cy="365760"/>
          </a:xfrm>
          <a:prstGeom prst="rect">
            <a:avLst/>
          </a:prstGeom>
          <a:noFill/>
          <a:ln/>
        </p:spPr>
        <p:txBody>
          <a:bodyPr wrap="square" lIns="0" tIns="0" rIns="0" bIns="0" rtlCol="0" anchor="ctr"/>
          <a:lstStyle/>
          <a:p>
            <a:pPr indent="0" marL="0">
              <a:buNone/>
            </a:pPr>
            <a:r>
              <a:rPr lang="en-US" sz="1100" dirty="0">
                <a:solidFill>
                  <a:srgbClr val="546E7A"/>
                </a:solidFill>
              </a:rPr>
              <a:t>Données de référence clés à partager</a:t>
            </a:r>
            <a:endParaRPr lang="en-US" sz="1100" dirty="0"/>
          </a:p>
        </p:txBody>
      </p:sp>
      <p:sp>
        <p:nvSpPr>
          <p:cNvPr id="26" name="Shape 24"/>
          <p:cNvSpPr/>
          <p:nvPr/>
        </p:nvSpPr>
        <p:spPr>
          <a:xfrm>
            <a:off x="320040" y="3712464"/>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7" name="Shape 25"/>
          <p:cNvSpPr/>
          <p:nvPr/>
        </p:nvSpPr>
        <p:spPr>
          <a:xfrm>
            <a:off x="320040" y="3712464"/>
            <a:ext cx="4251960" cy="59436"/>
          </a:xfrm>
          <a:prstGeom prst="rect">
            <a:avLst/>
          </a:prstGeom>
          <a:solidFill>
            <a:srgbClr val="4527A0"/>
          </a:solidFill>
          <a:ln/>
        </p:spPr>
      </p:sp>
      <p:sp>
        <p:nvSpPr>
          <p:cNvPr id="28" name="Shape 26"/>
          <p:cNvSpPr/>
          <p:nvPr/>
        </p:nvSpPr>
        <p:spPr>
          <a:xfrm>
            <a:off x="320040" y="3712464"/>
            <a:ext cx="475488" cy="841248"/>
          </a:xfrm>
          <a:prstGeom prst="rect">
            <a:avLst/>
          </a:prstGeom>
          <a:solidFill>
            <a:srgbClr val="4527A0"/>
          </a:solidFill>
          <a:ln/>
        </p:spPr>
      </p:sp>
      <p:sp>
        <p:nvSpPr>
          <p:cNvPr id="29" name="Text 27"/>
          <p:cNvSpPr/>
          <p:nvPr/>
        </p:nvSpPr>
        <p:spPr>
          <a:xfrm>
            <a:off x="320040" y="3712464"/>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4️⃣</a:t>
            </a:r>
            <a:endParaRPr lang="en-US" sz="1800" dirty="0"/>
          </a:p>
        </p:txBody>
      </p:sp>
      <p:sp>
        <p:nvSpPr>
          <p:cNvPr id="30" name="Text 28"/>
          <p:cNvSpPr/>
          <p:nvPr/>
        </p:nvSpPr>
        <p:spPr>
          <a:xfrm>
            <a:off x="886968" y="3776472"/>
            <a:ext cx="3566160" cy="329184"/>
          </a:xfrm>
          <a:prstGeom prst="rect">
            <a:avLst/>
          </a:prstGeom>
          <a:noFill/>
          <a:ln/>
        </p:spPr>
        <p:txBody>
          <a:bodyPr wrap="square" lIns="0" tIns="0" rIns="0" bIns="0" rtlCol="0" anchor="ctr"/>
          <a:lstStyle/>
          <a:p>
            <a:pPr indent="0" marL="0">
              <a:buNone/>
            </a:pPr>
            <a:r>
              <a:rPr lang="en-US" sz="1300" b="1" dirty="0">
                <a:solidFill>
                  <a:srgbClr val="4527A0"/>
                </a:solidFill>
              </a:rPr>
              <a:t>Single Source of Truth</a:t>
            </a:r>
            <a:endParaRPr lang="en-US" sz="1300" dirty="0"/>
          </a:p>
        </p:txBody>
      </p:sp>
      <p:sp>
        <p:nvSpPr>
          <p:cNvPr id="31" name="Text 29"/>
          <p:cNvSpPr/>
          <p:nvPr/>
        </p:nvSpPr>
        <p:spPr>
          <a:xfrm>
            <a:off x="886968" y="4142232"/>
            <a:ext cx="3566160" cy="365760"/>
          </a:xfrm>
          <a:prstGeom prst="rect">
            <a:avLst/>
          </a:prstGeom>
          <a:noFill/>
          <a:ln/>
        </p:spPr>
        <p:txBody>
          <a:bodyPr wrap="square" lIns="0" tIns="0" rIns="0" bIns="0" rtlCol="0" anchor="ctr"/>
          <a:lstStyle/>
          <a:p>
            <a:pPr indent="0" marL="0">
              <a:buNone/>
            </a:pPr>
            <a:r>
              <a:rPr lang="en-US" sz="1100" dirty="0">
                <a:solidFill>
                  <a:srgbClr val="546E7A"/>
                </a:solidFill>
              </a:rPr>
              <a:t>Où naît l'identité client officielle</a:t>
            </a:r>
            <a:endParaRPr lang="en-US" sz="1100" dirty="0"/>
          </a:p>
        </p:txBody>
      </p:sp>
      <p:sp>
        <p:nvSpPr>
          <p:cNvPr id="32" name="Shape 30"/>
          <p:cNvSpPr/>
          <p:nvPr/>
        </p:nvSpPr>
        <p:spPr>
          <a:xfrm>
            <a:off x="4800600" y="804672"/>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3" name="Shape 31"/>
          <p:cNvSpPr/>
          <p:nvPr/>
        </p:nvSpPr>
        <p:spPr>
          <a:xfrm>
            <a:off x="4800600" y="804672"/>
            <a:ext cx="4251960" cy="59436"/>
          </a:xfrm>
          <a:prstGeom prst="rect">
            <a:avLst/>
          </a:prstGeom>
          <a:solidFill>
            <a:srgbClr val="E65100"/>
          </a:solidFill>
          <a:ln/>
        </p:spPr>
      </p:sp>
      <p:sp>
        <p:nvSpPr>
          <p:cNvPr id="34" name="Shape 32"/>
          <p:cNvSpPr/>
          <p:nvPr/>
        </p:nvSpPr>
        <p:spPr>
          <a:xfrm>
            <a:off x="4800600" y="804672"/>
            <a:ext cx="475488" cy="841248"/>
          </a:xfrm>
          <a:prstGeom prst="rect">
            <a:avLst/>
          </a:prstGeom>
          <a:solidFill>
            <a:srgbClr val="E65100"/>
          </a:solidFill>
          <a:ln/>
        </p:spPr>
      </p:sp>
      <p:sp>
        <p:nvSpPr>
          <p:cNvPr id="35" name="Text 33"/>
          <p:cNvSpPr/>
          <p:nvPr/>
        </p:nvSpPr>
        <p:spPr>
          <a:xfrm>
            <a:off x="4800600" y="804672"/>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5️⃣</a:t>
            </a:r>
            <a:endParaRPr lang="en-US" sz="1800" dirty="0"/>
          </a:p>
        </p:txBody>
      </p:sp>
      <p:sp>
        <p:nvSpPr>
          <p:cNvPr id="36" name="Text 34"/>
          <p:cNvSpPr/>
          <p:nvPr/>
        </p:nvSpPr>
        <p:spPr>
          <a:xfrm>
            <a:off x="5367528" y="868680"/>
            <a:ext cx="3566160" cy="329184"/>
          </a:xfrm>
          <a:prstGeom prst="rect">
            <a:avLst/>
          </a:prstGeom>
          <a:noFill/>
          <a:ln/>
        </p:spPr>
        <p:txBody>
          <a:bodyPr wrap="square" lIns="0" tIns="0" rIns="0" bIns="0" rtlCol="0" anchor="ctr"/>
          <a:lstStyle/>
          <a:p>
            <a:pPr indent="0" marL="0">
              <a:buNone/>
            </a:pPr>
            <a:r>
              <a:rPr lang="en-US" sz="1300" b="1" dirty="0">
                <a:solidFill>
                  <a:srgbClr val="E65100"/>
                </a:solidFill>
              </a:rPr>
              <a:t>Solution d'harmonisation</a:t>
            </a:r>
            <a:endParaRPr lang="en-US" sz="1300" dirty="0"/>
          </a:p>
        </p:txBody>
      </p:sp>
      <p:sp>
        <p:nvSpPr>
          <p:cNvPr id="37" name="Text 35"/>
          <p:cNvSpPr/>
          <p:nvPr/>
        </p:nvSpPr>
        <p:spPr>
          <a:xfrm>
            <a:off x="5367528" y="1234440"/>
            <a:ext cx="3566160" cy="365760"/>
          </a:xfrm>
          <a:prstGeom prst="rect">
            <a:avLst/>
          </a:prstGeom>
          <a:noFill/>
          <a:ln/>
        </p:spPr>
        <p:txBody>
          <a:bodyPr wrap="square" lIns="0" tIns="0" rIns="0" bIns="0" rtlCol="0" anchor="ctr"/>
          <a:lstStyle/>
          <a:p>
            <a:pPr indent="0" marL="0">
              <a:buNone/>
            </a:pPr>
            <a:r>
              <a:rPr lang="en-US" sz="1100" dirty="0">
                <a:solidFill>
                  <a:srgbClr val="546E7A"/>
                </a:solidFill>
              </a:rPr>
              <a:t>ID unique + API + règles de gestion</a:t>
            </a:r>
            <a:endParaRPr lang="en-US" sz="1100" dirty="0"/>
          </a:p>
        </p:txBody>
      </p:sp>
      <p:sp>
        <p:nvSpPr>
          <p:cNvPr id="38" name="Shape 36"/>
          <p:cNvSpPr/>
          <p:nvPr/>
        </p:nvSpPr>
        <p:spPr>
          <a:xfrm>
            <a:off x="4800600" y="1773936"/>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9" name="Shape 37"/>
          <p:cNvSpPr/>
          <p:nvPr/>
        </p:nvSpPr>
        <p:spPr>
          <a:xfrm>
            <a:off x="4800600" y="1773936"/>
            <a:ext cx="4251960" cy="59436"/>
          </a:xfrm>
          <a:prstGeom prst="rect">
            <a:avLst/>
          </a:prstGeom>
          <a:solidFill>
            <a:srgbClr val="E6A817"/>
          </a:solidFill>
          <a:ln/>
        </p:spPr>
      </p:sp>
      <p:sp>
        <p:nvSpPr>
          <p:cNvPr id="40" name="Shape 38"/>
          <p:cNvSpPr/>
          <p:nvPr/>
        </p:nvSpPr>
        <p:spPr>
          <a:xfrm>
            <a:off x="4800600" y="1773936"/>
            <a:ext cx="475488" cy="841248"/>
          </a:xfrm>
          <a:prstGeom prst="rect">
            <a:avLst/>
          </a:prstGeom>
          <a:solidFill>
            <a:srgbClr val="E6A817"/>
          </a:solidFill>
          <a:ln/>
        </p:spPr>
      </p:sp>
      <p:sp>
        <p:nvSpPr>
          <p:cNvPr id="41" name="Text 39"/>
          <p:cNvSpPr/>
          <p:nvPr/>
        </p:nvSpPr>
        <p:spPr>
          <a:xfrm>
            <a:off x="4800600" y="1773936"/>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6️⃣</a:t>
            </a:r>
            <a:endParaRPr lang="en-US" sz="1800" dirty="0"/>
          </a:p>
        </p:txBody>
      </p:sp>
      <p:sp>
        <p:nvSpPr>
          <p:cNvPr id="42" name="Text 40"/>
          <p:cNvSpPr/>
          <p:nvPr/>
        </p:nvSpPr>
        <p:spPr>
          <a:xfrm>
            <a:off x="5367528" y="1837944"/>
            <a:ext cx="3566160" cy="329184"/>
          </a:xfrm>
          <a:prstGeom prst="rect">
            <a:avLst/>
          </a:prstGeom>
          <a:noFill/>
          <a:ln/>
        </p:spPr>
        <p:txBody>
          <a:bodyPr wrap="square" lIns="0" tIns="0" rIns="0" bIns="0" rtlCol="0" anchor="ctr"/>
          <a:lstStyle/>
          <a:p>
            <a:pPr indent="0" marL="0">
              <a:buNone/>
            </a:pPr>
            <a:r>
              <a:rPr lang="en-US" sz="1300" b="1" dirty="0">
                <a:solidFill>
                  <a:srgbClr val="E6A817"/>
                </a:solidFill>
              </a:rPr>
              <a:t>Rôle de l'API</a:t>
            </a:r>
            <a:endParaRPr lang="en-US" sz="1300" dirty="0"/>
          </a:p>
        </p:txBody>
      </p:sp>
      <p:sp>
        <p:nvSpPr>
          <p:cNvPr id="43" name="Text 41"/>
          <p:cNvSpPr/>
          <p:nvPr/>
        </p:nvSpPr>
        <p:spPr>
          <a:xfrm>
            <a:off x="5367528" y="2203704"/>
            <a:ext cx="3566160" cy="365760"/>
          </a:xfrm>
          <a:prstGeom prst="rect">
            <a:avLst/>
          </a:prstGeom>
          <a:noFill/>
          <a:ln/>
        </p:spPr>
        <p:txBody>
          <a:bodyPr wrap="square" lIns="0" tIns="0" rIns="0" bIns="0" rtlCol="0" anchor="ctr"/>
          <a:lstStyle/>
          <a:p>
            <a:pPr indent="0" marL="0">
              <a:buNone/>
            </a:pPr>
            <a:r>
              <a:rPr lang="en-US" sz="1100" dirty="0">
                <a:solidFill>
                  <a:srgbClr val="546E7A"/>
                </a:solidFill>
              </a:rPr>
              <a:t>Ce qu'elle connecte et ce qu'elle évite</a:t>
            </a:r>
            <a:endParaRPr lang="en-US" sz="1100" dirty="0"/>
          </a:p>
        </p:txBody>
      </p:sp>
      <p:sp>
        <p:nvSpPr>
          <p:cNvPr id="44" name="Shape 42"/>
          <p:cNvSpPr/>
          <p:nvPr/>
        </p:nvSpPr>
        <p:spPr>
          <a:xfrm>
            <a:off x="4800600" y="2743200"/>
            <a:ext cx="4251960" cy="841248"/>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5" name="Shape 43"/>
          <p:cNvSpPr/>
          <p:nvPr/>
        </p:nvSpPr>
        <p:spPr>
          <a:xfrm>
            <a:off x="4800600" y="2743200"/>
            <a:ext cx="4251960" cy="59436"/>
          </a:xfrm>
          <a:prstGeom prst="rect">
            <a:avLst/>
          </a:prstGeom>
          <a:solidFill>
            <a:srgbClr val="2E7D32"/>
          </a:solidFill>
          <a:ln/>
        </p:spPr>
      </p:sp>
      <p:sp>
        <p:nvSpPr>
          <p:cNvPr id="46" name="Shape 44"/>
          <p:cNvSpPr/>
          <p:nvPr/>
        </p:nvSpPr>
        <p:spPr>
          <a:xfrm>
            <a:off x="4800600" y="2743200"/>
            <a:ext cx="475488" cy="841248"/>
          </a:xfrm>
          <a:prstGeom prst="rect">
            <a:avLst/>
          </a:prstGeom>
          <a:solidFill>
            <a:srgbClr val="2E7D32"/>
          </a:solidFill>
          <a:ln/>
        </p:spPr>
      </p:sp>
      <p:sp>
        <p:nvSpPr>
          <p:cNvPr id="47" name="Text 45"/>
          <p:cNvSpPr/>
          <p:nvPr/>
        </p:nvSpPr>
        <p:spPr>
          <a:xfrm>
            <a:off x="4800600" y="2743200"/>
            <a:ext cx="475488" cy="841248"/>
          </a:xfrm>
          <a:prstGeom prst="rect">
            <a:avLst/>
          </a:prstGeom>
          <a:noFill/>
          <a:ln/>
        </p:spPr>
        <p:txBody>
          <a:bodyPr wrap="square" lIns="0" tIns="0" rIns="0" bIns="0" rtlCol="0" anchor="ctr"/>
          <a:lstStyle/>
          <a:p>
            <a:pPr algn="ctr" indent="0" marL="0">
              <a:buNone/>
            </a:pPr>
            <a:r>
              <a:rPr lang="en-US" sz="1800" dirty="0">
                <a:solidFill>
                  <a:srgbClr val="000000"/>
                </a:solidFill>
              </a:rPr>
              <a:t>7️⃣</a:t>
            </a:r>
            <a:endParaRPr lang="en-US" sz="1800" dirty="0"/>
          </a:p>
        </p:txBody>
      </p:sp>
      <p:sp>
        <p:nvSpPr>
          <p:cNvPr id="48" name="Text 46"/>
          <p:cNvSpPr/>
          <p:nvPr/>
        </p:nvSpPr>
        <p:spPr>
          <a:xfrm>
            <a:off x="5367528" y="2807208"/>
            <a:ext cx="3566160" cy="329184"/>
          </a:xfrm>
          <a:prstGeom prst="rect">
            <a:avLst/>
          </a:prstGeom>
          <a:noFill/>
          <a:ln/>
        </p:spPr>
        <p:txBody>
          <a:bodyPr wrap="square" lIns="0" tIns="0" rIns="0" bIns="0" rtlCol="0" anchor="ctr"/>
          <a:lstStyle/>
          <a:p>
            <a:pPr indent="0" marL="0">
              <a:buNone/>
            </a:pPr>
            <a:r>
              <a:rPr lang="en-US" sz="1300" b="1" dirty="0">
                <a:solidFill>
                  <a:srgbClr val="2E7D32"/>
                </a:solidFill>
              </a:rPr>
              <a:t>Bénéfices</a:t>
            </a:r>
            <a:endParaRPr lang="en-US" sz="1300" dirty="0"/>
          </a:p>
        </p:txBody>
      </p:sp>
      <p:sp>
        <p:nvSpPr>
          <p:cNvPr id="49" name="Text 47"/>
          <p:cNvSpPr/>
          <p:nvPr/>
        </p:nvSpPr>
        <p:spPr>
          <a:xfrm>
            <a:off x="5367528" y="3172968"/>
            <a:ext cx="3566160" cy="365760"/>
          </a:xfrm>
          <a:prstGeom prst="rect">
            <a:avLst/>
          </a:prstGeom>
          <a:noFill/>
          <a:ln/>
        </p:spPr>
        <p:txBody>
          <a:bodyPr wrap="square" lIns="0" tIns="0" rIns="0" bIns="0" rtlCol="0" anchor="ctr"/>
          <a:lstStyle/>
          <a:p>
            <a:pPr indent="0" marL="0">
              <a:buNone/>
            </a:pPr>
            <a:r>
              <a:rPr lang="en-US" sz="1100" dirty="0">
                <a:solidFill>
                  <a:srgbClr val="546E7A"/>
                </a:solidFill>
              </a:rPr>
              <a:t>5 bénéfices concrets pour l'institution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2979D4"/>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2979D4"/>
                </a:solidFill>
              </a:rPr>
              <a:t>Partie 1</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État Existant</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2979D4"/>
                </a:solidFill>
              </a:rPr>
              <a:t>Systèmes · Identifiants · Communication</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1565C0"/>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1️⃣</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Les 4 Systèmes de l'Institution</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804672"/>
            <a:ext cx="2011680" cy="3840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804672"/>
            <a:ext cx="2011680" cy="59436"/>
          </a:xfrm>
          <a:prstGeom prst="rect">
            <a:avLst/>
          </a:prstGeom>
          <a:solidFill>
            <a:srgbClr val="1565C0"/>
          </a:solidFill>
          <a:ln/>
        </p:spPr>
      </p:sp>
      <p:sp>
        <p:nvSpPr>
          <p:cNvPr id="10" name="Shape 8"/>
          <p:cNvSpPr/>
          <p:nvPr/>
        </p:nvSpPr>
        <p:spPr>
          <a:xfrm>
            <a:off x="320040" y="804672"/>
            <a:ext cx="2011680" cy="822960"/>
          </a:xfrm>
          <a:prstGeom prst="rect">
            <a:avLst/>
          </a:prstGeom>
          <a:solidFill>
            <a:srgbClr val="1565C0"/>
          </a:solidFill>
          <a:ln/>
        </p:spPr>
      </p:sp>
      <p:sp>
        <p:nvSpPr>
          <p:cNvPr id="11" name="Text 9"/>
          <p:cNvSpPr/>
          <p:nvPr/>
        </p:nvSpPr>
        <p:spPr>
          <a:xfrm>
            <a:off x="320040" y="804672"/>
            <a:ext cx="201168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320040" y="1261872"/>
            <a:ext cx="2011680" cy="347472"/>
          </a:xfrm>
          <a:prstGeom prst="rect">
            <a:avLst/>
          </a:prstGeom>
          <a:noFill/>
          <a:ln/>
        </p:spPr>
        <p:txBody>
          <a:bodyPr wrap="square" lIns="0" tIns="0" rIns="0" bIns="0" rtlCol="0" anchor="ctr"/>
          <a:lstStyle/>
          <a:p>
            <a:pPr algn="ctr" indent="0" marL="0">
              <a:buNone/>
            </a:pPr>
            <a:r>
              <a:rPr lang="en-US" sz="1100" b="1" dirty="0">
                <a:solidFill>
                  <a:srgbClr val="FFFFFF"/>
                </a:solidFill>
              </a:rPr>
              <a:t>Système 1</a:t>
            </a:r>
            <a:endParaRPr lang="en-US" sz="1100" dirty="0"/>
          </a:p>
        </p:txBody>
      </p:sp>
      <p:sp>
        <p:nvSpPr>
          <p:cNvPr id="13" name="Text 11"/>
          <p:cNvSpPr/>
          <p:nvPr/>
        </p:nvSpPr>
        <p:spPr>
          <a:xfrm>
            <a:off x="411480" y="1719072"/>
            <a:ext cx="1828800" cy="640080"/>
          </a:xfrm>
          <a:prstGeom prst="rect">
            <a:avLst/>
          </a:prstGeom>
          <a:noFill/>
          <a:ln/>
        </p:spPr>
        <p:txBody>
          <a:bodyPr wrap="square" lIns="0" tIns="0" rIns="0" bIns="0" rtlCol="0" anchor="ctr"/>
          <a:lstStyle/>
          <a:p>
            <a:pPr algn="ctr" indent="0" marL="0">
              <a:buNone/>
            </a:pPr>
            <a:r>
              <a:rPr lang="en-US" sz="1300" b="1" dirty="0">
                <a:solidFill>
                  <a:srgbClr val="1565C0"/>
                </a:solidFill>
              </a:rPr>
              <a:t>Ouverture</a:t>
            </a:r>
            <a:endParaRPr lang="en-US" sz="1300" dirty="0"/>
          </a:p>
          <a:p>
            <a:pPr algn="ctr" indent="0" marL="0">
              <a:buNone/>
            </a:pPr>
            <a:r>
              <a:rPr lang="en-US" sz="1300" b="1" dirty="0">
                <a:solidFill>
                  <a:srgbClr val="1565C0"/>
                </a:solidFill>
              </a:rPr>
              <a:t>de Comptes</a:t>
            </a:r>
            <a:endParaRPr lang="en-US" sz="1300" dirty="0"/>
          </a:p>
        </p:txBody>
      </p:sp>
      <p:sp>
        <p:nvSpPr>
          <p:cNvPr id="14" name="Text 12"/>
          <p:cNvSpPr/>
          <p:nvPr/>
        </p:nvSpPr>
        <p:spPr>
          <a:xfrm>
            <a:off x="429768" y="2423160"/>
            <a:ext cx="1792224" cy="1097280"/>
          </a:xfrm>
          <a:prstGeom prst="rect">
            <a:avLst/>
          </a:prstGeom>
          <a:noFill/>
          <a:ln/>
        </p:spPr>
        <p:txBody>
          <a:bodyPr wrap="square" lIns="0" tIns="0" rIns="0" bIns="0" rtlCol="0" anchor="ctr"/>
          <a:lstStyle/>
          <a:p>
            <a:pPr indent="0" marL="0">
              <a:buNone/>
            </a:pPr>
            <a:r>
              <a:rPr lang="en-US" sz="1100" dirty="0">
                <a:solidFill>
                  <a:srgbClr val="546E7A"/>
                </a:solidFill>
              </a:rPr>
              <a:t>Crée le client à l'entrée</a:t>
            </a:r>
            <a:endParaRPr lang="en-US" sz="1100" dirty="0"/>
          </a:p>
          <a:p>
            <a:pPr indent="0" marL="0">
              <a:buNone/>
            </a:pPr>
            <a:r>
              <a:rPr lang="en-US" sz="1100" dirty="0">
                <a:solidFill>
                  <a:srgbClr val="546E7A"/>
                </a:solidFill>
              </a:rPr>
              <a:t>Attribue l'ID local S1-XXX</a:t>
            </a:r>
            <a:endParaRPr lang="en-US" sz="1100" dirty="0"/>
          </a:p>
          <a:p>
            <a:pPr indent="0" marL="0">
              <a:buNone/>
            </a:pPr>
            <a:r>
              <a:rPr lang="en-US" sz="1100" dirty="0">
                <a:solidFill>
                  <a:srgbClr val="546E7A"/>
                </a:solidFill>
              </a:rPr>
              <a:t>Type : SI Opérationnel</a:t>
            </a:r>
            <a:endParaRPr lang="en-US" sz="1100" dirty="0"/>
          </a:p>
        </p:txBody>
      </p:sp>
      <p:sp>
        <p:nvSpPr>
          <p:cNvPr id="15" name="Shape 13"/>
          <p:cNvSpPr/>
          <p:nvPr/>
        </p:nvSpPr>
        <p:spPr>
          <a:xfrm>
            <a:off x="2468880" y="804672"/>
            <a:ext cx="2011680" cy="3840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2468880" y="804672"/>
            <a:ext cx="2011680" cy="59436"/>
          </a:xfrm>
          <a:prstGeom prst="rect">
            <a:avLst/>
          </a:prstGeom>
          <a:solidFill>
            <a:srgbClr val="00796B"/>
          </a:solidFill>
          <a:ln/>
        </p:spPr>
      </p:sp>
      <p:sp>
        <p:nvSpPr>
          <p:cNvPr id="17" name="Shape 15"/>
          <p:cNvSpPr/>
          <p:nvPr/>
        </p:nvSpPr>
        <p:spPr>
          <a:xfrm>
            <a:off x="2468880" y="804672"/>
            <a:ext cx="2011680" cy="822960"/>
          </a:xfrm>
          <a:prstGeom prst="rect">
            <a:avLst/>
          </a:prstGeom>
          <a:solidFill>
            <a:srgbClr val="00796B"/>
          </a:solidFill>
          <a:ln/>
        </p:spPr>
      </p:sp>
      <p:sp>
        <p:nvSpPr>
          <p:cNvPr id="18" name="Text 16"/>
          <p:cNvSpPr/>
          <p:nvPr/>
        </p:nvSpPr>
        <p:spPr>
          <a:xfrm>
            <a:off x="2468880" y="804672"/>
            <a:ext cx="201168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2468880" y="1261872"/>
            <a:ext cx="2011680" cy="347472"/>
          </a:xfrm>
          <a:prstGeom prst="rect">
            <a:avLst/>
          </a:prstGeom>
          <a:noFill/>
          <a:ln/>
        </p:spPr>
        <p:txBody>
          <a:bodyPr wrap="square" lIns="0" tIns="0" rIns="0" bIns="0" rtlCol="0" anchor="ctr"/>
          <a:lstStyle/>
          <a:p>
            <a:pPr algn="ctr" indent="0" marL="0">
              <a:buNone/>
            </a:pPr>
            <a:r>
              <a:rPr lang="en-US" sz="1100" b="1" dirty="0">
                <a:solidFill>
                  <a:srgbClr val="FFFFFF"/>
                </a:solidFill>
              </a:rPr>
              <a:t>Système 2</a:t>
            </a:r>
            <a:endParaRPr lang="en-US" sz="1100" dirty="0"/>
          </a:p>
        </p:txBody>
      </p:sp>
      <p:sp>
        <p:nvSpPr>
          <p:cNvPr id="20" name="Text 18"/>
          <p:cNvSpPr/>
          <p:nvPr/>
        </p:nvSpPr>
        <p:spPr>
          <a:xfrm>
            <a:off x="2560320" y="1719072"/>
            <a:ext cx="1828800" cy="640080"/>
          </a:xfrm>
          <a:prstGeom prst="rect">
            <a:avLst/>
          </a:prstGeom>
          <a:noFill/>
          <a:ln/>
        </p:spPr>
        <p:txBody>
          <a:bodyPr wrap="square" lIns="0" tIns="0" rIns="0" bIns="0" rtlCol="0" anchor="ctr"/>
          <a:lstStyle/>
          <a:p>
            <a:pPr algn="ctr" indent="0" marL="0">
              <a:buNone/>
            </a:pPr>
            <a:r>
              <a:rPr lang="en-US" sz="1300" b="1" dirty="0">
                <a:solidFill>
                  <a:srgbClr val="00796B"/>
                </a:solidFill>
              </a:rPr>
              <a:t>Gestion des</a:t>
            </a:r>
            <a:endParaRPr lang="en-US" sz="1300" dirty="0"/>
          </a:p>
          <a:p>
            <a:pPr algn="ctr" indent="0" marL="0">
              <a:buNone/>
            </a:pPr>
            <a:r>
              <a:rPr lang="en-US" sz="1300" b="1" dirty="0">
                <a:solidFill>
                  <a:srgbClr val="00796B"/>
                </a:solidFill>
              </a:rPr>
              <a:t>Crédits</a:t>
            </a:r>
            <a:endParaRPr lang="en-US" sz="1300" dirty="0"/>
          </a:p>
        </p:txBody>
      </p:sp>
      <p:sp>
        <p:nvSpPr>
          <p:cNvPr id="21" name="Text 19"/>
          <p:cNvSpPr/>
          <p:nvPr/>
        </p:nvSpPr>
        <p:spPr>
          <a:xfrm>
            <a:off x="2578608" y="2423160"/>
            <a:ext cx="1792224" cy="1097280"/>
          </a:xfrm>
          <a:prstGeom prst="rect">
            <a:avLst/>
          </a:prstGeom>
          <a:noFill/>
          <a:ln/>
        </p:spPr>
        <p:txBody>
          <a:bodyPr wrap="square" lIns="0" tIns="0" rIns="0" bIns="0" rtlCol="0" anchor="ctr"/>
          <a:lstStyle/>
          <a:p>
            <a:pPr indent="0" marL="0">
              <a:buNone/>
            </a:pPr>
            <a:r>
              <a:rPr lang="en-US" sz="1100" dirty="0">
                <a:solidFill>
                  <a:srgbClr val="546E7A"/>
                </a:solidFill>
              </a:rPr>
              <a:t>Gère les dossiers de prêts</a:t>
            </a:r>
            <a:endParaRPr lang="en-US" sz="1100" dirty="0"/>
          </a:p>
          <a:p>
            <a:pPr indent="0" marL="0">
              <a:buNone/>
            </a:pPr>
            <a:r>
              <a:rPr lang="en-US" sz="1100" dirty="0">
                <a:solidFill>
                  <a:srgbClr val="546E7A"/>
                </a:solidFill>
              </a:rPr>
              <a:t>Attribue l'ID local CR-XXX</a:t>
            </a:r>
            <a:endParaRPr lang="en-US" sz="1100" dirty="0"/>
          </a:p>
          <a:p>
            <a:pPr indent="0" marL="0">
              <a:buNone/>
            </a:pPr>
            <a:r>
              <a:rPr lang="en-US" sz="1100" dirty="0">
                <a:solidFill>
                  <a:srgbClr val="546E7A"/>
                </a:solidFill>
              </a:rPr>
              <a:t>Type : SI Opérationnel</a:t>
            </a:r>
            <a:endParaRPr lang="en-US" sz="1100" dirty="0"/>
          </a:p>
        </p:txBody>
      </p:sp>
      <p:sp>
        <p:nvSpPr>
          <p:cNvPr id="22" name="Shape 20"/>
          <p:cNvSpPr/>
          <p:nvPr/>
        </p:nvSpPr>
        <p:spPr>
          <a:xfrm>
            <a:off x="4617720" y="804672"/>
            <a:ext cx="2011680" cy="3840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3" name="Shape 21"/>
          <p:cNvSpPr/>
          <p:nvPr/>
        </p:nvSpPr>
        <p:spPr>
          <a:xfrm>
            <a:off x="4617720" y="804672"/>
            <a:ext cx="2011680" cy="59436"/>
          </a:xfrm>
          <a:prstGeom prst="rect">
            <a:avLst/>
          </a:prstGeom>
          <a:solidFill>
            <a:srgbClr val="E65100"/>
          </a:solidFill>
          <a:ln/>
        </p:spPr>
      </p:sp>
      <p:sp>
        <p:nvSpPr>
          <p:cNvPr id="24" name="Shape 22"/>
          <p:cNvSpPr/>
          <p:nvPr/>
        </p:nvSpPr>
        <p:spPr>
          <a:xfrm>
            <a:off x="4617720" y="804672"/>
            <a:ext cx="2011680" cy="822960"/>
          </a:xfrm>
          <a:prstGeom prst="rect">
            <a:avLst/>
          </a:prstGeom>
          <a:solidFill>
            <a:srgbClr val="E65100"/>
          </a:solidFill>
          <a:ln/>
        </p:spPr>
      </p:sp>
      <p:sp>
        <p:nvSpPr>
          <p:cNvPr id="25" name="Text 23"/>
          <p:cNvSpPr/>
          <p:nvPr/>
        </p:nvSpPr>
        <p:spPr>
          <a:xfrm>
            <a:off x="4617720" y="804672"/>
            <a:ext cx="201168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4617720" y="1261872"/>
            <a:ext cx="2011680" cy="347472"/>
          </a:xfrm>
          <a:prstGeom prst="rect">
            <a:avLst/>
          </a:prstGeom>
          <a:noFill/>
          <a:ln/>
        </p:spPr>
        <p:txBody>
          <a:bodyPr wrap="square" lIns="0" tIns="0" rIns="0" bIns="0" rtlCol="0" anchor="ctr"/>
          <a:lstStyle/>
          <a:p>
            <a:pPr algn="ctr" indent="0" marL="0">
              <a:buNone/>
            </a:pPr>
            <a:r>
              <a:rPr lang="en-US" sz="1100" b="1" dirty="0">
                <a:solidFill>
                  <a:srgbClr val="FFFFFF"/>
                </a:solidFill>
              </a:rPr>
              <a:t>Système 3</a:t>
            </a:r>
            <a:endParaRPr lang="en-US" sz="1100" dirty="0"/>
          </a:p>
        </p:txBody>
      </p:sp>
      <p:sp>
        <p:nvSpPr>
          <p:cNvPr id="27" name="Text 25"/>
          <p:cNvSpPr/>
          <p:nvPr/>
        </p:nvSpPr>
        <p:spPr>
          <a:xfrm>
            <a:off x="4709160" y="1719072"/>
            <a:ext cx="1828800" cy="640080"/>
          </a:xfrm>
          <a:prstGeom prst="rect">
            <a:avLst/>
          </a:prstGeom>
          <a:noFill/>
          <a:ln/>
        </p:spPr>
        <p:txBody>
          <a:bodyPr wrap="square" lIns="0" tIns="0" rIns="0" bIns="0" rtlCol="0" anchor="ctr"/>
          <a:lstStyle/>
          <a:p>
            <a:pPr algn="ctr" indent="0" marL="0">
              <a:buNone/>
            </a:pPr>
            <a:r>
              <a:rPr lang="en-US" sz="1300" b="1" dirty="0">
                <a:solidFill>
                  <a:srgbClr val="E65100"/>
                </a:solidFill>
              </a:rPr>
              <a:t>Recouvrement</a:t>
            </a:r>
            <a:endParaRPr lang="en-US" sz="1300" dirty="0"/>
          </a:p>
        </p:txBody>
      </p:sp>
      <p:sp>
        <p:nvSpPr>
          <p:cNvPr id="28" name="Text 26"/>
          <p:cNvSpPr/>
          <p:nvPr/>
        </p:nvSpPr>
        <p:spPr>
          <a:xfrm>
            <a:off x="4727448" y="2423160"/>
            <a:ext cx="1792224" cy="1097280"/>
          </a:xfrm>
          <a:prstGeom prst="rect">
            <a:avLst/>
          </a:prstGeom>
          <a:noFill/>
          <a:ln/>
        </p:spPr>
        <p:txBody>
          <a:bodyPr wrap="square" lIns="0" tIns="0" rIns="0" bIns="0" rtlCol="0" anchor="ctr"/>
          <a:lstStyle/>
          <a:p>
            <a:pPr indent="0" marL="0">
              <a:buNone/>
            </a:pPr>
            <a:r>
              <a:rPr lang="en-US" sz="1100" dirty="0">
                <a:solidFill>
                  <a:srgbClr val="546E7A"/>
                </a:solidFill>
              </a:rPr>
              <a:t>Suit les impayés &amp; retards</a:t>
            </a:r>
            <a:endParaRPr lang="en-US" sz="1100" dirty="0"/>
          </a:p>
          <a:p>
            <a:pPr indent="0" marL="0">
              <a:buNone/>
            </a:pPr>
            <a:r>
              <a:rPr lang="en-US" sz="1100" dirty="0">
                <a:solidFill>
                  <a:srgbClr val="546E7A"/>
                </a:solidFill>
              </a:rPr>
              <a:t>Attribue l'ID local REC-XXX</a:t>
            </a:r>
            <a:endParaRPr lang="en-US" sz="1100" dirty="0"/>
          </a:p>
          <a:p>
            <a:pPr indent="0" marL="0">
              <a:buNone/>
            </a:pPr>
            <a:r>
              <a:rPr lang="en-US" sz="1100" dirty="0">
                <a:solidFill>
                  <a:srgbClr val="546E7A"/>
                </a:solidFill>
              </a:rPr>
              <a:t>Type : SI Opérationnel</a:t>
            </a:r>
            <a:endParaRPr lang="en-US" sz="1100" dirty="0"/>
          </a:p>
        </p:txBody>
      </p:sp>
      <p:sp>
        <p:nvSpPr>
          <p:cNvPr id="29" name="Shape 27"/>
          <p:cNvSpPr/>
          <p:nvPr/>
        </p:nvSpPr>
        <p:spPr>
          <a:xfrm>
            <a:off x="6766560" y="804672"/>
            <a:ext cx="2011680" cy="3840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0" name="Shape 28"/>
          <p:cNvSpPr/>
          <p:nvPr/>
        </p:nvSpPr>
        <p:spPr>
          <a:xfrm>
            <a:off x="6766560" y="804672"/>
            <a:ext cx="2011680" cy="59436"/>
          </a:xfrm>
          <a:prstGeom prst="rect">
            <a:avLst/>
          </a:prstGeom>
          <a:solidFill>
            <a:srgbClr val="4527A0"/>
          </a:solidFill>
          <a:ln/>
        </p:spPr>
      </p:sp>
      <p:sp>
        <p:nvSpPr>
          <p:cNvPr id="31" name="Shape 29"/>
          <p:cNvSpPr/>
          <p:nvPr/>
        </p:nvSpPr>
        <p:spPr>
          <a:xfrm>
            <a:off x="6766560" y="804672"/>
            <a:ext cx="2011680" cy="822960"/>
          </a:xfrm>
          <a:prstGeom prst="rect">
            <a:avLst/>
          </a:prstGeom>
          <a:solidFill>
            <a:srgbClr val="4527A0"/>
          </a:solidFill>
          <a:ln/>
        </p:spPr>
      </p:sp>
      <p:sp>
        <p:nvSpPr>
          <p:cNvPr id="32" name="Text 30"/>
          <p:cNvSpPr/>
          <p:nvPr/>
        </p:nvSpPr>
        <p:spPr>
          <a:xfrm>
            <a:off x="6766560" y="804672"/>
            <a:ext cx="201168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3" name="Text 31"/>
          <p:cNvSpPr/>
          <p:nvPr/>
        </p:nvSpPr>
        <p:spPr>
          <a:xfrm>
            <a:off x="6766560" y="1261872"/>
            <a:ext cx="2011680" cy="347472"/>
          </a:xfrm>
          <a:prstGeom prst="rect">
            <a:avLst/>
          </a:prstGeom>
          <a:noFill/>
          <a:ln/>
        </p:spPr>
        <p:txBody>
          <a:bodyPr wrap="square" lIns="0" tIns="0" rIns="0" bIns="0" rtlCol="0" anchor="ctr"/>
          <a:lstStyle/>
          <a:p>
            <a:pPr algn="ctr" indent="0" marL="0">
              <a:buNone/>
            </a:pPr>
            <a:r>
              <a:rPr lang="en-US" sz="1100" b="1" dirty="0">
                <a:solidFill>
                  <a:srgbClr val="FFFFFF"/>
                </a:solidFill>
              </a:rPr>
              <a:t>Système 4</a:t>
            </a:r>
            <a:endParaRPr lang="en-US" sz="1100" dirty="0"/>
          </a:p>
        </p:txBody>
      </p:sp>
      <p:sp>
        <p:nvSpPr>
          <p:cNvPr id="34" name="Text 32"/>
          <p:cNvSpPr/>
          <p:nvPr/>
        </p:nvSpPr>
        <p:spPr>
          <a:xfrm>
            <a:off x="6858000" y="1719072"/>
            <a:ext cx="1828800" cy="640080"/>
          </a:xfrm>
          <a:prstGeom prst="rect">
            <a:avLst/>
          </a:prstGeom>
          <a:noFill/>
          <a:ln/>
        </p:spPr>
        <p:txBody>
          <a:bodyPr wrap="square" lIns="0" tIns="0" rIns="0" bIns="0" rtlCol="0" anchor="ctr"/>
          <a:lstStyle/>
          <a:p>
            <a:pPr algn="ctr" indent="0" marL="0">
              <a:buNone/>
            </a:pPr>
            <a:r>
              <a:rPr lang="en-US" sz="1300" b="1" dirty="0">
                <a:solidFill>
                  <a:srgbClr val="4527A0"/>
                </a:solidFill>
              </a:rPr>
              <a:t>Reporting &amp;</a:t>
            </a:r>
            <a:endParaRPr lang="en-US" sz="1300" dirty="0"/>
          </a:p>
          <a:p>
            <a:pPr algn="ctr" indent="0" marL="0">
              <a:buNone/>
            </a:pPr>
            <a:r>
              <a:rPr lang="en-US" sz="1300" b="1" dirty="0">
                <a:solidFill>
                  <a:srgbClr val="4527A0"/>
                </a:solidFill>
              </a:rPr>
              <a:t>Decisionnel</a:t>
            </a:r>
            <a:endParaRPr lang="en-US" sz="1300" dirty="0"/>
          </a:p>
        </p:txBody>
      </p:sp>
      <p:sp>
        <p:nvSpPr>
          <p:cNvPr id="35" name="Text 33"/>
          <p:cNvSpPr/>
          <p:nvPr/>
        </p:nvSpPr>
        <p:spPr>
          <a:xfrm>
            <a:off x="6876288" y="2423160"/>
            <a:ext cx="1792224" cy="1097280"/>
          </a:xfrm>
          <a:prstGeom prst="rect">
            <a:avLst/>
          </a:prstGeom>
          <a:noFill/>
          <a:ln/>
        </p:spPr>
        <p:txBody>
          <a:bodyPr wrap="square" lIns="0" tIns="0" rIns="0" bIns="0" rtlCol="0" anchor="ctr"/>
          <a:lstStyle/>
          <a:p>
            <a:pPr indent="0" marL="0">
              <a:buNone/>
            </a:pPr>
            <a:r>
              <a:rPr lang="en-US" sz="1100" dirty="0">
                <a:solidFill>
                  <a:srgbClr val="546E7A"/>
                </a:solidFill>
              </a:rPr>
              <a:t>Consolide les données</a:t>
            </a:r>
            <a:endParaRPr lang="en-US" sz="1100" dirty="0"/>
          </a:p>
          <a:p>
            <a:pPr indent="0" marL="0">
              <a:buNone/>
            </a:pPr>
            <a:r>
              <a:rPr lang="en-US" sz="1100" dirty="0">
                <a:solidFill>
                  <a:srgbClr val="546E7A"/>
                </a:solidFill>
              </a:rPr>
              <a:t>Pas d'ID client propre</a:t>
            </a:r>
            <a:endParaRPr lang="en-US" sz="1100" dirty="0"/>
          </a:p>
          <a:p>
            <a:pPr indent="0" marL="0">
              <a:buNone/>
            </a:pPr>
            <a:r>
              <a:rPr lang="en-US" sz="1100" dirty="0">
                <a:solidFill>
                  <a:srgbClr val="546E7A"/>
                </a:solidFill>
              </a:rPr>
              <a:t>Type : SI Décisionnel (BI)</a:t>
            </a:r>
            <a:endParaRPr lang="en-US" sz="1100" dirty="0"/>
          </a:p>
        </p:txBody>
      </p:sp>
      <p:sp>
        <p:nvSpPr>
          <p:cNvPr id="36" name="Shape 34"/>
          <p:cNvSpPr/>
          <p:nvPr/>
        </p:nvSpPr>
        <p:spPr>
          <a:xfrm>
            <a:off x="320040" y="4681728"/>
            <a:ext cx="8503920" cy="0"/>
          </a:xfrm>
          <a:prstGeom prst="rect">
            <a:avLst/>
          </a:prstGeom>
          <a:solidFill>
            <a:srgbClr val="FFFFF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1565C0"/>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1️⃣</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Situation Actuelle — Fonctionnement en Silos</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777240"/>
            <a:ext cx="8503920" cy="804672"/>
          </a:xfrm>
          <a:prstGeom prst="rect">
            <a:avLst/>
          </a:prstGeom>
          <a:solidFill>
            <a:srgbClr val="0D2B55"/>
          </a:solidFill>
          <a:ln/>
          <a:effectLst>
            <a:outerShdw sx="100000" sy="100000" kx="0" ky="0" algn="bl" rotWithShape="0" blurRad="88900" dist="38100" dir="8100000">
              <a:srgbClr val="000000">
                <a:alpha val="10000"/>
              </a:srgbClr>
            </a:outerShdw>
          </a:effectLst>
        </p:spPr>
      </p:sp>
      <p:sp>
        <p:nvSpPr>
          <p:cNvPr id="9" name="Text 7"/>
          <p:cNvSpPr/>
          <p:nvPr/>
        </p:nvSpPr>
        <p:spPr>
          <a:xfrm>
            <a:off x="457200" y="795528"/>
            <a:ext cx="8229600" cy="768096"/>
          </a:xfrm>
          <a:prstGeom prst="rect">
            <a:avLst/>
          </a:prstGeom>
          <a:noFill/>
          <a:ln/>
        </p:spPr>
        <p:txBody>
          <a:bodyPr wrap="square" lIns="0" tIns="0" rIns="0" bIns="0" rtlCol="0" anchor="ctr"/>
          <a:lstStyle/>
          <a:p>
            <a:pPr algn="ctr" indent="0" marL="0">
              <a:buNone/>
            </a:pPr>
            <a:r>
              <a:rPr lang="en-US" sz="1400" b="1" i="1" dirty="0">
                <a:solidFill>
                  <a:srgbClr val="FFFFFF"/>
                </a:solidFill>
              </a:rPr>
              <a:t>Un même client peut posséder jusqu'à 4 identifiants différents — un par système — sans lien entre eux.</a:t>
            </a:r>
            <a:endParaRPr lang="en-US" sz="1400" dirty="0"/>
          </a:p>
        </p:txBody>
      </p:sp>
      <p:sp>
        <p:nvSpPr>
          <p:cNvPr id="10" name="Shape 8"/>
          <p:cNvSpPr/>
          <p:nvPr/>
        </p:nvSpPr>
        <p:spPr>
          <a:xfrm>
            <a:off x="320040" y="1755648"/>
            <a:ext cx="2011680" cy="13716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1" name="Shape 9"/>
          <p:cNvSpPr/>
          <p:nvPr/>
        </p:nvSpPr>
        <p:spPr>
          <a:xfrm>
            <a:off x="320040" y="1755648"/>
            <a:ext cx="2011680" cy="59436"/>
          </a:xfrm>
          <a:prstGeom prst="rect">
            <a:avLst/>
          </a:prstGeom>
          <a:solidFill>
            <a:srgbClr val="1565C0"/>
          </a:solidFill>
          <a:ln/>
        </p:spPr>
      </p:sp>
      <p:sp>
        <p:nvSpPr>
          <p:cNvPr id="12" name="Text 10"/>
          <p:cNvSpPr/>
          <p:nvPr/>
        </p:nvSpPr>
        <p:spPr>
          <a:xfrm>
            <a:off x="320040" y="1847088"/>
            <a:ext cx="20116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320040" y="2331720"/>
            <a:ext cx="2011680" cy="411480"/>
          </a:xfrm>
          <a:prstGeom prst="rect">
            <a:avLst/>
          </a:prstGeom>
          <a:noFill/>
          <a:ln/>
        </p:spPr>
        <p:txBody>
          <a:bodyPr wrap="square" lIns="0" tIns="0" rIns="0" bIns="0" rtlCol="0" anchor="ctr"/>
          <a:lstStyle/>
          <a:p>
            <a:pPr algn="ctr" indent="0" marL="0">
              <a:buNone/>
            </a:pPr>
            <a:r>
              <a:rPr lang="en-US" sz="1600" b="1" dirty="0">
                <a:solidFill>
                  <a:srgbClr val="1565C0"/>
                </a:solidFill>
              </a:rPr>
              <a:t>S1-0042</a:t>
            </a:r>
            <a:endParaRPr lang="en-US" sz="1600" dirty="0"/>
          </a:p>
        </p:txBody>
      </p:sp>
      <p:sp>
        <p:nvSpPr>
          <p:cNvPr id="14" name="Text 12"/>
          <p:cNvSpPr/>
          <p:nvPr/>
        </p:nvSpPr>
        <p:spPr>
          <a:xfrm>
            <a:off x="320040" y="2743200"/>
            <a:ext cx="2011680" cy="320040"/>
          </a:xfrm>
          <a:prstGeom prst="rect">
            <a:avLst/>
          </a:prstGeom>
          <a:noFill/>
          <a:ln/>
        </p:spPr>
        <p:txBody>
          <a:bodyPr wrap="square" lIns="0" tIns="0" rIns="0" bIns="0" rtlCol="0" anchor="ctr"/>
          <a:lstStyle/>
          <a:p>
            <a:pPr algn="ctr" indent="0" marL="0">
              <a:buNone/>
            </a:pPr>
            <a:r>
              <a:rPr lang="en-US" sz="1100" dirty="0">
                <a:solidFill>
                  <a:srgbClr val="546E7A"/>
                </a:solidFill>
              </a:rPr>
              <a:t>Ouverture Comptes</a:t>
            </a:r>
            <a:endParaRPr lang="en-US" sz="1100" dirty="0"/>
          </a:p>
        </p:txBody>
      </p:sp>
      <p:sp>
        <p:nvSpPr>
          <p:cNvPr id="15" name="Shape 13"/>
          <p:cNvSpPr/>
          <p:nvPr/>
        </p:nvSpPr>
        <p:spPr>
          <a:xfrm>
            <a:off x="2468880" y="1755648"/>
            <a:ext cx="2011680" cy="13716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2468880" y="1755648"/>
            <a:ext cx="2011680" cy="59436"/>
          </a:xfrm>
          <a:prstGeom prst="rect">
            <a:avLst/>
          </a:prstGeom>
          <a:solidFill>
            <a:srgbClr val="00796B"/>
          </a:solidFill>
          <a:ln/>
        </p:spPr>
      </p:sp>
      <p:sp>
        <p:nvSpPr>
          <p:cNvPr id="17" name="Text 15"/>
          <p:cNvSpPr/>
          <p:nvPr/>
        </p:nvSpPr>
        <p:spPr>
          <a:xfrm>
            <a:off x="2468880" y="1847088"/>
            <a:ext cx="20116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468880" y="2331720"/>
            <a:ext cx="2011680" cy="411480"/>
          </a:xfrm>
          <a:prstGeom prst="rect">
            <a:avLst/>
          </a:prstGeom>
          <a:noFill/>
          <a:ln/>
        </p:spPr>
        <p:txBody>
          <a:bodyPr wrap="square" lIns="0" tIns="0" rIns="0" bIns="0" rtlCol="0" anchor="ctr"/>
          <a:lstStyle/>
          <a:p>
            <a:pPr algn="ctr" indent="0" marL="0">
              <a:buNone/>
            </a:pPr>
            <a:r>
              <a:rPr lang="en-US" sz="1600" b="1" dirty="0">
                <a:solidFill>
                  <a:srgbClr val="00796B"/>
                </a:solidFill>
              </a:rPr>
              <a:t>CR-1187</a:t>
            </a:r>
            <a:endParaRPr lang="en-US" sz="1600" dirty="0"/>
          </a:p>
        </p:txBody>
      </p:sp>
      <p:sp>
        <p:nvSpPr>
          <p:cNvPr id="19" name="Text 17"/>
          <p:cNvSpPr/>
          <p:nvPr/>
        </p:nvSpPr>
        <p:spPr>
          <a:xfrm>
            <a:off x="2468880" y="2743200"/>
            <a:ext cx="2011680" cy="320040"/>
          </a:xfrm>
          <a:prstGeom prst="rect">
            <a:avLst/>
          </a:prstGeom>
          <a:noFill/>
          <a:ln/>
        </p:spPr>
        <p:txBody>
          <a:bodyPr wrap="square" lIns="0" tIns="0" rIns="0" bIns="0" rtlCol="0" anchor="ctr"/>
          <a:lstStyle/>
          <a:p>
            <a:pPr algn="ctr" indent="0" marL="0">
              <a:buNone/>
            </a:pPr>
            <a:r>
              <a:rPr lang="en-US" sz="1100" dirty="0">
                <a:solidFill>
                  <a:srgbClr val="546E7A"/>
                </a:solidFill>
              </a:rPr>
              <a:t>Gestion Crédits</a:t>
            </a:r>
            <a:endParaRPr lang="en-US" sz="1100" dirty="0"/>
          </a:p>
        </p:txBody>
      </p:sp>
      <p:sp>
        <p:nvSpPr>
          <p:cNvPr id="20" name="Shape 18"/>
          <p:cNvSpPr/>
          <p:nvPr/>
        </p:nvSpPr>
        <p:spPr>
          <a:xfrm>
            <a:off x="4617720" y="1755648"/>
            <a:ext cx="2011680" cy="13716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4617720" y="1755648"/>
            <a:ext cx="2011680" cy="59436"/>
          </a:xfrm>
          <a:prstGeom prst="rect">
            <a:avLst/>
          </a:prstGeom>
          <a:solidFill>
            <a:srgbClr val="E65100"/>
          </a:solidFill>
          <a:ln/>
        </p:spPr>
      </p:sp>
      <p:sp>
        <p:nvSpPr>
          <p:cNvPr id="22" name="Text 20"/>
          <p:cNvSpPr/>
          <p:nvPr/>
        </p:nvSpPr>
        <p:spPr>
          <a:xfrm>
            <a:off x="4617720" y="1847088"/>
            <a:ext cx="20116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4617720" y="2331720"/>
            <a:ext cx="2011680" cy="411480"/>
          </a:xfrm>
          <a:prstGeom prst="rect">
            <a:avLst/>
          </a:prstGeom>
          <a:noFill/>
          <a:ln/>
        </p:spPr>
        <p:txBody>
          <a:bodyPr wrap="square" lIns="0" tIns="0" rIns="0" bIns="0" rtlCol="0" anchor="ctr"/>
          <a:lstStyle/>
          <a:p>
            <a:pPr algn="ctr" indent="0" marL="0">
              <a:buNone/>
            </a:pPr>
            <a:r>
              <a:rPr lang="en-US" sz="1600" b="1" dirty="0">
                <a:solidFill>
                  <a:srgbClr val="E65100"/>
                </a:solidFill>
              </a:rPr>
              <a:t>REC-0309</a:t>
            </a:r>
            <a:endParaRPr lang="en-US" sz="1600" dirty="0"/>
          </a:p>
        </p:txBody>
      </p:sp>
      <p:sp>
        <p:nvSpPr>
          <p:cNvPr id="24" name="Text 22"/>
          <p:cNvSpPr/>
          <p:nvPr/>
        </p:nvSpPr>
        <p:spPr>
          <a:xfrm>
            <a:off x="4617720" y="2743200"/>
            <a:ext cx="2011680" cy="320040"/>
          </a:xfrm>
          <a:prstGeom prst="rect">
            <a:avLst/>
          </a:prstGeom>
          <a:noFill/>
          <a:ln/>
        </p:spPr>
        <p:txBody>
          <a:bodyPr wrap="square" lIns="0" tIns="0" rIns="0" bIns="0" rtlCol="0" anchor="ctr"/>
          <a:lstStyle/>
          <a:p>
            <a:pPr algn="ctr" indent="0" marL="0">
              <a:buNone/>
            </a:pPr>
            <a:r>
              <a:rPr lang="en-US" sz="1100" dirty="0">
                <a:solidFill>
                  <a:srgbClr val="546E7A"/>
                </a:solidFill>
              </a:rPr>
              <a:t>Recouvrement</a:t>
            </a:r>
            <a:endParaRPr lang="en-US" sz="1100" dirty="0"/>
          </a:p>
        </p:txBody>
      </p:sp>
      <p:sp>
        <p:nvSpPr>
          <p:cNvPr id="25" name="Shape 23"/>
          <p:cNvSpPr/>
          <p:nvPr/>
        </p:nvSpPr>
        <p:spPr>
          <a:xfrm>
            <a:off x="6766560" y="1755648"/>
            <a:ext cx="2011680" cy="13716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6" name="Shape 24"/>
          <p:cNvSpPr/>
          <p:nvPr/>
        </p:nvSpPr>
        <p:spPr>
          <a:xfrm>
            <a:off x="6766560" y="1755648"/>
            <a:ext cx="2011680" cy="59436"/>
          </a:xfrm>
          <a:prstGeom prst="rect">
            <a:avLst/>
          </a:prstGeom>
          <a:solidFill>
            <a:srgbClr val="4527A0"/>
          </a:solidFill>
          <a:ln/>
        </p:spPr>
      </p:sp>
      <p:sp>
        <p:nvSpPr>
          <p:cNvPr id="27" name="Text 25"/>
          <p:cNvSpPr/>
          <p:nvPr/>
        </p:nvSpPr>
        <p:spPr>
          <a:xfrm>
            <a:off x="6766560" y="1847088"/>
            <a:ext cx="20116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Text 26"/>
          <p:cNvSpPr/>
          <p:nvPr/>
        </p:nvSpPr>
        <p:spPr>
          <a:xfrm>
            <a:off x="6766560" y="2331720"/>
            <a:ext cx="2011680" cy="411480"/>
          </a:xfrm>
          <a:prstGeom prst="rect">
            <a:avLst/>
          </a:prstGeom>
          <a:noFill/>
          <a:ln/>
        </p:spPr>
        <p:txBody>
          <a:bodyPr wrap="square" lIns="0" tIns="0" rIns="0" bIns="0" rtlCol="0" anchor="ctr"/>
          <a:lstStyle/>
          <a:p>
            <a:pPr algn="ctr" indent="0" marL="0">
              <a:buNone/>
            </a:pPr>
            <a:r>
              <a:rPr lang="en-US" sz="1600" b="1" dirty="0">
                <a:solidFill>
                  <a:srgbClr val="4527A0"/>
                </a:solidFill>
              </a:rPr>
              <a:t>RPT-???</a:t>
            </a:r>
            <a:endParaRPr lang="en-US" sz="1600" dirty="0"/>
          </a:p>
        </p:txBody>
      </p:sp>
      <p:sp>
        <p:nvSpPr>
          <p:cNvPr id="29" name="Text 27"/>
          <p:cNvSpPr/>
          <p:nvPr/>
        </p:nvSpPr>
        <p:spPr>
          <a:xfrm>
            <a:off x="6766560" y="2743200"/>
            <a:ext cx="2011680" cy="320040"/>
          </a:xfrm>
          <a:prstGeom prst="rect">
            <a:avLst/>
          </a:prstGeom>
          <a:noFill/>
          <a:ln/>
        </p:spPr>
        <p:txBody>
          <a:bodyPr wrap="square" lIns="0" tIns="0" rIns="0" bIns="0" rtlCol="0" anchor="ctr"/>
          <a:lstStyle/>
          <a:p>
            <a:pPr algn="ctr" indent="0" marL="0">
              <a:buNone/>
            </a:pPr>
            <a:r>
              <a:rPr lang="en-US" sz="1100" dirty="0">
                <a:solidFill>
                  <a:srgbClr val="546E7A"/>
                </a:solidFill>
              </a:rPr>
              <a:t>Reporting (absent)</a:t>
            </a:r>
            <a:endParaRPr lang="en-US" sz="1100" dirty="0"/>
          </a:p>
        </p:txBody>
      </p:sp>
      <p:sp>
        <p:nvSpPr>
          <p:cNvPr id="30" name="Text 28"/>
          <p:cNvSpPr/>
          <p:nvPr/>
        </p:nvSpPr>
        <p:spPr>
          <a:xfrm>
            <a:off x="2212848" y="2240280"/>
            <a:ext cx="384048" cy="457200"/>
          </a:xfrm>
          <a:prstGeom prst="rect">
            <a:avLst/>
          </a:prstGeom>
          <a:noFill/>
          <a:ln/>
        </p:spPr>
        <p:txBody>
          <a:bodyPr wrap="square" lIns="0" tIns="0" rIns="0" bIns="0" rtlCol="0" anchor="ctr"/>
          <a:lstStyle/>
          <a:p>
            <a:pPr algn="ctr" indent="0" marL="0">
              <a:buNone/>
            </a:pPr>
            <a:r>
              <a:rPr lang="en-US" sz="2200" b="1" dirty="0">
                <a:solidFill>
                  <a:srgbClr val="C62828"/>
                </a:solidFill>
              </a:rPr>
              <a:t>≠</a:t>
            </a:r>
            <a:endParaRPr lang="en-US" sz="2200" dirty="0"/>
          </a:p>
        </p:txBody>
      </p:sp>
      <p:sp>
        <p:nvSpPr>
          <p:cNvPr id="31" name="Text 29"/>
          <p:cNvSpPr/>
          <p:nvPr/>
        </p:nvSpPr>
        <p:spPr>
          <a:xfrm>
            <a:off x="4361688" y="2240280"/>
            <a:ext cx="384048" cy="457200"/>
          </a:xfrm>
          <a:prstGeom prst="rect">
            <a:avLst/>
          </a:prstGeom>
          <a:noFill/>
          <a:ln/>
        </p:spPr>
        <p:txBody>
          <a:bodyPr wrap="square" lIns="0" tIns="0" rIns="0" bIns="0" rtlCol="0" anchor="ctr"/>
          <a:lstStyle/>
          <a:p>
            <a:pPr algn="ctr" indent="0" marL="0">
              <a:buNone/>
            </a:pPr>
            <a:r>
              <a:rPr lang="en-US" sz="2200" b="1" dirty="0">
                <a:solidFill>
                  <a:srgbClr val="C62828"/>
                </a:solidFill>
              </a:rPr>
              <a:t>≠</a:t>
            </a:r>
            <a:endParaRPr lang="en-US" sz="2200" dirty="0"/>
          </a:p>
        </p:txBody>
      </p:sp>
      <p:sp>
        <p:nvSpPr>
          <p:cNvPr id="32" name="Text 30"/>
          <p:cNvSpPr/>
          <p:nvPr/>
        </p:nvSpPr>
        <p:spPr>
          <a:xfrm>
            <a:off x="6510528" y="2240280"/>
            <a:ext cx="384048" cy="457200"/>
          </a:xfrm>
          <a:prstGeom prst="rect">
            <a:avLst/>
          </a:prstGeom>
          <a:noFill/>
          <a:ln/>
        </p:spPr>
        <p:txBody>
          <a:bodyPr wrap="square" lIns="0" tIns="0" rIns="0" bIns="0" rtlCol="0" anchor="ctr"/>
          <a:lstStyle/>
          <a:p>
            <a:pPr algn="ctr" indent="0" marL="0">
              <a:buNone/>
            </a:pPr>
            <a:r>
              <a:rPr lang="en-US" sz="2200" b="1" dirty="0">
                <a:solidFill>
                  <a:srgbClr val="C62828"/>
                </a:solidFill>
              </a:rPr>
              <a:t>≠</a:t>
            </a:r>
            <a:endParaRPr lang="en-US" sz="2200" dirty="0"/>
          </a:p>
        </p:txBody>
      </p:sp>
      <p:sp>
        <p:nvSpPr>
          <p:cNvPr id="33" name="Text 31"/>
          <p:cNvSpPr/>
          <p:nvPr/>
        </p:nvSpPr>
        <p:spPr>
          <a:xfrm>
            <a:off x="3200400" y="3218688"/>
            <a:ext cx="2743200" cy="384048"/>
          </a:xfrm>
          <a:prstGeom prst="rect">
            <a:avLst/>
          </a:prstGeom>
          <a:noFill/>
          <a:ln/>
        </p:spPr>
        <p:txBody>
          <a:bodyPr wrap="square" lIns="0" tIns="0" rIns="0" bIns="0" rtlCol="0" anchor="ctr"/>
          <a:lstStyle/>
          <a:p>
            <a:pPr algn="ctr" indent="0" marL="0">
              <a:buNone/>
            </a:pPr>
            <a:r>
              <a:rPr lang="en-US" sz="1300" i="1" dirty="0">
                <a:solidFill>
                  <a:srgbClr val="C62828"/>
                </a:solidFill>
              </a:rPr>
              <a:t>Même personne réelle</a:t>
            </a:r>
            <a:endParaRPr lang="en-US" sz="1300" dirty="0"/>
          </a:p>
        </p:txBody>
      </p:sp>
      <p:sp>
        <p:nvSpPr>
          <p:cNvPr id="34" name="Shape 32"/>
          <p:cNvSpPr/>
          <p:nvPr/>
        </p:nvSpPr>
        <p:spPr>
          <a:xfrm>
            <a:off x="320040" y="3749040"/>
            <a:ext cx="8503920" cy="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5" name="Shape 33"/>
          <p:cNvSpPr/>
          <p:nvPr/>
        </p:nvSpPr>
        <p:spPr>
          <a:xfrm>
            <a:off x="320040" y="3749040"/>
            <a:ext cx="8503920" cy="59436"/>
          </a:xfrm>
          <a:prstGeom prst="rect">
            <a:avLst/>
          </a:prstGeom>
          <a:solidFill>
            <a:srgbClr val="C62828"/>
          </a:solidFill>
          <a:ln/>
        </p:spPr>
      </p:sp>
      <p:sp>
        <p:nvSpPr>
          <p:cNvPr id="36" name="Shape 34"/>
          <p:cNvSpPr/>
          <p:nvPr/>
        </p:nvSpPr>
        <p:spPr>
          <a:xfrm>
            <a:off x="320040" y="3749040"/>
            <a:ext cx="8503920" cy="301752"/>
          </a:xfrm>
          <a:prstGeom prst="rect">
            <a:avLst/>
          </a:prstGeom>
          <a:solidFill>
            <a:srgbClr val="F5F7FA"/>
          </a:solidFill>
          <a:ln/>
          <a:effectLst>
            <a:outerShdw sx="100000" sy="100000" kx="0" ky="0" algn="bl" rotWithShape="0" blurRad="88900" dist="38100" dir="8100000">
              <a:srgbClr val="000000">
                <a:alpha val="10000"/>
              </a:srgbClr>
            </a:outerShdw>
          </a:effectLst>
        </p:spPr>
      </p:sp>
      <p:sp>
        <p:nvSpPr>
          <p:cNvPr id="37" name="Shape 35"/>
          <p:cNvSpPr/>
          <p:nvPr/>
        </p:nvSpPr>
        <p:spPr>
          <a:xfrm>
            <a:off x="320040" y="3749040"/>
            <a:ext cx="45720" cy="301752"/>
          </a:xfrm>
          <a:prstGeom prst="rect">
            <a:avLst/>
          </a:prstGeom>
          <a:solidFill>
            <a:srgbClr val="C62828"/>
          </a:solidFill>
          <a:ln/>
        </p:spPr>
      </p:sp>
      <p:sp>
        <p:nvSpPr>
          <p:cNvPr id="38" name="Text 36"/>
          <p:cNvSpPr/>
          <p:nvPr/>
        </p:nvSpPr>
        <p:spPr>
          <a:xfrm>
            <a:off x="457200" y="3749040"/>
            <a:ext cx="2286000" cy="301752"/>
          </a:xfrm>
          <a:prstGeom prst="rect">
            <a:avLst/>
          </a:prstGeom>
          <a:noFill/>
          <a:ln/>
        </p:spPr>
        <p:txBody>
          <a:bodyPr wrap="square" lIns="0" tIns="0" rIns="0" bIns="0" rtlCol="0" anchor="ctr"/>
          <a:lstStyle/>
          <a:p>
            <a:pPr indent="0" marL="0">
              <a:buNone/>
            </a:pPr>
            <a:r>
              <a:rPr lang="en-US" sz="1100" b="1" dirty="0">
                <a:solidFill>
                  <a:srgbClr val="C62828"/>
                </a:solidFill>
              </a:rPr>
              <a:t>❓ Nb d'identifiants ?</a:t>
            </a:r>
            <a:endParaRPr lang="en-US" sz="1100" dirty="0"/>
          </a:p>
        </p:txBody>
      </p:sp>
      <p:sp>
        <p:nvSpPr>
          <p:cNvPr id="39" name="Text 37"/>
          <p:cNvSpPr/>
          <p:nvPr/>
        </p:nvSpPr>
        <p:spPr>
          <a:xfrm>
            <a:off x="2834640" y="3749040"/>
            <a:ext cx="5852160" cy="301752"/>
          </a:xfrm>
          <a:prstGeom prst="rect">
            <a:avLst/>
          </a:prstGeom>
          <a:noFill/>
          <a:ln/>
        </p:spPr>
        <p:txBody>
          <a:bodyPr wrap="square" lIns="0" tIns="0" rIns="0" bIns="0" rtlCol="0" anchor="ctr"/>
          <a:lstStyle/>
          <a:p>
            <a:pPr indent="0" marL="0">
              <a:buNone/>
            </a:pPr>
            <a:r>
              <a:rPr lang="en-US" sz="1100" dirty="0">
                <a:solidFill>
                  <a:srgbClr val="1A237E"/>
                </a:solidFill>
              </a:rPr>
              <a:t>Jusqu'à 4 identifiants différents par client (1 par système)</a:t>
            </a:r>
            <a:endParaRPr lang="en-US" sz="1100" dirty="0"/>
          </a:p>
        </p:txBody>
      </p:sp>
      <p:sp>
        <p:nvSpPr>
          <p:cNvPr id="40" name="Shape 38"/>
          <p:cNvSpPr/>
          <p:nvPr/>
        </p:nvSpPr>
        <p:spPr>
          <a:xfrm>
            <a:off x="320040" y="3749040"/>
            <a:ext cx="8503920" cy="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1" name="Shape 39"/>
          <p:cNvSpPr/>
          <p:nvPr/>
        </p:nvSpPr>
        <p:spPr>
          <a:xfrm>
            <a:off x="320040" y="3749040"/>
            <a:ext cx="8503920" cy="59436"/>
          </a:xfrm>
          <a:prstGeom prst="rect">
            <a:avLst/>
          </a:prstGeom>
          <a:solidFill>
            <a:srgbClr val="E65100"/>
          </a:solidFill>
          <a:ln/>
        </p:spPr>
      </p:sp>
      <p:sp>
        <p:nvSpPr>
          <p:cNvPr id="42" name="Shape 40"/>
          <p:cNvSpPr/>
          <p:nvPr/>
        </p:nvSpPr>
        <p:spPr>
          <a:xfrm>
            <a:off x="320040" y="4096512"/>
            <a:ext cx="8503920" cy="301752"/>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3" name="Shape 41"/>
          <p:cNvSpPr/>
          <p:nvPr/>
        </p:nvSpPr>
        <p:spPr>
          <a:xfrm>
            <a:off x="320040" y="4096512"/>
            <a:ext cx="45720" cy="301752"/>
          </a:xfrm>
          <a:prstGeom prst="rect">
            <a:avLst/>
          </a:prstGeom>
          <a:solidFill>
            <a:srgbClr val="E65100"/>
          </a:solidFill>
          <a:ln/>
        </p:spPr>
      </p:sp>
      <p:sp>
        <p:nvSpPr>
          <p:cNvPr id="44" name="Text 42"/>
          <p:cNvSpPr/>
          <p:nvPr/>
        </p:nvSpPr>
        <p:spPr>
          <a:xfrm>
            <a:off x="457200" y="4096512"/>
            <a:ext cx="2286000" cy="301752"/>
          </a:xfrm>
          <a:prstGeom prst="rect">
            <a:avLst/>
          </a:prstGeom>
          <a:noFill/>
          <a:ln/>
        </p:spPr>
        <p:txBody>
          <a:bodyPr wrap="square" lIns="0" tIns="0" rIns="0" bIns="0" rtlCol="0" anchor="ctr"/>
          <a:lstStyle/>
          <a:p>
            <a:pPr indent="0" marL="0">
              <a:buNone/>
            </a:pPr>
            <a:r>
              <a:rPr lang="en-US" sz="1100" b="1" dirty="0">
                <a:solidFill>
                  <a:srgbClr val="E65100"/>
                </a:solidFill>
              </a:rPr>
              <a:t>❓ Stockage des données ?</a:t>
            </a:r>
            <a:endParaRPr lang="en-US" sz="1100" dirty="0"/>
          </a:p>
        </p:txBody>
      </p:sp>
      <p:sp>
        <p:nvSpPr>
          <p:cNvPr id="45" name="Text 43"/>
          <p:cNvSpPr/>
          <p:nvPr/>
        </p:nvSpPr>
        <p:spPr>
          <a:xfrm>
            <a:off x="2834640" y="4096512"/>
            <a:ext cx="5852160" cy="301752"/>
          </a:xfrm>
          <a:prstGeom prst="rect">
            <a:avLst/>
          </a:prstGeom>
          <a:noFill/>
          <a:ln/>
        </p:spPr>
        <p:txBody>
          <a:bodyPr wrap="square" lIns="0" tIns="0" rIns="0" bIns="0" rtlCol="0" anchor="ctr"/>
          <a:lstStyle/>
          <a:p>
            <a:pPr indent="0" marL="0">
              <a:buNone/>
            </a:pPr>
            <a:r>
              <a:rPr lang="en-US" sz="1100" dirty="0">
                <a:solidFill>
                  <a:srgbClr val="1A237E"/>
                </a:solidFill>
              </a:rPr>
              <a:t>Chaque système stocke ses propres données client en local, sans référentiel commun</a:t>
            </a:r>
            <a:endParaRPr lang="en-US" sz="1100" dirty="0"/>
          </a:p>
        </p:txBody>
      </p:sp>
      <p:sp>
        <p:nvSpPr>
          <p:cNvPr id="46" name="Shape 44"/>
          <p:cNvSpPr/>
          <p:nvPr/>
        </p:nvSpPr>
        <p:spPr>
          <a:xfrm>
            <a:off x="320040" y="3749040"/>
            <a:ext cx="8503920" cy="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47" name="Shape 45"/>
          <p:cNvSpPr/>
          <p:nvPr/>
        </p:nvSpPr>
        <p:spPr>
          <a:xfrm>
            <a:off x="320040" y="3749040"/>
            <a:ext cx="8503920" cy="59436"/>
          </a:xfrm>
          <a:prstGeom prst="rect">
            <a:avLst/>
          </a:prstGeom>
          <a:solidFill>
            <a:srgbClr val="0D2B55"/>
          </a:solidFill>
          <a:ln/>
        </p:spPr>
      </p:sp>
      <p:sp>
        <p:nvSpPr>
          <p:cNvPr id="48" name="Shape 46"/>
          <p:cNvSpPr/>
          <p:nvPr/>
        </p:nvSpPr>
        <p:spPr>
          <a:xfrm>
            <a:off x="320040" y="4443984"/>
            <a:ext cx="8503920" cy="301752"/>
          </a:xfrm>
          <a:prstGeom prst="rect">
            <a:avLst/>
          </a:prstGeom>
          <a:solidFill>
            <a:srgbClr val="F5F7FA"/>
          </a:solidFill>
          <a:ln/>
          <a:effectLst>
            <a:outerShdw sx="100000" sy="100000" kx="0" ky="0" algn="bl" rotWithShape="0" blurRad="88900" dist="38100" dir="8100000">
              <a:srgbClr val="000000">
                <a:alpha val="10000"/>
              </a:srgbClr>
            </a:outerShdw>
          </a:effectLst>
        </p:spPr>
      </p:sp>
      <p:sp>
        <p:nvSpPr>
          <p:cNvPr id="49" name="Shape 47"/>
          <p:cNvSpPr/>
          <p:nvPr/>
        </p:nvSpPr>
        <p:spPr>
          <a:xfrm>
            <a:off x="320040" y="4443984"/>
            <a:ext cx="45720" cy="301752"/>
          </a:xfrm>
          <a:prstGeom prst="rect">
            <a:avLst/>
          </a:prstGeom>
          <a:solidFill>
            <a:srgbClr val="0D2B55"/>
          </a:solidFill>
          <a:ln/>
        </p:spPr>
      </p:sp>
      <p:sp>
        <p:nvSpPr>
          <p:cNvPr id="50" name="Text 48"/>
          <p:cNvSpPr/>
          <p:nvPr/>
        </p:nvSpPr>
        <p:spPr>
          <a:xfrm>
            <a:off x="457200" y="4443984"/>
            <a:ext cx="2286000" cy="301752"/>
          </a:xfrm>
          <a:prstGeom prst="rect">
            <a:avLst/>
          </a:prstGeom>
          <a:noFill/>
          <a:ln/>
        </p:spPr>
        <p:txBody>
          <a:bodyPr wrap="square" lIns="0" tIns="0" rIns="0" bIns="0" rtlCol="0" anchor="ctr"/>
          <a:lstStyle/>
          <a:p>
            <a:pPr indent="0" marL="0">
              <a:buNone/>
            </a:pPr>
            <a:r>
              <a:rPr lang="en-US" sz="1100" b="1" dirty="0">
                <a:solidFill>
                  <a:srgbClr val="0D2B55"/>
                </a:solidFill>
              </a:rPr>
              <a:t>❓ Communication ?</a:t>
            </a:r>
            <a:endParaRPr lang="en-US" sz="1100" dirty="0"/>
          </a:p>
        </p:txBody>
      </p:sp>
      <p:sp>
        <p:nvSpPr>
          <p:cNvPr id="51" name="Text 49"/>
          <p:cNvSpPr/>
          <p:nvPr/>
        </p:nvSpPr>
        <p:spPr>
          <a:xfrm>
            <a:off x="2834640" y="4443984"/>
            <a:ext cx="5852160" cy="301752"/>
          </a:xfrm>
          <a:prstGeom prst="rect">
            <a:avLst/>
          </a:prstGeom>
          <a:noFill/>
          <a:ln/>
        </p:spPr>
        <p:txBody>
          <a:bodyPr wrap="square" lIns="0" tIns="0" rIns="0" bIns="0" rtlCol="0" anchor="ctr"/>
          <a:lstStyle/>
          <a:p>
            <a:pPr indent="0" marL="0">
              <a:buNone/>
            </a:pPr>
            <a:r>
              <a:rPr lang="en-US" sz="1100" dirty="0">
                <a:solidFill>
                  <a:srgbClr val="1A237E"/>
                </a:solidFill>
              </a:rPr>
              <a:t>Les systèmes ne communiquent pas entre eux → zéro interopérabilité</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C62828"/>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C62828"/>
                </a:solidFill>
              </a:rPr>
              <a:t>Partie 2</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Problèmes Liés à</a:t>
            </a:r>
            <a:endParaRPr lang="en-US" sz="3200" dirty="0"/>
          </a:p>
          <a:p>
            <a:pPr indent="0" marL="0">
              <a:lnSpc>
                <a:spcPct val="120000"/>
              </a:lnSpc>
              <a:buNone/>
            </a:pPr>
            <a:r>
              <a:rPr lang="en-US" sz="3200" b="1" dirty="0">
                <a:solidFill>
                  <a:srgbClr val="FFFFFF"/>
                </a:solidFill>
              </a:rPr>
              <a:t>l'Absence d'ID Unique</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C62828"/>
                </a:solidFill>
              </a:rPr>
              <a:t>5 problèmes concrets identifiés</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C62828"/>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2️⃣</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5 Problèmes Concrets — Sans Identifiant Unique</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804672"/>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804672"/>
            <a:ext cx="4251960" cy="59436"/>
          </a:xfrm>
          <a:prstGeom prst="rect">
            <a:avLst/>
          </a:prstGeom>
          <a:solidFill>
            <a:srgbClr val="C62828"/>
          </a:solidFill>
          <a:ln/>
        </p:spPr>
      </p:sp>
      <p:sp>
        <p:nvSpPr>
          <p:cNvPr id="10" name="Shape 8"/>
          <p:cNvSpPr/>
          <p:nvPr/>
        </p:nvSpPr>
        <p:spPr>
          <a:xfrm>
            <a:off x="320040" y="804672"/>
            <a:ext cx="475488" cy="1143000"/>
          </a:xfrm>
          <a:prstGeom prst="rect">
            <a:avLst/>
          </a:prstGeom>
          <a:solidFill>
            <a:srgbClr val="C62828"/>
          </a:solidFill>
          <a:ln/>
        </p:spPr>
      </p:sp>
      <p:sp>
        <p:nvSpPr>
          <p:cNvPr id="11" name="Text 9"/>
          <p:cNvSpPr/>
          <p:nvPr/>
        </p:nvSpPr>
        <p:spPr>
          <a:xfrm>
            <a:off x="320040" y="804672"/>
            <a:ext cx="475488" cy="114300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12" name="Text 10"/>
          <p:cNvSpPr/>
          <p:nvPr/>
        </p:nvSpPr>
        <p:spPr>
          <a:xfrm>
            <a:off x="886968" y="896112"/>
            <a:ext cx="3566160" cy="347472"/>
          </a:xfrm>
          <a:prstGeom prst="rect">
            <a:avLst/>
          </a:prstGeom>
          <a:noFill/>
          <a:ln/>
        </p:spPr>
        <p:txBody>
          <a:bodyPr wrap="square" lIns="0" tIns="0" rIns="0" bIns="0" rtlCol="0" anchor="ctr"/>
          <a:lstStyle/>
          <a:p>
            <a:pPr indent="0" marL="0">
              <a:buNone/>
            </a:pPr>
            <a:r>
              <a:rPr lang="en-US" sz="1300" b="1" dirty="0">
                <a:solidFill>
                  <a:srgbClr val="C62828"/>
                </a:solidFill>
              </a:rPr>
              <a:t>Doublons clients</a:t>
            </a:r>
            <a:endParaRPr lang="en-US" sz="1300" dirty="0"/>
          </a:p>
        </p:txBody>
      </p:sp>
      <p:sp>
        <p:nvSpPr>
          <p:cNvPr id="13" name="Text 11"/>
          <p:cNvSpPr/>
          <p:nvPr/>
        </p:nvSpPr>
        <p:spPr>
          <a:xfrm>
            <a:off x="886968" y="1261872"/>
            <a:ext cx="3566160" cy="640080"/>
          </a:xfrm>
          <a:prstGeom prst="rect">
            <a:avLst/>
          </a:prstGeom>
          <a:noFill/>
          <a:ln/>
        </p:spPr>
        <p:txBody>
          <a:bodyPr wrap="square" lIns="0" tIns="0" rIns="0" bIns="0" rtlCol="0" anchor="ctr"/>
          <a:lstStyle/>
          <a:p>
            <a:pPr indent="0" marL="0">
              <a:buNone/>
            </a:pPr>
            <a:r>
              <a:rPr lang="en-US" sz="1100" dirty="0">
                <a:solidFill>
                  <a:srgbClr val="546E7A"/>
                </a:solidFill>
              </a:rPr>
              <a:t>Un même client est enregistré plusieurs fois sous des identités différentes (variation orthographe, date de naissance, numéro CNI). Impossible de détecter automatiquement les doublons.</a:t>
            </a:r>
            <a:endParaRPr lang="en-US" sz="1100" dirty="0"/>
          </a:p>
        </p:txBody>
      </p:sp>
      <p:sp>
        <p:nvSpPr>
          <p:cNvPr id="14" name="Shape 12"/>
          <p:cNvSpPr/>
          <p:nvPr/>
        </p:nvSpPr>
        <p:spPr>
          <a:xfrm>
            <a:off x="320040" y="2066544"/>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320040" y="2066544"/>
            <a:ext cx="4251960" cy="59436"/>
          </a:xfrm>
          <a:prstGeom prst="rect">
            <a:avLst/>
          </a:prstGeom>
          <a:solidFill>
            <a:srgbClr val="E65100"/>
          </a:solidFill>
          <a:ln/>
        </p:spPr>
      </p:sp>
      <p:sp>
        <p:nvSpPr>
          <p:cNvPr id="16" name="Shape 14"/>
          <p:cNvSpPr/>
          <p:nvPr/>
        </p:nvSpPr>
        <p:spPr>
          <a:xfrm>
            <a:off x="320040" y="2066544"/>
            <a:ext cx="475488" cy="1143000"/>
          </a:xfrm>
          <a:prstGeom prst="rect">
            <a:avLst/>
          </a:prstGeom>
          <a:solidFill>
            <a:srgbClr val="E65100"/>
          </a:solidFill>
          <a:ln/>
        </p:spPr>
      </p:sp>
      <p:sp>
        <p:nvSpPr>
          <p:cNvPr id="17" name="Text 15"/>
          <p:cNvSpPr/>
          <p:nvPr/>
        </p:nvSpPr>
        <p:spPr>
          <a:xfrm>
            <a:off x="320040" y="2066544"/>
            <a:ext cx="475488" cy="114300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8" name="Text 16"/>
          <p:cNvSpPr/>
          <p:nvPr/>
        </p:nvSpPr>
        <p:spPr>
          <a:xfrm>
            <a:off x="886968" y="2157984"/>
            <a:ext cx="3566160" cy="347472"/>
          </a:xfrm>
          <a:prstGeom prst="rect">
            <a:avLst/>
          </a:prstGeom>
          <a:noFill/>
          <a:ln/>
        </p:spPr>
        <p:txBody>
          <a:bodyPr wrap="square" lIns="0" tIns="0" rIns="0" bIns="0" rtlCol="0" anchor="ctr"/>
          <a:lstStyle/>
          <a:p>
            <a:pPr indent="0" marL="0">
              <a:buNone/>
            </a:pPr>
            <a:r>
              <a:rPr lang="en-US" sz="1300" b="1" dirty="0">
                <a:solidFill>
                  <a:srgbClr val="E65100"/>
                </a:solidFill>
              </a:rPr>
              <a:t>Incohérence des données</a:t>
            </a:r>
            <a:endParaRPr lang="en-US" sz="1300" dirty="0"/>
          </a:p>
        </p:txBody>
      </p:sp>
      <p:sp>
        <p:nvSpPr>
          <p:cNvPr id="19" name="Text 17"/>
          <p:cNvSpPr/>
          <p:nvPr/>
        </p:nvSpPr>
        <p:spPr>
          <a:xfrm>
            <a:off x="886968" y="2523744"/>
            <a:ext cx="3566160" cy="640080"/>
          </a:xfrm>
          <a:prstGeom prst="rect">
            <a:avLst/>
          </a:prstGeom>
          <a:noFill/>
          <a:ln/>
        </p:spPr>
        <p:txBody>
          <a:bodyPr wrap="square" lIns="0" tIns="0" rIns="0" bIns="0" rtlCol="0" anchor="ctr"/>
          <a:lstStyle/>
          <a:p>
            <a:pPr indent="0" marL="0">
              <a:buNone/>
            </a:pPr>
            <a:r>
              <a:rPr lang="en-US" sz="1100" dirty="0">
                <a:solidFill>
                  <a:srgbClr val="546E7A"/>
                </a:solidFill>
              </a:rPr>
              <a:t>Les informations d'un même client (adresse, téléphone, situation) peuvent être différentes selon le système consulté → manque de fiabilité généralisé.</a:t>
            </a:r>
            <a:endParaRPr lang="en-US" sz="1100" dirty="0"/>
          </a:p>
        </p:txBody>
      </p:sp>
      <p:sp>
        <p:nvSpPr>
          <p:cNvPr id="20" name="Shape 18"/>
          <p:cNvSpPr/>
          <p:nvPr/>
        </p:nvSpPr>
        <p:spPr>
          <a:xfrm>
            <a:off x="320040" y="3328416"/>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320040" y="3328416"/>
            <a:ext cx="4251960" cy="59436"/>
          </a:xfrm>
          <a:prstGeom prst="rect">
            <a:avLst/>
          </a:prstGeom>
          <a:solidFill>
            <a:srgbClr val="4527A0"/>
          </a:solidFill>
          <a:ln/>
        </p:spPr>
      </p:sp>
      <p:sp>
        <p:nvSpPr>
          <p:cNvPr id="22" name="Shape 20"/>
          <p:cNvSpPr/>
          <p:nvPr/>
        </p:nvSpPr>
        <p:spPr>
          <a:xfrm>
            <a:off x="320040" y="3328416"/>
            <a:ext cx="475488" cy="1143000"/>
          </a:xfrm>
          <a:prstGeom prst="rect">
            <a:avLst/>
          </a:prstGeom>
          <a:solidFill>
            <a:srgbClr val="4527A0"/>
          </a:solidFill>
          <a:ln/>
        </p:spPr>
      </p:sp>
      <p:sp>
        <p:nvSpPr>
          <p:cNvPr id="23" name="Text 21"/>
          <p:cNvSpPr/>
          <p:nvPr/>
        </p:nvSpPr>
        <p:spPr>
          <a:xfrm>
            <a:off x="320040" y="3328416"/>
            <a:ext cx="475488" cy="114300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4" name="Text 22"/>
          <p:cNvSpPr/>
          <p:nvPr/>
        </p:nvSpPr>
        <p:spPr>
          <a:xfrm>
            <a:off x="886968" y="3419856"/>
            <a:ext cx="3566160" cy="347472"/>
          </a:xfrm>
          <a:prstGeom prst="rect">
            <a:avLst/>
          </a:prstGeom>
          <a:noFill/>
          <a:ln/>
        </p:spPr>
        <p:txBody>
          <a:bodyPr wrap="square" lIns="0" tIns="0" rIns="0" bIns="0" rtlCol="0" anchor="ctr"/>
          <a:lstStyle/>
          <a:p>
            <a:pPr indent="0" marL="0">
              <a:buNone/>
            </a:pPr>
            <a:r>
              <a:rPr lang="en-US" sz="1300" b="1" dirty="0">
                <a:solidFill>
                  <a:srgbClr val="4527A0"/>
                </a:solidFill>
              </a:rPr>
              <a:t>Mauvais suivi des crédits</a:t>
            </a:r>
            <a:endParaRPr lang="en-US" sz="1300" dirty="0"/>
          </a:p>
        </p:txBody>
      </p:sp>
      <p:sp>
        <p:nvSpPr>
          <p:cNvPr id="25" name="Text 23"/>
          <p:cNvSpPr/>
          <p:nvPr/>
        </p:nvSpPr>
        <p:spPr>
          <a:xfrm>
            <a:off x="886968" y="3785616"/>
            <a:ext cx="3566160" cy="640080"/>
          </a:xfrm>
          <a:prstGeom prst="rect">
            <a:avLst/>
          </a:prstGeom>
          <a:noFill/>
          <a:ln/>
        </p:spPr>
        <p:txBody>
          <a:bodyPr wrap="square" lIns="0" tIns="0" rIns="0" bIns="0" rtlCol="0" anchor="ctr"/>
          <a:lstStyle/>
          <a:p>
            <a:pPr indent="0" marL="0">
              <a:buNone/>
            </a:pPr>
            <a:r>
              <a:rPr lang="en-US" sz="1100" dirty="0">
                <a:solidFill>
                  <a:srgbClr val="546E7A"/>
                </a:solidFill>
              </a:rPr>
              <a:t>Le système de recouvrement ne sait pas qu'un client en impayé a déjà un nouveau dossier de crédit ouvert. Risque de surendettement non détecté.</a:t>
            </a:r>
            <a:endParaRPr lang="en-US" sz="1100" dirty="0"/>
          </a:p>
        </p:txBody>
      </p:sp>
      <p:sp>
        <p:nvSpPr>
          <p:cNvPr id="26" name="Shape 24"/>
          <p:cNvSpPr/>
          <p:nvPr/>
        </p:nvSpPr>
        <p:spPr>
          <a:xfrm>
            <a:off x="4800600" y="804672"/>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7" name="Shape 25"/>
          <p:cNvSpPr/>
          <p:nvPr/>
        </p:nvSpPr>
        <p:spPr>
          <a:xfrm>
            <a:off x="4800600" y="804672"/>
            <a:ext cx="4251960" cy="59436"/>
          </a:xfrm>
          <a:prstGeom prst="rect">
            <a:avLst/>
          </a:prstGeom>
          <a:solidFill>
            <a:srgbClr val="0D2B55"/>
          </a:solidFill>
          <a:ln/>
        </p:spPr>
      </p:sp>
      <p:sp>
        <p:nvSpPr>
          <p:cNvPr id="28" name="Shape 26"/>
          <p:cNvSpPr/>
          <p:nvPr/>
        </p:nvSpPr>
        <p:spPr>
          <a:xfrm>
            <a:off x="4800600" y="804672"/>
            <a:ext cx="475488" cy="1143000"/>
          </a:xfrm>
          <a:prstGeom prst="rect">
            <a:avLst/>
          </a:prstGeom>
          <a:solidFill>
            <a:srgbClr val="0D2B55"/>
          </a:solidFill>
          <a:ln/>
        </p:spPr>
      </p:sp>
      <p:sp>
        <p:nvSpPr>
          <p:cNvPr id="29" name="Text 27"/>
          <p:cNvSpPr/>
          <p:nvPr/>
        </p:nvSpPr>
        <p:spPr>
          <a:xfrm>
            <a:off x="4800600" y="804672"/>
            <a:ext cx="475488" cy="114300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30" name="Text 28"/>
          <p:cNvSpPr/>
          <p:nvPr/>
        </p:nvSpPr>
        <p:spPr>
          <a:xfrm>
            <a:off x="5367528" y="896112"/>
            <a:ext cx="3566160" cy="347472"/>
          </a:xfrm>
          <a:prstGeom prst="rect">
            <a:avLst/>
          </a:prstGeom>
          <a:noFill/>
          <a:ln/>
        </p:spPr>
        <p:txBody>
          <a:bodyPr wrap="square" lIns="0" tIns="0" rIns="0" bIns="0" rtlCol="0" anchor="ctr"/>
          <a:lstStyle/>
          <a:p>
            <a:pPr indent="0" marL="0">
              <a:buNone/>
            </a:pPr>
            <a:r>
              <a:rPr lang="en-US" sz="1300" b="1" dirty="0">
                <a:solidFill>
                  <a:srgbClr val="0D2B55"/>
                </a:solidFill>
              </a:rPr>
              <a:t>Reporting peu fiable</a:t>
            </a:r>
            <a:endParaRPr lang="en-US" sz="1300" dirty="0"/>
          </a:p>
        </p:txBody>
      </p:sp>
      <p:sp>
        <p:nvSpPr>
          <p:cNvPr id="31" name="Text 29"/>
          <p:cNvSpPr/>
          <p:nvPr/>
        </p:nvSpPr>
        <p:spPr>
          <a:xfrm>
            <a:off x="5367528" y="1261872"/>
            <a:ext cx="3566160" cy="640080"/>
          </a:xfrm>
          <a:prstGeom prst="rect">
            <a:avLst/>
          </a:prstGeom>
          <a:noFill/>
          <a:ln/>
        </p:spPr>
        <p:txBody>
          <a:bodyPr wrap="square" lIns="0" tIns="0" rIns="0" bIns="0" rtlCol="0" anchor="ctr"/>
          <a:lstStyle/>
          <a:p>
            <a:pPr indent="0" marL="0">
              <a:buNone/>
            </a:pPr>
            <a:r>
              <a:rPr lang="en-US" sz="1100" dirty="0">
                <a:solidFill>
                  <a:srgbClr val="546E7A"/>
                </a:solidFill>
              </a:rPr>
              <a:t>Les indicateurs (nb clients actifs, encours total, taux de remboursement) sont faussés par les doublons et les données contradictoires entre systèmes.</a:t>
            </a:r>
            <a:endParaRPr lang="en-US" sz="1100" dirty="0"/>
          </a:p>
        </p:txBody>
      </p:sp>
      <p:sp>
        <p:nvSpPr>
          <p:cNvPr id="32" name="Shape 30"/>
          <p:cNvSpPr/>
          <p:nvPr/>
        </p:nvSpPr>
        <p:spPr>
          <a:xfrm>
            <a:off x="4800600" y="2066544"/>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3" name="Shape 31"/>
          <p:cNvSpPr/>
          <p:nvPr/>
        </p:nvSpPr>
        <p:spPr>
          <a:xfrm>
            <a:off x="4800600" y="2066544"/>
            <a:ext cx="4251960" cy="59436"/>
          </a:xfrm>
          <a:prstGeom prst="rect">
            <a:avLst/>
          </a:prstGeom>
          <a:solidFill>
            <a:srgbClr val="00796B"/>
          </a:solidFill>
          <a:ln/>
        </p:spPr>
      </p:sp>
      <p:sp>
        <p:nvSpPr>
          <p:cNvPr id="34" name="Shape 32"/>
          <p:cNvSpPr/>
          <p:nvPr/>
        </p:nvSpPr>
        <p:spPr>
          <a:xfrm>
            <a:off x="4800600" y="2066544"/>
            <a:ext cx="475488" cy="1143000"/>
          </a:xfrm>
          <a:prstGeom prst="rect">
            <a:avLst/>
          </a:prstGeom>
          <a:solidFill>
            <a:srgbClr val="00796B"/>
          </a:solidFill>
          <a:ln/>
        </p:spPr>
      </p:sp>
      <p:sp>
        <p:nvSpPr>
          <p:cNvPr id="35" name="Text 33"/>
          <p:cNvSpPr/>
          <p:nvPr/>
        </p:nvSpPr>
        <p:spPr>
          <a:xfrm>
            <a:off x="4800600" y="2066544"/>
            <a:ext cx="475488" cy="114300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36" name="Text 34"/>
          <p:cNvSpPr/>
          <p:nvPr/>
        </p:nvSpPr>
        <p:spPr>
          <a:xfrm>
            <a:off x="5367528" y="2157984"/>
            <a:ext cx="3566160" cy="347472"/>
          </a:xfrm>
          <a:prstGeom prst="rect">
            <a:avLst/>
          </a:prstGeom>
          <a:noFill/>
          <a:ln/>
        </p:spPr>
        <p:txBody>
          <a:bodyPr wrap="square" lIns="0" tIns="0" rIns="0" bIns="0" rtlCol="0" anchor="ctr"/>
          <a:lstStyle/>
          <a:p>
            <a:pPr indent="0" marL="0">
              <a:buNone/>
            </a:pPr>
            <a:r>
              <a:rPr lang="en-US" sz="1300" b="1" dirty="0">
                <a:solidFill>
                  <a:srgbClr val="00796B"/>
                </a:solidFill>
              </a:rPr>
              <a:t>Risques réglementaires</a:t>
            </a:r>
            <a:endParaRPr lang="en-US" sz="1300" dirty="0"/>
          </a:p>
        </p:txBody>
      </p:sp>
      <p:sp>
        <p:nvSpPr>
          <p:cNvPr id="37" name="Text 35"/>
          <p:cNvSpPr/>
          <p:nvPr/>
        </p:nvSpPr>
        <p:spPr>
          <a:xfrm>
            <a:off x="5367528" y="2523744"/>
            <a:ext cx="3566160" cy="640080"/>
          </a:xfrm>
          <a:prstGeom prst="rect">
            <a:avLst/>
          </a:prstGeom>
          <a:noFill/>
          <a:ln/>
        </p:spPr>
        <p:txBody>
          <a:bodyPr wrap="square" lIns="0" tIns="0" rIns="0" bIns="0" rtlCol="0" anchor="ctr"/>
          <a:lstStyle/>
          <a:p>
            <a:pPr indent="0" marL="0">
              <a:buNone/>
            </a:pPr>
            <a:r>
              <a:rPr lang="en-US" sz="1100" dirty="0">
                <a:solidFill>
                  <a:srgbClr val="546E7A"/>
                </a:solidFill>
              </a:rPr>
              <a:t>En cas de contrôle prudentiel ou d'audit, l'institution ne peut pas produire un état client consolidé et cohérent → exposition aux sanctions.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00796B"/>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00796B"/>
                </a:solidFill>
              </a:rPr>
              <a:t>Partie 3</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Master Data Concernées</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00796B"/>
                </a:solidFill>
              </a:rPr>
              <a:t>Données de référence à partager entre systèmes</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00796B"/>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3️⃣</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Tableau des Master Data — Données de Référence Clés</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Text 6"/>
          <p:cNvSpPr/>
          <p:nvPr/>
        </p:nvSpPr>
        <p:spPr>
          <a:xfrm>
            <a:off x="320040" y="749808"/>
            <a:ext cx="8503920" cy="329184"/>
          </a:xfrm>
          <a:prstGeom prst="rect">
            <a:avLst/>
          </a:prstGeom>
          <a:noFill/>
          <a:ln/>
        </p:spPr>
        <p:txBody>
          <a:bodyPr wrap="square" lIns="0" tIns="0" rIns="0" bIns="0" rtlCol="0" anchor="ctr"/>
          <a:lstStyle/>
          <a:p>
            <a:pPr indent="0" marL="0">
              <a:buNone/>
            </a:pPr>
            <a:r>
              <a:rPr lang="en-US" sz="1200" i="1" dirty="0">
                <a:solidFill>
                  <a:srgbClr val="546E7A"/>
                </a:solidFill>
              </a:rPr>
              <a:t>Les Master Data sont les données stables, partagées et faisant autorité dans toute l'organisation.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3611880"/>
        </p:xfrm>
        <a:graphic>
          <a:graphicData uri="http://schemas.openxmlformats.org/drawingml/2006/table">
            <a:tbl>
              <a:tblPr/>
              <a:tblGrid>
                <a:gridCol w="384048"/>
                <a:gridCol w="1645920"/>
                <a:gridCol w="1371600"/>
                <a:gridCol w="5102352"/>
              </a:tblGrid>
              <a:tr h="402336">
                <a:tc>
                  <a:txBody>
                    <a:bodyPr/>
                    <a:lstStyle/>
                    <a:p>
                      <a:pPr algn="ctr" indent="0" marL="0">
                        <a:buNone/>
                      </a:pPr>
                      <a:r>
                        <a:rPr lang="en-US" sz="1100" b="1" dirty="0">
                          <a:solidFill>
                            <a:srgbClr val="FFFFFF"/>
                          </a:solidFill>
                        </a:rPr>
                        <a: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0796B"/>
                    </a:solidFill>
                  </a:tcPr>
                </a:tc>
                <a:tc>
                  <a:txBody>
                    <a:bodyPr/>
                    <a:lstStyle/>
                    <a:p>
                      <a:pPr indent="0" marL="0">
                        <a:buNone/>
                      </a:pPr>
                      <a:r>
                        <a:rPr lang="en-US" sz="1100" b="1" dirty="0">
                          <a:solidFill>
                            <a:srgbClr val="FFFFFF"/>
                          </a:solidFill>
                        </a:rPr>
                        <a:t>Donnée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0796B"/>
                    </a:solidFill>
                  </a:tcPr>
                </a:tc>
                <a:tc>
                  <a:txBody>
                    <a:bodyPr/>
                    <a:lstStyle/>
                    <a:p>
                      <a:pPr indent="0" marL="0">
                        <a:buNone/>
                      </a:pPr>
                      <a:r>
                        <a:rPr lang="en-US" sz="1100" b="1" dirty="0">
                          <a:solidFill>
                            <a:srgbClr val="FFFFFF"/>
                          </a:solidFill>
                        </a:rPr>
                        <a:t>Type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0796B"/>
                    </a:solidFill>
                  </a:tcPr>
                </a:tc>
                <a:tc>
                  <a:txBody>
                    <a:bodyPr/>
                    <a:lstStyle/>
                    <a:p>
                      <a:pPr indent="0" marL="0">
                        <a:buNone/>
                      </a:pPr>
                      <a:r>
                        <a:rPr lang="en-US" sz="1100" b="1" dirty="0">
                          <a:solidFill>
                            <a:srgbClr val="FFFFFF"/>
                          </a:solidFill>
                        </a:rPr>
                        <a:t>Pourquoi c'est une Master Data</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0796B"/>
                    </a:solidFill>
                  </a:tcPr>
                </a:tc>
              </a:tr>
              <a:tr h="402336">
                <a:tc>
                  <a:txBody>
                    <a:bodyPr/>
                    <a:lstStyle/>
                    <a:p>
                      <a:pPr indent="0" marL="0">
                        <a:buNone/>
                      </a:pPr>
                      <a:r>
                        <a:rPr lang="en-US" sz="1100" dirty="0">
                          <a:solidFill>
                            <a:srgbClr val="000000"/>
                          </a:solidFill>
                        </a:rPr>
                        <a:t>1</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Identifiant Client Unique (ICU)</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Référentiel</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Clé pivot qui relie tous les systèmes. Sans lui, aucune consolidation n'est possible.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2</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Nom &amp; Prénom</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Identité</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Donnée stable permettant d'identifier formellement un individu dans tous les contextes.</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3</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Date de Naissance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Identité</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Critère de dé-duplication : avec le nom et le numéro CNI, elle permet de détecter les doublons.</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4</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Numéro CNI / Pièce d'identité</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Identité légale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Identifiant légal unique en Guinée. Source officielle d'unicité client.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5</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Agence d'appartenance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Organisation</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Relie le client à une entité géographique et organisationnelle → clé pour le reporting segmenté.</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6</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Type de client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Classification</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Particulier / Groupe / PME — détermine les règles métier applicables dans chaque système.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7</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Statut client (actif/inactif)</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État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Paramètre partagé entre tous les systèmes : un client inactif ne doit pas recevoir de nouveau crédit.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r h="402336">
                <a:tc>
                  <a:txBody>
                    <a:bodyPr/>
                    <a:lstStyle/>
                    <a:p>
                      <a:pPr indent="0" marL="0">
                        <a:buNone/>
                      </a:pPr>
                      <a:r>
                        <a:rPr lang="en-US" sz="1100" dirty="0">
                          <a:solidFill>
                            <a:srgbClr val="000000"/>
                          </a:solidFill>
                        </a:rPr>
                        <a:t>8</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Coordonnées (tel, adresse)</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Contact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c>
                  <a:txBody>
                    <a:bodyPr/>
                    <a:lstStyle/>
                    <a:p>
                      <a:pPr indent="0" marL="0">
                        <a:buNone/>
                      </a:pPr>
                      <a:r>
                        <a:rPr lang="en-US" sz="1100" dirty="0">
                          <a:solidFill>
                            <a:srgbClr val="000000"/>
                          </a:solidFill>
                        </a:rPr>
                        <a:t>Données de contact utilisées par tous les systèmes pour les communications et le recouvrement.</a:t>
                      </a:r>
                      <a:endParaRPr lang="en-US" sz="1100" dirty="0"/>
                    </a:p>
                  </a:txBody>
                  <a:tcPr marL="91440" marR="91440" marT="45720" marB="45720">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4527A0"/>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4527A0"/>
                </a:solidFill>
              </a:rPr>
              <a:t>Partie 4</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Single Source of Truth (SSOT)</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4527A0"/>
                </a:solidFill>
              </a:rPr>
              <a:t>La source officielle de l'identité client</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4527A0"/>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4️⃣</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Définition de la SSOT Client</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777240"/>
            <a:ext cx="8503920" cy="1481328"/>
          </a:xfrm>
          <a:prstGeom prst="rect">
            <a:avLst/>
          </a:prstGeom>
          <a:solidFill>
            <a:srgbClr val="4527A0"/>
          </a:solidFill>
          <a:ln/>
          <a:effectLst>
            <a:outerShdw sx="100000" sy="100000" kx="0" ky="0" algn="bl" rotWithShape="0" blurRad="88900" dist="38100" dir="8100000">
              <a:srgbClr val="000000">
                <a:alpha val="10000"/>
              </a:srgbClr>
            </a:outerShdw>
          </a:effectLst>
        </p:spPr>
      </p:sp>
      <p:sp>
        <p:nvSpPr>
          <p:cNvPr id="9" name="Text 7"/>
          <p:cNvSpPr/>
          <p:nvPr/>
        </p:nvSpPr>
        <p:spPr>
          <a:xfrm>
            <a:off x="502920" y="841248"/>
            <a:ext cx="8229600" cy="438912"/>
          </a:xfrm>
          <a:prstGeom prst="rect">
            <a:avLst/>
          </a:prstGeom>
          <a:noFill/>
          <a:ln/>
        </p:spPr>
        <p:txBody>
          <a:bodyPr wrap="square" lIns="0" tIns="0" rIns="0" bIns="0" rtlCol="0" anchor="ctr"/>
          <a:lstStyle/>
          <a:p>
            <a:pPr indent="0" marL="0">
              <a:buNone/>
            </a:pPr>
            <a:r>
              <a:rPr lang="en-US" sz="1600" b="1" dirty="0">
                <a:solidFill>
                  <a:srgbClr val="E6A817"/>
                </a:solidFill>
              </a:rPr>
              <a:t>🎯 La SSOT : Référentiel Central Client (RCC)</a:t>
            </a:r>
            <a:endParaRPr lang="en-US" sz="1600" dirty="0"/>
          </a:p>
        </p:txBody>
      </p:sp>
      <p:sp>
        <p:nvSpPr>
          <p:cNvPr id="10" name="Text 8"/>
          <p:cNvSpPr/>
          <p:nvPr/>
        </p:nvSpPr>
        <p:spPr>
          <a:xfrm>
            <a:off x="502920" y="1298448"/>
            <a:ext cx="8229600" cy="914400"/>
          </a:xfrm>
          <a:prstGeom prst="rect">
            <a:avLst/>
          </a:prstGeom>
          <a:noFill/>
          <a:ln/>
        </p:spPr>
        <p:txBody>
          <a:bodyPr wrap="square" lIns="0" tIns="0" rIns="0" bIns="0" rtlCol="0" anchor="ctr"/>
          <a:lstStyle/>
          <a:p>
            <a:pPr indent="0" marL="0">
              <a:buNone/>
            </a:pPr>
            <a:r>
              <a:rPr lang="en-US" sz="1200" dirty="0">
                <a:solidFill>
                  <a:srgbClr val="FFFFFF"/>
                </a:solidFill>
              </a:rPr>
              <a:t>La SSOT est le Référentiel Central Client (RCC), adossé au Système d'Ouverture de Comptes (Système 1). C'est le seul endroit où un client est créé, modifié ou désactivé. Tous les autres systèmes consomment cette source sans jamais en créer de copie maître.</a:t>
            </a:r>
            <a:endParaRPr lang="en-US" sz="1200" dirty="0"/>
          </a:p>
        </p:txBody>
      </p:sp>
      <p:sp>
        <p:nvSpPr>
          <p:cNvPr id="11" name="Shape 9"/>
          <p:cNvSpPr/>
          <p:nvPr/>
        </p:nvSpPr>
        <p:spPr>
          <a:xfrm>
            <a:off x="320040" y="2423160"/>
            <a:ext cx="8503920" cy="502920"/>
          </a:xfrm>
          <a:prstGeom prst="rect">
            <a:avLst/>
          </a:prstGeom>
          <a:solidFill>
            <a:srgbClr val="F5F7FA"/>
          </a:solidFill>
          <a:ln/>
          <a:effectLst>
            <a:outerShdw sx="100000" sy="100000" kx="0" ky="0" algn="bl" rotWithShape="0" blurRad="88900" dist="38100" dir="8100000">
              <a:srgbClr val="000000">
                <a:alpha val="10000"/>
              </a:srgbClr>
            </a:outerShdw>
          </a:effectLst>
        </p:spPr>
      </p:sp>
      <p:sp>
        <p:nvSpPr>
          <p:cNvPr id="12" name="Shape 10"/>
          <p:cNvSpPr/>
          <p:nvPr/>
        </p:nvSpPr>
        <p:spPr>
          <a:xfrm>
            <a:off x="320040" y="2423160"/>
            <a:ext cx="45720" cy="502920"/>
          </a:xfrm>
          <a:prstGeom prst="rect">
            <a:avLst/>
          </a:prstGeom>
          <a:solidFill>
            <a:srgbClr val="2E7D32"/>
          </a:solidFill>
          <a:ln/>
        </p:spPr>
      </p:sp>
      <p:sp>
        <p:nvSpPr>
          <p:cNvPr id="13" name="Text 11"/>
          <p:cNvSpPr/>
          <p:nvPr/>
        </p:nvSpPr>
        <p:spPr>
          <a:xfrm>
            <a:off x="457200" y="2423160"/>
            <a:ext cx="2606040" cy="502920"/>
          </a:xfrm>
          <a:prstGeom prst="rect">
            <a:avLst/>
          </a:prstGeom>
          <a:noFill/>
          <a:ln/>
        </p:spPr>
        <p:txBody>
          <a:bodyPr wrap="square" lIns="0" tIns="0" rIns="0" bIns="0" rtlCol="0" anchor="ctr"/>
          <a:lstStyle/>
          <a:p>
            <a:pPr indent="0" marL="0">
              <a:buNone/>
            </a:pPr>
            <a:r>
              <a:rPr lang="en-US" sz="1150" b="1" dirty="0">
                <a:solidFill>
                  <a:srgbClr val="2E7D32"/>
                </a:solidFill>
              </a:rPr>
              <a:t>Qui peut CRÉER un client ?</a:t>
            </a:r>
            <a:endParaRPr lang="en-US" sz="1150" dirty="0"/>
          </a:p>
        </p:txBody>
      </p:sp>
      <p:sp>
        <p:nvSpPr>
          <p:cNvPr id="14" name="Text 12"/>
          <p:cNvSpPr/>
          <p:nvPr/>
        </p:nvSpPr>
        <p:spPr>
          <a:xfrm>
            <a:off x="3154680" y="2423160"/>
            <a:ext cx="5486400" cy="502920"/>
          </a:xfrm>
          <a:prstGeom prst="rect">
            <a:avLst/>
          </a:prstGeom>
          <a:noFill/>
          <a:ln/>
        </p:spPr>
        <p:txBody>
          <a:bodyPr wrap="square" lIns="0" tIns="0" rIns="0" bIns="0" rtlCol="0" anchor="ctr"/>
          <a:lstStyle/>
          <a:p>
            <a:pPr indent="0" marL="0">
              <a:buNone/>
            </a:pPr>
            <a:r>
              <a:rPr lang="en-US" sz="1100" dirty="0">
                <a:solidFill>
                  <a:srgbClr val="1A237E"/>
                </a:solidFill>
              </a:rPr>
              <a:t>Uniquement les agents habilités du Système 1 (Ouverture de Comptes), après vérification des pièces d'identité.</a:t>
            </a:r>
            <a:endParaRPr lang="en-US" sz="1100" dirty="0"/>
          </a:p>
        </p:txBody>
      </p:sp>
      <p:sp>
        <p:nvSpPr>
          <p:cNvPr id="15" name="Shape 13"/>
          <p:cNvSpPr/>
          <p:nvPr/>
        </p:nvSpPr>
        <p:spPr>
          <a:xfrm>
            <a:off x="320040" y="2999232"/>
            <a:ext cx="8503920" cy="5029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320040" y="2999232"/>
            <a:ext cx="45720" cy="502920"/>
          </a:xfrm>
          <a:prstGeom prst="rect">
            <a:avLst/>
          </a:prstGeom>
          <a:solidFill>
            <a:srgbClr val="E65100"/>
          </a:solidFill>
          <a:ln/>
        </p:spPr>
      </p:sp>
      <p:sp>
        <p:nvSpPr>
          <p:cNvPr id="17" name="Text 15"/>
          <p:cNvSpPr/>
          <p:nvPr/>
        </p:nvSpPr>
        <p:spPr>
          <a:xfrm>
            <a:off x="457200" y="2999232"/>
            <a:ext cx="2606040" cy="502920"/>
          </a:xfrm>
          <a:prstGeom prst="rect">
            <a:avLst/>
          </a:prstGeom>
          <a:noFill/>
          <a:ln/>
        </p:spPr>
        <p:txBody>
          <a:bodyPr wrap="square" lIns="0" tIns="0" rIns="0" bIns="0" rtlCol="0" anchor="ctr"/>
          <a:lstStyle/>
          <a:p>
            <a:pPr indent="0" marL="0">
              <a:buNone/>
            </a:pPr>
            <a:r>
              <a:rPr lang="en-US" sz="1150" b="1" dirty="0">
                <a:solidFill>
                  <a:srgbClr val="E65100"/>
                </a:solidFill>
              </a:rPr>
              <a:t>Qui peut MODIFIER un client ?</a:t>
            </a:r>
            <a:endParaRPr lang="en-US" sz="1150" dirty="0"/>
          </a:p>
        </p:txBody>
      </p:sp>
      <p:sp>
        <p:nvSpPr>
          <p:cNvPr id="18" name="Text 16"/>
          <p:cNvSpPr/>
          <p:nvPr/>
        </p:nvSpPr>
        <p:spPr>
          <a:xfrm>
            <a:off x="3154680" y="2999232"/>
            <a:ext cx="5486400" cy="502920"/>
          </a:xfrm>
          <a:prstGeom prst="rect">
            <a:avLst/>
          </a:prstGeom>
          <a:noFill/>
          <a:ln/>
        </p:spPr>
        <p:txBody>
          <a:bodyPr wrap="square" lIns="0" tIns="0" rIns="0" bIns="0" rtlCol="0" anchor="ctr"/>
          <a:lstStyle/>
          <a:p>
            <a:pPr indent="0" marL="0">
              <a:buNone/>
            </a:pPr>
            <a:r>
              <a:rPr lang="en-US" sz="1100" dirty="0">
                <a:solidFill>
                  <a:srgbClr val="1A237E"/>
                </a:solidFill>
              </a:rPr>
              <a:t>Seuls les gestionnaires de comptes autorisés, via le Système 1 uniquement. Toute modification est tracée.</a:t>
            </a:r>
            <a:endParaRPr lang="en-US" sz="1100" dirty="0"/>
          </a:p>
        </p:txBody>
      </p:sp>
      <p:sp>
        <p:nvSpPr>
          <p:cNvPr id="19" name="Shape 17"/>
          <p:cNvSpPr/>
          <p:nvPr/>
        </p:nvSpPr>
        <p:spPr>
          <a:xfrm>
            <a:off x="320040" y="3575304"/>
            <a:ext cx="8503920" cy="502920"/>
          </a:xfrm>
          <a:prstGeom prst="rect">
            <a:avLst/>
          </a:prstGeom>
          <a:solidFill>
            <a:srgbClr val="F5F7FA"/>
          </a:solidFill>
          <a:ln/>
          <a:effectLst>
            <a:outerShdw sx="100000" sy="100000" kx="0" ky="0" algn="bl" rotWithShape="0" blurRad="88900" dist="38100" dir="8100000">
              <a:srgbClr val="000000">
                <a:alpha val="10000"/>
              </a:srgbClr>
            </a:outerShdw>
          </a:effectLst>
        </p:spPr>
      </p:sp>
      <p:sp>
        <p:nvSpPr>
          <p:cNvPr id="20" name="Shape 18"/>
          <p:cNvSpPr/>
          <p:nvPr/>
        </p:nvSpPr>
        <p:spPr>
          <a:xfrm>
            <a:off x="320040" y="3575304"/>
            <a:ext cx="45720" cy="502920"/>
          </a:xfrm>
          <a:prstGeom prst="rect">
            <a:avLst/>
          </a:prstGeom>
          <a:solidFill>
            <a:srgbClr val="1565C0"/>
          </a:solidFill>
          <a:ln/>
        </p:spPr>
      </p:sp>
      <p:sp>
        <p:nvSpPr>
          <p:cNvPr id="21" name="Text 19"/>
          <p:cNvSpPr/>
          <p:nvPr/>
        </p:nvSpPr>
        <p:spPr>
          <a:xfrm>
            <a:off x="457200" y="3575304"/>
            <a:ext cx="2606040" cy="502920"/>
          </a:xfrm>
          <a:prstGeom prst="rect">
            <a:avLst/>
          </a:prstGeom>
          <a:noFill/>
          <a:ln/>
        </p:spPr>
        <p:txBody>
          <a:bodyPr wrap="square" lIns="0" tIns="0" rIns="0" bIns="0" rtlCol="0" anchor="ctr"/>
          <a:lstStyle/>
          <a:p>
            <a:pPr indent="0" marL="0">
              <a:buNone/>
            </a:pPr>
            <a:r>
              <a:rPr lang="en-US" sz="1150" b="1" dirty="0">
                <a:solidFill>
                  <a:srgbClr val="1565C0"/>
                </a:solidFill>
              </a:rPr>
              <a:t>Qui peut CONSULTER ?</a:t>
            </a:r>
            <a:endParaRPr lang="en-US" sz="1150" dirty="0"/>
          </a:p>
        </p:txBody>
      </p:sp>
      <p:sp>
        <p:nvSpPr>
          <p:cNvPr id="22" name="Text 20"/>
          <p:cNvSpPr/>
          <p:nvPr/>
        </p:nvSpPr>
        <p:spPr>
          <a:xfrm>
            <a:off x="3154680" y="3575304"/>
            <a:ext cx="5486400" cy="502920"/>
          </a:xfrm>
          <a:prstGeom prst="rect">
            <a:avLst/>
          </a:prstGeom>
          <a:noFill/>
          <a:ln/>
        </p:spPr>
        <p:txBody>
          <a:bodyPr wrap="square" lIns="0" tIns="0" rIns="0" bIns="0" rtlCol="0" anchor="ctr"/>
          <a:lstStyle/>
          <a:p>
            <a:pPr indent="0" marL="0">
              <a:buNone/>
            </a:pPr>
            <a:r>
              <a:rPr lang="en-US" sz="1100" dirty="0">
                <a:solidFill>
                  <a:srgbClr val="1A237E"/>
                </a:solidFill>
              </a:rPr>
              <a:t>Tous les systèmes (Crédits, Recouvrement, Reporting) en lecture seule via l'API d'interopérabilité.</a:t>
            </a:r>
            <a:endParaRPr lang="en-US" sz="1100" dirty="0"/>
          </a:p>
        </p:txBody>
      </p:sp>
      <p:sp>
        <p:nvSpPr>
          <p:cNvPr id="23" name="Shape 21"/>
          <p:cNvSpPr/>
          <p:nvPr/>
        </p:nvSpPr>
        <p:spPr>
          <a:xfrm>
            <a:off x="320040" y="4151376"/>
            <a:ext cx="8503920" cy="50292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4" name="Shape 22"/>
          <p:cNvSpPr/>
          <p:nvPr/>
        </p:nvSpPr>
        <p:spPr>
          <a:xfrm>
            <a:off x="320040" y="4151376"/>
            <a:ext cx="45720" cy="502920"/>
          </a:xfrm>
          <a:prstGeom prst="rect">
            <a:avLst/>
          </a:prstGeom>
          <a:solidFill>
            <a:srgbClr val="C62828"/>
          </a:solidFill>
          <a:ln/>
        </p:spPr>
      </p:sp>
      <p:sp>
        <p:nvSpPr>
          <p:cNvPr id="25" name="Text 23"/>
          <p:cNvSpPr/>
          <p:nvPr/>
        </p:nvSpPr>
        <p:spPr>
          <a:xfrm>
            <a:off x="457200" y="4151376"/>
            <a:ext cx="2606040" cy="502920"/>
          </a:xfrm>
          <a:prstGeom prst="rect">
            <a:avLst/>
          </a:prstGeom>
          <a:noFill/>
          <a:ln/>
        </p:spPr>
        <p:txBody>
          <a:bodyPr wrap="square" lIns="0" tIns="0" rIns="0" bIns="0" rtlCol="0" anchor="ctr"/>
          <a:lstStyle/>
          <a:p>
            <a:pPr indent="0" marL="0">
              <a:buNone/>
            </a:pPr>
            <a:r>
              <a:rPr lang="en-US" sz="1150" b="1" dirty="0">
                <a:solidFill>
                  <a:srgbClr val="C62828"/>
                </a:solidFill>
              </a:rPr>
              <a:t>Qui peut SUPPRIMER / Désactiver ?</a:t>
            </a:r>
            <a:endParaRPr lang="en-US" sz="1150" dirty="0"/>
          </a:p>
        </p:txBody>
      </p:sp>
      <p:sp>
        <p:nvSpPr>
          <p:cNvPr id="26" name="Text 24"/>
          <p:cNvSpPr/>
          <p:nvPr/>
        </p:nvSpPr>
        <p:spPr>
          <a:xfrm>
            <a:off x="3154680" y="4151376"/>
            <a:ext cx="5486400" cy="502920"/>
          </a:xfrm>
          <a:prstGeom prst="rect">
            <a:avLst/>
          </a:prstGeom>
          <a:noFill/>
          <a:ln/>
        </p:spPr>
        <p:txBody>
          <a:bodyPr wrap="square" lIns="0" tIns="0" rIns="0" bIns="0" rtlCol="0" anchor="ctr"/>
          <a:lstStyle/>
          <a:p>
            <a:pPr indent="0" marL="0">
              <a:buNone/>
            </a:pPr>
            <a:r>
              <a:rPr lang="en-US" sz="1100" dirty="0">
                <a:solidFill>
                  <a:srgbClr val="1A237E"/>
                </a:solidFill>
              </a:rPr>
              <a:t>Uniquement la direction ou un administrateur habilité — jamais un système consommateur.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E65100"/>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E65100"/>
                </a:solidFill>
              </a:rPr>
              <a:t>Partie 5</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Solution d'Harmonisation</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E65100"/>
                </a:solidFill>
              </a:rPr>
              <a:t>ID Unique · API Centrale · Règles de gestion</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E65100"/>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5️⃣</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Schéma Logique de la Solution</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91840" y="804672"/>
            <a:ext cx="2560320" cy="1097280"/>
          </a:xfrm>
          <a:prstGeom prst="rect">
            <a:avLst/>
          </a:prstGeom>
          <a:solidFill>
            <a:srgbClr val="0D2B55"/>
          </a:solidFill>
          <a:ln/>
          <a:effectLst>
            <a:outerShdw sx="100000" sy="100000" kx="0" ky="0" algn="bl" rotWithShape="0" blurRad="88900" dist="38100" dir="8100000">
              <a:srgbClr val="000000">
                <a:alpha val="10000"/>
              </a:srgbClr>
            </a:outerShdw>
          </a:effectLst>
        </p:spPr>
      </p:sp>
      <p:sp>
        <p:nvSpPr>
          <p:cNvPr id="9" name="Shape 7"/>
          <p:cNvSpPr/>
          <p:nvPr/>
        </p:nvSpPr>
        <p:spPr>
          <a:xfrm>
            <a:off x="3291840" y="804672"/>
            <a:ext cx="2560320" cy="59436"/>
          </a:xfrm>
          <a:prstGeom prst="rect">
            <a:avLst/>
          </a:prstGeom>
          <a:solidFill>
            <a:srgbClr val="E6A817"/>
          </a:solidFill>
          <a:ln/>
        </p:spPr>
      </p:sp>
      <p:sp>
        <p:nvSpPr>
          <p:cNvPr id="10" name="Text 8"/>
          <p:cNvSpPr/>
          <p:nvPr/>
        </p:nvSpPr>
        <p:spPr>
          <a:xfrm>
            <a:off x="3291840" y="868680"/>
            <a:ext cx="2560320" cy="411480"/>
          </a:xfrm>
          <a:prstGeom prst="rect">
            <a:avLst/>
          </a:prstGeom>
          <a:noFill/>
          <a:ln/>
        </p:spPr>
        <p:txBody>
          <a:bodyPr wrap="square" lIns="0" tIns="0" rIns="0" bIns="0" rtlCol="0" anchor="ctr"/>
          <a:lstStyle/>
          <a:p>
            <a:pPr algn="ctr" indent="0" marL="0">
              <a:buNone/>
            </a:pPr>
            <a:r>
              <a:rPr lang="en-US" sz="1400" b="1" dirty="0">
                <a:solidFill>
                  <a:srgbClr val="E6A817"/>
                </a:solidFill>
              </a:rPr>
              <a:t>🎯 RCC / SSOT</a:t>
            </a:r>
            <a:endParaRPr lang="en-US" sz="1400" dirty="0"/>
          </a:p>
        </p:txBody>
      </p:sp>
      <p:sp>
        <p:nvSpPr>
          <p:cNvPr id="11" name="Text 9"/>
          <p:cNvSpPr/>
          <p:nvPr/>
        </p:nvSpPr>
        <p:spPr>
          <a:xfrm>
            <a:off x="3291840" y="1298448"/>
            <a:ext cx="2560320" cy="566928"/>
          </a:xfrm>
          <a:prstGeom prst="rect">
            <a:avLst/>
          </a:prstGeom>
          <a:noFill/>
          <a:ln/>
        </p:spPr>
        <p:txBody>
          <a:bodyPr wrap="square" lIns="0" tIns="0" rIns="0" bIns="0" rtlCol="0" anchor="ctr"/>
          <a:lstStyle/>
          <a:p>
            <a:pPr algn="ctr" indent="0" marL="0">
              <a:buNone/>
            </a:pPr>
            <a:r>
              <a:rPr lang="en-US" sz="1100" dirty="0">
                <a:solidFill>
                  <a:srgbClr val="FFFFFF"/>
                </a:solidFill>
              </a:rPr>
              <a:t>Référentiel Central Client</a:t>
            </a:r>
            <a:endParaRPr lang="en-US" sz="1100" dirty="0"/>
          </a:p>
          <a:p>
            <a:pPr algn="ctr" indent="0" marL="0">
              <a:buNone/>
            </a:pPr>
            <a:r>
              <a:rPr lang="en-US" sz="1100" dirty="0">
                <a:solidFill>
                  <a:srgbClr val="FFFFFF"/>
                </a:solidFill>
              </a:rPr>
              <a:t>ID Unique : ICU-XXXXXX</a:t>
            </a:r>
            <a:endParaRPr lang="en-US" sz="1100" dirty="0"/>
          </a:p>
        </p:txBody>
      </p:sp>
      <p:sp>
        <p:nvSpPr>
          <p:cNvPr id="12" name="Shape 10"/>
          <p:cNvSpPr/>
          <p:nvPr/>
        </p:nvSpPr>
        <p:spPr>
          <a:xfrm>
            <a:off x="3566160" y="2121408"/>
            <a:ext cx="2011680" cy="731520"/>
          </a:xfrm>
          <a:prstGeom prst="rect">
            <a:avLst/>
          </a:prstGeom>
          <a:solidFill>
            <a:srgbClr val="E65100"/>
          </a:solidFill>
          <a:ln/>
          <a:effectLst>
            <a:outerShdw sx="100000" sy="100000" kx="0" ky="0" algn="bl" rotWithShape="0" blurRad="88900" dist="38100" dir="8100000">
              <a:srgbClr val="000000">
                <a:alpha val="10000"/>
              </a:srgbClr>
            </a:outerShdw>
          </a:effectLst>
        </p:spPr>
      </p:sp>
      <p:sp>
        <p:nvSpPr>
          <p:cNvPr id="13" name="Text 11"/>
          <p:cNvSpPr/>
          <p:nvPr/>
        </p:nvSpPr>
        <p:spPr>
          <a:xfrm>
            <a:off x="3566160" y="2176272"/>
            <a:ext cx="2011680" cy="621792"/>
          </a:xfrm>
          <a:prstGeom prst="rect">
            <a:avLst/>
          </a:prstGeom>
          <a:noFill/>
          <a:ln/>
        </p:spPr>
        <p:txBody>
          <a:bodyPr wrap="square" lIns="0" tIns="0" rIns="0" bIns="0" rtlCol="0" anchor="ctr"/>
          <a:lstStyle/>
          <a:p>
            <a:pPr algn="ctr" indent="0" marL="0">
              <a:buNone/>
            </a:pPr>
            <a:r>
              <a:rPr lang="en-US" sz="1200" b="1" dirty="0">
                <a:solidFill>
                  <a:srgbClr val="FFFFFF"/>
                </a:solidFill>
              </a:rPr>
              <a:t>🔌 API Centrale</a:t>
            </a:r>
            <a:endParaRPr lang="en-US" sz="1200" dirty="0"/>
          </a:p>
          <a:p>
            <a:pPr algn="ctr" indent="0" marL="0">
              <a:buNone/>
            </a:pPr>
            <a:r>
              <a:rPr lang="en-US" sz="1200" b="1" dirty="0">
                <a:solidFill>
                  <a:srgbClr val="FFFFFF"/>
                </a:solidFill>
              </a:rPr>
              <a:t>d'Interopérabilité</a:t>
            </a:r>
            <a:endParaRPr lang="en-US" sz="1200" dirty="0"/>
          </a:p>
        </p:txBody>
      </p:sp>
      <p:sp>
        <p:nvSpPr>
          <p:cNvPr id="14" name="Shape 12"/>
          <p:cNvSpPr/>
          <p:nvPr/>
        </p:nvSpPr>
        <p:spPr>
          <a:xfrm>
            <a:off x="4572000" y="1901952"/>
            <a:ext cx="0" cy="219456"/>
          </a:xfrm>
          <a:prstGeom prst="line">
            <a:avLst/>
          </a:prstGeom>
          <a:noFill/>
          <a:ln w="31750">
            <a:solidFill>
              <a:srgbClr val="E6A817"/>
            </a:solidFill>
            <a:prstDash val="solid"/>
          </a:ln>
        </p:spPr>
      </p:sp>
      <p:sp>
        <p:nvSpPr>
          <p:cNvPr id="15" name="Shape 13"/>
          <p:cNvSpPr/>
          <p:nvPr/>
        </p:nvSpPr>
        <p:spPr>
          <a:xfrm>
            <a:off x="320040" y="3127248"/>
            <a:ext cx="1920240" cy="10058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320040" y="3127248"/>
            <a:ext cx="1920240" cy="59436"/>
          </a:xfrm>
          <a:prstGeom prst="rect">
            <a:avLst/>
          </a:prstGeom>
          <a:solidFill>
            <a:srgbClr val="00796B"/>
          </a:solidFill>
          <a:ln/>
        </p:spPr>
      </p:sp>
      <p:sp>
        <p:nvSpPr>
          <p:cNvPr id="17" name="Text 15"/>
          <p:cNvSpPr/>
          <p:nvPr/>
        </p:nvSpPr>
        <p:spPr>
          <a:xfrm>
            <a:off x="320040" y="3218688"/>
            <a:ext cx="1920240" cy="804672"/>
          </a:xfrm>
          <a:prstGeom prst="rect">
            <a:avLst/>
          </a:prstGeom>
          <a:noFill/>
          <a:ln/>
        </p:spPr>
        <p:txBody>
          <a:bodyPr wrap="square" lIns="0" tIns="0" rIns="0" bIns="0" rtlCol="0" anchor="ctr"/>
          <a:lstStyle/>
          <a:p>
            <a:pPr algn="ctr" indent="0" marL="0">
              <a:buNone/>
            </a:pPr>
            <a:r>
              <a:rPr lang="en-US" sz="1150" b="1" dirty="0">
                <a:solidFill>
                  <a:srgbClr val="00796B"/>
                </a:solidFill>
              </a:rPr>
              <a:t>Système 2</a:t>
            </a:r>
            <a:endParaRPr lang="en-US" sz="1150" dirty="0"/>
          </a:p>
          <a:p>
            <a:pPr algn="ctr" indent="0" marL="0">
              <a:buNone/>
            </a:pPr>
            <a:r>
              <a:rPr lang="en-US" sz="1150" b="1" dirty="0">
                <a:solidFill>
                  <a:srgbClr val="00796B"/>
                </a:solidFill>
              </a:rPr>
              <a:t>Gestion Crédits</a:t>
            </a:r>
            <a:endParaRPr lang="en-US" sz="1150" dirty="0"/>
          </a:p>
        </p:txBody>
      </p:sp>
      <p:sp>
        <p:nvSpPr>
          <p:cNvPr id="18" name="Shape 16"/>
          <p:cNvSpPr/>
          <p:nvPr/>
        </p:nvSpPr>
        <p:spPr>
          <a:xfrm>
            <a:off x="1280160" y="2852928"/>
            <a:ext cx="0" cy="274320"/>
          </a:xfrm>
          <a:prstGeom prst="line">
            <a:avLst/>
          </a:prstGeom>
          <a:noFill/>
          <a:ln w="19050">
            <a:solidFill>
              <a:srgbClr val="00796B"/>
            </a:solidFill>
            <a:prstDash val="solid"/>
          </a:ln>
        </p:spPr>
      </p:sp>
      <p:sp>
        <p:nvSpPr>
          <p:cNvPr id="19" name="Shape 17"/>
          <p:cNvSpPr/>
          <p:nvPr/>
        </p:nvSpPr>
        <p:spPr>
          <a:xfrm>
            <a:off x="2423160" y="3127248"/>
            <a:ext cx="1920240" cy="10058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0" name="Shape 18"/>
          <p:cNvSpPr/>
          <p:nvPr/>
        </p:nvSpPr>
        <p:spPr>
          <a:xfrm>
            <a:off x="2423160" y="3127248"/>
            <a:ext cx="1920240" cy="59436"/>
          </a:xfrm>
          <a:prstGeom prst="rect">
            <a:avLst/>
          </a:prstGeom>
          <a:solidFill>
            <a:srgbClr val="4527A0"/>
          </a:solidFill>
          <a:ln/>
        </p:spPr>
      </p:sp>
      <p:sp>
        <p:nvSpPr>
          <p:cNvPr id="21" name="Text 19"/>
          <p:cNvSpPr/>
          <p:nvPr/>
        </p:nvSpPr>
        <p:spPr>
          <a:xfrm>
            <a:off x="2423160" y="3218688"/>
            <a:ext cx="1920240" cy="804672"/>
          </a:xfrm>
          <a:prstGeom prst="rect">
            <a:avLst/>
          </a:prstGeom>
          <a:noFill/>
          <a:ln/>
        </p:spPr>
        <p:txBody>
          <a:bodyPr wrap="square" lIns="0" tIns="0" rIns="0" bIns="0" rtlCol="0" anchor="ctr"/>
          <a:lstStyle/>
          <a:p>
            <a:pPr algn="ctr" indent="0" marL="0">
              <a:buNone/>
            </a:pPr>
            <a:r>
              <a:rPr lang="en-US" sz="1150" b="1" dirty="0">
                <a:solidFill>
                  <a:srgbClr val="4527A0"/>
                </a:solidFill>
              </a:rPr>
              <a:t>Système 3</a:t>
            </a:r>
            <a:endParaRPr lang="en-US" sz="1150" dirty="0"/>
          </a:p>
          <a:p>
            <a:pPr algn="ctr" indent="0" marL="0">
              <a:buNone/>
            </a:pPr>
            <a:r>
              <a:rPr lang="en-US" sz="1150" b="1" dirty="0">
                <a:solidFill>
                  <a:srgbClr val="4527A0"/>
                </a:solidFill>
              </a:rPr>
              <a:t>Recouvrement</a:t>
            </a:r>
            <a:endParaRPr lang="en-US" sz="1150" dirty="0"/>
          </a:p>
        </p:txBody>
      </p:sp>
      <p:sp>
        <p:nvSpPr>
          <p:cNvPr id="22" name="Shape 20"/>
          <p:cNvSpPr/>
          <p:nvPr/>
        </p:nvSpPr>
        <p:spPr>
          <a:xfrm>
            <a:off x="3383280" y="2852928"/>
            <a:ext cx="0" cy="274320"/>
          </a:xfrm>
          <a:prstGeom prst="line">
            <a:avLst/>
          </a:prstGeom>
          <a:noFill/>
          <a:ln w="19050">
            <a:solidFill>
              <a:srgbClr val="4527A0"/>
            </a:solidFill>
            <a:prstDash val="solid"/>
          </a:ln>
        </p:spPr>
      </p:sp>
      <p:sp>
        <p:nvSpPr>
          <p:cNvPr id="23" name="Shape 21"/>
          <p:cNvSpPr/>
          <p:nvPr/>
        </p:nvSpPr>
        <p:spPr>
          <a:xfrm>
            <a:off x="4526280" y="3127248"/>
            <a:ext cx="1920240" cy="10058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4" name="Shape 22"/>
          <p:cNvSpPr/>
          <p:nvPr/>
        </p:nvSpPr>
        <p:spPr>
          <a:xfrm>
            <a:off x="4526280" y="3127248"/>
            <a:ext cx="1920240" cy="59436"/>
          </a:xfrm>
          <a:prstGeom prst="rect">
            <a:avLst/>
          </a:prstGeom>
          <a:solidFill>
            <a:srgbClr val="1565C0"/>
          </a:solidFill>
          <a:ln/>
        </p:spPr>
      </p:sp>
      <p:sp>
        <p:nvSpPr>
          <p:cNvPr id="25" name="Text 23"/>
          <p:cNvSpPr/>
          <p:nvPr/>
        </p:nvSpPr>
        <p:spPr>
          <a:xfrm>
            <a:off x="4526280" y="3218688"/>
            <a:ext cx="1920240" cy="804672"/>
          </a:xfrm>
          <a:prstGeom prst="rect">
            <a:avLst/>
          </a:prstGeom>
          <a:noFill/>
          <a:ln/>
        </p:spPr>
        <p:txBody>
          <a:bodyPr wrap="square" lIns="0" tIns="0" rIns="0" bIns="0" rtlCol="0" anchor="ctr"/>
          <a:lstStyle/>
          <a:p>
            <a:pPr algn="ctr" indent="0" marL="0">
              <a:buNone/>
            </a:pPr>
            <a:r>
              <a:rPr lang="en-US" sz="1150" b="1" dirty="0">
                <a:solidFill>
                  <a:srgbClr val="1565C0"/>
                </a:solidFill>
              </a:rPr>
              <a:t>Système 4</a:t>
            </a:r>
            <a:endParaRPr lang="en-US" sz="1150" dirty="0"/>
          </a:p>
          <a:p>
            <a:pPr algn="ctr" indent="0" marL="0">
              <a:buNone/>
            </a:pPr>
            <a:r>
              <a:rPr lang="en-US" sz="1150" b="1" dirty="0">
                <a:solidFill>
                  <a:srgbClr val="1565C0"/>
                </a:solidFill>
              </a:rPr>
              <a:t>Reporting</a:t>
            </a:r>
            <a:endParaRPr lang="en-US" sz="1150" dirty="0"/>
          </a:p>
        </p:txBody>
      </p:sp>
      <p:sp>
        <p:nvSpPr>
          <p:cNvPr id="26" name="Shape 24"/>
          <p:cNvSpPr/>
          <p:nvPr/>
        </p:nvSpPr>
        <p:spPr>
          <a:xfrm>
            <a:off x="5486400" y="2852928"/>
            <a:ext cx="0" cy="274320"/>
          </a:xfrm>
          <a:prstGeom prst="line">
            <a:avLst/>
          </a:prstGeom>
          <a:noFill/>
          <a:ln w="19050">
            <a:solidFill>
              <a:srgbClr val="1565C0"/>
            </a:solidFill>
            <a:prstDash val="solid"/>
          </a:ln>
        </p:spPr>
      </p:sp>
      <p:sp>
        <p:nvSpPr>
          <p:cNvPr id="27" name="Shape 25"/>
          <p:cNvSpPr/>
          <p:nvPr/>
        </p:nvSpPr>
        <p:spPr>
          <a:xfrm>
            <a:off x="6629400" y="3127248"/>
            <a:ext cx="1920240" cy="100584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8" name="Shape 26"/>
          <p:cNvSpPr/>
          <p:nvPr/>
        </p:nvSpPr>
        <p:spPr>
          <a:xfrm>
            <a:off x="6629400" y="3127248"/>
            <a:ext cx="1920240" cy="59436"/>
          </a:xfrm>
          <a:prstGeom prst="rect">
            <a:avLst/>
          </a:prstGeom>
          <a:solidFill>
            <a:srgbClr val="546E7A"/>
          </a:solidFill>
          <a:ln/>
        </p:spPr>
      </p:sp>
      <p:sp>
        <p:nvSpPr>
          <p:cNvPr id="29" name="Text 27"/>
          <p:cNvSpPr/>
          <p:nvPr/>
        </p:nvSpPr>
        <p:spPr>
          <a:xfrm>
            <a:off x="6629400" y="3218688"/>
            <a:ext cx="1920240" cy="804672"/>
          </a:xfrm>
          <a:prstGeom prst="rect">
            <a:avLst/>
          </a:prstGeom>
          <a:noFill/>
          <a:ln/>
        </p:spPr>
        <p:txBody>
          <a:bodyPr wrap="square" lIns="0" tIns="0" rIns="0" bIns="0" rtlCol="0" anchor="ctr"/>
          <a:lstStyle/>
          <a:p>
            <a:pPr algn="ctr" indent="0" marL="0">
              <a:buNone/>
            </a:pPr>
            <a:r>
              <a:rPr lang="en-US" sz="1150" b="1" dirty="0">
                <a:solidFill>
                  <a:srgbClr val="546E7A"/>
                </a:solidFill>
              </a:rPr>
              <a:t>Futur</a:t>
            </a:r>
            <a:endParaRPr lang="en-US" sz="1150" dirty="0"/>
          </a:p>
          <a:p>
            <a:pPr algn="ctr" indent="0" marL="0">
              <a:buNone/>
            </a:pPr>
            <a:r>
              <a:rPr lang="en-US" sz="1150" b="1" dirty="0">
                <a:solidFill>
                  <a:srgbClr val="546E7A"/>
                </a:solidFill>
              </a:rPr>
              <a:t>Système</a:t>
            </a:r>
            <a:endParaRPr lang="en-US" sz="1150" dirty="0"/>
          </a:p>
        </p:txBody>
      </p:sp>
      <p:sp>
        <p:nvSpPr>
          <p:cNvPr id="30" name="Shape 28"/>
          <p:cNvSpPr/>
          <p:nvPr/>
        </p:nvSpPr>
        <p:spPr>
          <a:xfrm>
            <a:off x="7589520" y="2852928"/>
            <a:ext cx="0" cy="274320"/>
          </a:xfrm>
          <a:prstGeom prst="line">
            <a:avLst/>
          </a:prstGeom>
          <a:noFill/>
          <a:ln w="19050">
            <a:solidFill>
              <a:srgbClr val="546E7A"/>
            </a:solidFill>
            <a:prstDash val="solid"/>
          </a:ln>
        </p:spPr>
      </p:sp>
      <p:sp>
        <p:nvSpPr>
          <p:cNvPr id="31" name="Shape 29"/>
          <p:cNvSpPr/>
          <p:nvPr/>
        </p:nvSpPr>
        <p:spPr>
          <a:xfrm>
            <a:off x="1280160" y="2852928"/>
            <a:ext cx="6583680" cy="0"/>
          </a:xfrm>
          <a:prstGeom prst="line">
            <a:avLst/>
          </a:prstGeom>
          <a:noFill/>
          <a:ln w="25400">
            <a:solidFill>
              <a:srgbClr val="E65100"/>
            </a:solidFill>
            <a:prstDash val="dash"/>
          </a:ln>
        </p:spPr>
      </p:sp>
      <p:sp>
        <p:nvSpPr>
          <p:cNvPr id="32" name="Text 30"/>
          <p:cNvSpPr/>
          <p:nvPr/>
        </p:nvSpPr>
        <p:spPr>
          <a:xfrm>
            <a:off x="3200400" y="2871216"/>
            <a:ext cx="2743200" cy="256032"/>
          </a:xfrm>
          <a:prstGeom prst="rect">
            <a:avLst/>
          </a:prstGeom>
          <a:noFill/>
          <a:ln/>
        </p:spPr>
        <p:txBody>
          <a:bodyPr wrap="square" lIns="0" tIns="0" rIns="0" bIns="0" rtlCol="0" anchor="ctr"/>
          <a:lstStyle/>
          <a:p>
            <a:pPr algn="ctr" indent="0" marL="0">
              <a:buNone/>
            </a:pPr>
            <a:r>
              <a:rPr lang="en-US" sz="950" i="1" dirty="0">
                <a:solidFill>
                  <a:srgbClr val="E65100"/>
                </a:solidFill>
              </a:rPr>
              <a:t>Lecture seule via API →</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E65100"/>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5️⃣</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Étapes de Mise en Œuvre de la Solution</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804672"/>
            <a:ext cx="8503920" cy="8229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804672"/>
            <a:ext cx="548640" cy="822960"/>
          </a:xfrm>
          <a:prstGeom prst="rect">
            <a:avLst/>
          </a:prstGeom>
          <a:solidFill>
            <a:srgbClr val="1565C0"/>
          </a:solidFill>
          <a:ln/>
        </p:spPr>
      </p:sp>
      <p:sp>
        <p:nvSpPr>
          <p:cNvPr id="10" name="Text 8"/>
          <p:cNvSpPr/>
          <p:nvPr/>
        </p:nvSpPr>
        <p:spPr>
          <a:xfrm>
            <a:off x="320040" y="804672"/>
            <a:ext cx="548640" cy="82296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11" name="Shape 9"/>
          <p:cNvSpPr/>
          <p:nvPr/>
        </p:nvSpPr>
        <p:spPr>
          <a:xfrm>
            <a:off x="566928" y="1627632"/>
            <a:ext cx="0" cy="137160"/>
          </a:xfrm>
          <a:prstGeom prst="line">
            <a:avLst/>
          </a:prstGeom>
          <a:noFill/>
          <a:ln w="25400">
            <a:solidFill>
              <a:srgbClr val="1565C0"/>
            </a:solidFill>
            <a:prstDash val="solid"/>
          </a:ln>
        </p:spPr>
      </p:sp>
      <p:sp>
        <p:nvSpPr>
          <p:cNvPr id="12" name="Text 10"/>
          <p:cNvSpPr/>
          <p:nvPr/>
        </p:nvSpPr>
        <p:spPr>
          <a:xfrm>
            <a:off x="960120" y="868680"/>
            <a:ext cx="7772400" cy="320040"/>
          </a:xfrm>
          <a:prstGeom prst="rect">
            <a:avLst/>
          </a:prstGeom>
          <a:noFill/>
          <a:ln/>
        </p:spPr>
        <p:txBody>
          <a:bodyPr wrap="square" lIns="0" tIns="0" rIns="0" bIns="0" rtlCol="0" anchor="ctr"/>
          <a:lstStyle/>
          <a:p>
            <a:pPr indent="0" marL="0">
              <a:buNone/>
            </a:pPr>
            <a:r>
              <a:rPr lang="en-US" sz="1300" b="1" dirty="0">
                <a:solidFill>
                  <a:srgbClr val="1565C0"/>
                </a:solidFill>
              </a:rPr>
              <a:t>Créer le Référentiel Central Client (RCC)</a:t>
            </a:r>
            <a:endParaRPr lang="en-US" sz="1300" dirty="0"/>
          </a:p>
        </p:txBody>
      </p:sp>
      <p:sp>
        <p:nvSpPr>
          <p:cNvPr id="13" name="Text 11"/>
          <p:cNvSpPr/>
          <p:nvPr/>
        </p:nvSpPr>
        <p:spPr>
          <a:xfrm>
            <a:off x="960120" y="1207008"/>
            <a:ext cx="7772400" cy="384048"/>
          </a:xfrm>
          <a:prstGeom prst="rect">
            <a:avLst/>
          </a:prstGeom>
          <a:noFill/>
          <a:ln/>
        </p:spPr>
        <p:txBody>
          <a:bodyPr wrap="square" lIns="0" tIns="0" rIns="0" bIns="0" rtlCol="0" anchor="ctr"/>
          <a:lstStyle/>
          <a:p>
            <a:pPr indent="0" marL="0">
              <a:buNone/>
            </a:pPr>
            <a:r>
              <a:rPr lang="en-US" sz="1100" dirty="0">
                <a:solidFill>
                  <a:srgbClr val="546E7A"/>
                </a:solidFill>
              </a:rPr>
              <a:t>Mettre en place une base de données centrale qui gère l'identité unique de chaque client. C'est la SSOT. Elle attribue un ID unique universel : ICU-XXXXXX (Identifiant Client Universel).</a:t>
            </a:r>
            <a:endParaRPr lang="en-US" sz="1100" dirty="0"/>
          </a:p>
        </p:txBody>
      </p:sp>
      <p:sp>
        <p:nvSpPr>
          <p:cNvPr id="14" name="Shape 12"/>
          <p:cNvSpPr/>
          <p:nvPr/>
        </p:nvSpPr>
        <p:spPr>
          <a:xfrm>
            <a:off x="320040" y="1764792"/>
            <a:ext cx="8503920" cy="8229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5" name="Shape 13"/>
          <p:cNvSpPr/>
          <p:nvPr/>
        </p:nvSpPr>
        <p:spPr>
          <a:xfrm>
            <a:off x="320040" y="1764792"/>
            <a:ext cx="548640" cy="822960"/>
          </a:xfrm>
          <a:prstGeom prst="rect">
            <a:avLst/>
          </a:prstGeom>
          <a:solidFill>
            <a:srgbClr val="E65100"/>
          </a:solidFill>
          <a:ln/>
        </p:spPr>
      </p:sp>
      <p:sp>
        <p:nvSpPr>
          <p:cNvPr id="16" name="Text 14"/>
          <p:cNvSpPr/>
          <p:nvPr/>
        </p:nvSpPr>
        <p:spPr>
          <a:xfrm>
            <a:off x="320040" y="1764792"/>
            <a:ext cx="548640" cy="82296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7" name="Shape 15"/>
          <p:cNvSpPr/>
          <p:nvPr/>
        </p:nvSpPr>
        <p:spPr>
          <a:xfrm>
            <a:off x="566928" y="2587752"/>
            <a:ext cx="0" cy="137160"/>
          </a:xfrm>
          <a:prstGeom prst="line">
            <a:avLst/>
          </a:prstGeom>
          <a:noFill/>
          <a:ln w="25400">
            <a:solidFill>
              <a:srgbClr val="E65100"/>
            </a:solidFill>
            <a:prstDash val="solid"/>
          </a:ln>
        </p:spPr>
      </p:sp>
      <p:sp>
        <p:nvSpPr>
          <p:cNvPr id="18" name="Text 16"/>
          <p:cNvSpPr/>
          <p:nvPr/>
        </p:nvSpPr>
        <p:spPr>
          <a:xfrm>
            <a:off x="960120" y="1828800"/>
            <a:ext cx="7772400" cy="320040"/>
          </a:xfrm>
          <a:prstGeom prst="rect">
            <a:avLst/>
          </a:prstGeom>
          <a:noFill/>
          <a:ln/>
        </p:spPr>
        <p:txBody>
          <a:bodyPr wrap="square" lIns="0" tIns="0" rIns="0" bIns="0" rtlCol="0" anchor="ctr"/>
          <a:lstStyle/>
          <a:p>
            <a:pPr indent="0" marL="0">
              <a:buNone/>
            </a:pPr>
            <a:r>
              <a:rPr lang="en-US" sz="1300" b="1" dirty="0">
                <a:solidFill>
                  <a:srgbClr val="E65100"/>
                </a:solidFill>
              </a:rPr>
              <a:t>Déployer l'API d'Interopérabilité</a:t>
            </a:r>
            <a:endParaRPr lang="en-US" sz="1300" dirty="0"/>
          </a:p>
        </p:txBody>
      </p:sp>
      <p:sp>
        <p:nvSpPr>
          <p:cNvPr id="19" name="Text 17"/>
          <p:cNvSpPr/>
          <p:nvPr/>
        </p:nvSpPr>
        <p:spPr>
          <a:xfrm>
            <a:off x="960120" y="2167128"/>
            <a:ext cx="7772400" cy="384048"/>
          </a:xfrm>
          <a:prstGeom prst="rect">
            <a:avLst/>
          </a:prstGeom>
          <a:noFill/>
          <a:ln/>
        </p:spPr>
        <p:txBody>
          <a:bodyPr wrap="square" lIns="0" tIns="0" rIns="0" bIns="0" rtlCol="0" anchor="ctr"/>
          <a:lstStyle/>
          <a:p>
            <a:pPr indent="0" marL="0">
              <a:buNone/>
            </a:pPr>
            <a:r>
              <a:rPr lang="en-US" sz="1100" dirty="0">
                <a:solidFill>
                  <a:srgbClr val="546E7A"/>
                </a:solidFill>
              </a:rPr>
              <a:t>Développer et exposer une API REST qui permet à chaque système (Crédits, Recouvrement, Reporting) de consulter en temps réel le profil client via son ICU.</a:t>
            </a:r>
            <a:endParaRPr lang="en-US" sz="1100" dirty="0"/>
          </a:p>
        </p:txBody>
      </p:sp>
      <p:sp>
        <p:nvSpPr>
          <p:cNvPr id="20" name="Shape 18"/>
          <p:cNvSpPr/>
          <p:nvPr/>
        </p:nvSpPr>
        <p:spPr>
          <a:xfrm>
            <a:off x="320040" y="2724912"/>
            <a:ext cx="8503920" cy="8229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320040" y="2724912"/>
            <a:ext cx="548640" cy="822960"/>
          </a:xfrm>
          <a:prstGeom prst="rect">
            <a:avLst/>
          </a:prstGeom>
          <a:solidFill>
            <a:srgbClr val="00796B"/>
          </a:solidFill>
          <a:ln/>
        </p:spPr>
      </p:sp>
      <p:sp>
        <p:nvSpPr>
          <p:cNvPr id="22" name="Text 20"/>
          <p:cNvSpPr/>
          <p:nvPr/>
        </p:nvSpPr>
        <p:spPr>
          <a:xfrm>
            <a:off x="320040" y="2724912"/>
            <a:ext cx="548640" cy="82296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3" name="Shape 21"/>
          <p:cNvSpPr/>
          <p:nvPr/>
        </p:nvSpPr>
        <p:spPr>
          <a:xfrm>
            <a:off x="566928" y="3547872"/>
            <a:ext cx="0" cy="137160"/>
          </a:xfrm>
          <a:prstGeom prst="line">
            <a:avLst/>
          </a:prstGeom>
          <a:noFill/>
          <a:ln w="25400">
            <a:solidFill>
              <a:srgbClr val="00796B"/>
            </a:solidFill>
            <a:prstDash val="solid"/>
          </a:ln>
        </p:spPr>
      </p:sp>
      <p:sp>
        <p:nvSpPr>
          <p:cNvPr id="24" name="Text 22"/>
          <p:cNvSpPr/>
          <p:nvPr/>
        </p:nvSpPr>
        <p:spPr>
          <a:xfrm>
            <a:off x="960120" y="2788920"/>
            <a:ext cx="7772400" cy="320040"/>
          </a:xfrm>
          <a:prstGeom prst="rect">
            <a:avLst/>
          </a:prstGeom>
          <a:noFill/>
          <a:ln/>
        </p:spPr>
        <p:txBody>
          <a:bodyPr wrap="square" lIns="0" tIns="0" rIns="0" bIns="0" rtlCol="0" anchor="ctr"/>
          <a:lstStyle/>
          <a:p>
            <a:pPr indent="0" marL="0">
              <a:buNone/>
            </a:pPr>
            <a:r>
              <a:rPr lang="en-US" sz="1300" b="1" dirty="0">
                <a:solidFill>
                  <a:srgbClr val="00796B"/>
                </a:solidFill>
              </a:rPr>
              <a:t>Connecter et migrer les systèmes existants</a:t>
            </a:r>
            <a:endParaRPr lang="en-US" sz="1300" dirty="0"/>
          </a:p>
        </p:txBody>
      </p:sp>
      <p:sp>
        <p:nvSpPr>
          <p:cNvPr id="25" name="Text 23"/>
          <p:cNvSpPr/>
          <p:nvPr/>
        </p:nvSpPr>
        <p:spPr>
          <a:xfrm>
            <a:off x="960120" y="3127248"/>
            <a:ext cx="7772400" cy="384048"/>
          </a:xfrm>
          <a:prstGeom prst="rect">
            <a:avLst/>
          </a:prstGeom>
          <a:noFill/>
          <a:ln/>
        </p:spPr>
        <p:txBody>
          <a:bodyPr wrap="square" lIns="0" tIns="0" rIns="0" bIns="0" rtlCol="0" anchor="ctr"/>
          <a:lstStyle/>
          <a:p>
            <a:pPr indent="0" marL="0">
              <a:buNone/>
            </a:pPr>
            <a:r>
              <a:rPr lang="en-US" sz="1100" dirty="0">
                <a:solidFill>
                  <a:srgbClr val="546E7A"/>
                </a:solidFill>
              </a:rPr>
              <a:t>Mapper les anciens identifiants (S1-XXX, CR-XXX, REC-XXX) vers les ICU. Mettre à jour chaque système pour qu'il utilise uniquement l'ICU comme clé client.</a:t>
            </a:r>
            <a:endParaRPr lang="en-US" sz="1100" dirty="0"/>
          </a:p>
        </p:txBody>
      </p:sp>
      <p:sp>
        <p:nvSpPr>
          <p:cNvPr id="26" name="Shape 24"/>
          <p:cNvSpPr/>
          <p:nvPr/>
        </p:nvSpPr>
        <p:spPr>
          <a:xfrm>
            <a:off x="320040" y="3685032"/>
            <a:ext cx="8503920" cy="82296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7" name="Shape 25"/>
          <p:cNvSpPr/>
          <p:nvPr/>
        </p:nvSpPr>
        <p:spPr>
          <a:xfrm>
            <a:off x="320040" y="3685032"/>
            <a:ext cx="548640" cy="822960"/>
          </a:xfrm>
          <a:prstGeom prst="rect">
            <a:avLst/>
          </a:prstGeom>
          <a:solidFill>
            <a:srgbClr val="4527A0"/>
          </a:solidFill>
          <a:ln/>
        </p:spPr>
      </p:sp>
      <p:sp>
        <p:nvSpPr>
          <p:cNvPr id="28" name="Text 26"/>
          <p:cNvSpPr/>
          <p:nvPr/>
        </p:nvSpPr>
        <p:spPr>
          <a:xfrm>
            <a:off x="320040" y="3685032"/>
            <a:ext cx="548640" cy="82296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9" name="Text 27"/>
          <p:cNvSpPr/>
          <p:nvPr/>
        </p:nvSpPr>
        <p:spPr>
          <a:xfrm>
            <a:off x="960120" y="3749040"/>
            <a:ext cx="7772400" cy="320040"/>
          </a:xfrm>
          <a:prstGeom prst="rect">
            <a:avLst/>
          </a:prstGeom>
          <a:noFill/>
          <a:ln/>
        </p:spPr>
        <p:txBody>
          <a:bodyPr wrap="square" lIns="0" tIns="0" rIns="0" bIns="0" rtlCol="0" anchor="ctr"/>
          <a:lstStyle/>
          <a:p>
            <a:pPr indent="0" marL="0">
              <a:buNone/>
            </a:pPr>
            <a:r>
              <a:rPr lang="en-US" sz="1300" b="1" dirty="0">
                <a:solidFill>
                  <a:srgbClr val="4527A0"/>
                </a:solidFill>
              </a:rPr>
              <a:t>Définir et appliquer les règles de gouvernance</a:t>
            </a:r>
            <a:endParaRPr lang="en-US" sz="1300" dirty="0"/>
          </a:p>
        </p:txBody>
      </p:sp>
      <p:sp>
        <p:nvSpPr>
          <p:cNvPr id="30" name="Text 28"/>
          <p:cNvSpPr/>
          <p:nvPr/>
        </p:nvSpPr>
        <p:spPr>
          <a:xfrm>
            <a:off x="960120" y="4087368"/>
            <a:ext cx="7772400" cy="384048"/>
          </a:xfrm>
          <a:prstGeom prst="rect">
            <a:avLst/>
          </a:prstGeom>
          <a:noFill/>
          <a:ln/>
        </p:spPr>
        <p:txBody>
          <a:bodyPr wrap="square" lIns="0" tIns="0" rIns="0" bIns="0" rtlCol="0" anchor="ctr"/>
          <a:lstStyle/>
          <a:p>
            <a:pPr indent="0" marL="0">
              <a:buNone/>
            </a:pPr>
            <a:r>
              <a:rPr lang="en-US" sz="1100" dirty="0">
                <a:solidFill>
                  <a:srgbClr val="546E7A"/>
                </a:solidFill>
              </a:rPr>
              <a:t>Règles obligatoires : un client = un ICU, seul le RCC crée les clients, les autres systèmes sont consommateurs, toute modification est tracée et datée.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E6A817"/>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E6A817"/>
                </a:solidFill>
              </a:rPr>
              <a:t>Partie 6</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Rôle de l'API</a:t>
            </a:r>
            <a:endParaRPr lang="en-US" sz="3200" dirty="0"/>
          </a:p>
          <a:p>
            <a:pPr indent="0" marL="0">
              <a:lnSpc>
                <a:spcPct val="120000"/>
              </a:lnSpc>
              <a:buNone/>
            </a:pPr>
            <a:r>
              <a:rPr lang="en-US" sz="3200" b="1" dirty="0">
                <a:solidFill>
                  <a:srgbClr val="FFFFFF"/>
                </a:solidFill>
              </a:rPr>
              <a:t>d'Interopérabilité</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E6A817"/>
                </a:solidFill>
              </a:rPr>
              <a:t>Ce qu'elle connecte · Ce qu'elle évite</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E6A817"/>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6️⃣</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L'API d'Interopérabilité — Définition &amp; Rôle</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777240"/>
            <a:ext cx="8503920" cy="1005840"/>
          </a:xfrm>
          <a:prstGeom prst="rect">
            <a:avLst/>
          </a:prstGeom>
          <a:solidFill>
            <a:srgbClr val="0D2B55"/>
          </a:solidFill>
          <a:ln/>
          <a:effectLst>
            <a:outerShdw sx="100000" sy="100000" kx="0" ky="0" algn="bl" rotWithShape="0" blurRad="88900" dist="38100" dir="8100000">
              <a:srgbClr val="000000">
                <a:alpha val="10000"/>
              </a:srgbClr>
            </a:outerShdw>
          </a:effectLst>
        </p:spPr>
      </p:sp>
      <p:sp>
        <p:nvSpPr>
          <p:cNvPr id="9" name="Text 7"/>
          <p:cNvSpPr/>
          <p:nvPr/>
        </p:nvSpPr>
        <p:spPr>
          <a:xfrm>
            <a:off x="502920" y="822960"/>
            <a:ext cx="8229600" cy="347472"/>
          </a:xfrm>
          <a:prstGeom prst="rect">
            <a:avLst/>
          </a:prstGeom>
          <a:noFill/>
          <a:ln/>
        </p:spPr>
        <p:txBody>
          <a:bodyPr wrap="square" lIns="0" tIns="0" rIns="0" bIns="0" rtlCol="0" anchor="ctr"/>
          <a:lstStyle/>
          <a:p>
            <a:pPr indent="0" marL="0">
              <a:buNone/>
            </a:pPr>
            <a:r>
              <a:rPr lang="en-US" sz="1400" b="1" dirty="0">
                <a:solidFill>
                  <a:srgbClr val="E6A817"/>
                </a:solidFill>
              </a:rPr>
              <a:t>🔌 Définition</a:t>
            </a:r>
            <a:endParaRPr lang="en-US" sz="1400" dirty="0"/>
          </a:p>
        </p:txBody>
      </p:sp>
      <p:sp>
        <p:nvSpPr>
          <p:cNvPr id="10" name="Text 8"/>
          <p:cNvSpPr/>
          <p:nvPr/>
        </p:nvSpPr>
        <p:spPr>
          <a:xfrm>
            <a:off x="502920" y="1170432"/>
            <a:ext cx="8229600" cy="566928"/>
          </a:xfrm>
          <a:prstGeom prst="rect">
            <a:avLst/>
          </a:prstGeom>
          <a:noFill/>
          <a:ln/>
        </p:spPr>
        <p:txBody>
          <a:bodyPr wrap="square" lIns="0" tIns="0" rIns="0" bIns="0" rtlCol="0" anchor="ctr"/>
          <a:lstStyle/>
          <a:p>
            <a:pPr indent="0" marL="0">
              <a:buNone/>
            </a:pPr>
            <a:r>
              <a:rPr lang="en-US" sz="1200" dirty="0">
                <a:solidFill>
                  <a:srgbClr val="FFFFFF"/>
                </a:solidFill>
              </a:rPr>
              <a:t>L'API (Application Programming Interface) est une interface de communication standardisée qui permet à tous les systèmes de l'institution d'accéder aux mêmes informations client en temps réel, sans créer de doublons ni copier les données.</a:t>
            </a:r>
            <a:endParaRPr lang="en-US" sz="1200" dirty="0"/>
          </a:p>
        </p:txBody>
      </p:sp>
      <p:sp>
        <p:nvSpPr>
          <p:cNvPr id="11" name="Shape 9"/>
          <p:cNvSpPr/>
          <p:nvPr/>
        </p:nvSpPr>
        <p:spPr>
          <a:xfrm>
            <a:off x="320040" y="1938528"/>
            <a:ext cx="420624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2" name="Shape 10"/>
          <p:cNvSpPr/>
          <p:nvPr/>
        </p:nvSpPr>
        <p:spPr>
          <a:xfrm>
            <a:off x="320040" y="1938528"/>
            <a:ext cx="4206240" cy="59436"/>
          </a:xfrm>
          <a:prstGeom prst="rect">
            <a:avLst/>
          </a:prstGeom>
          <a:solidFill>
            <a:srgbClr val="2E7D32"/>
          </a:solidFill>
          <a:ln/>
        </p:spPr>
      </p:sp>
      <p:sp>
        <p:nvSpPr>
          <p:cNvPr id="13" name="Shape 11"/>
          <p:cNvSpPr/>
          <p:nvPr/>
        </p:nvSpPr>
        <p:spPr>
          <a:xfrm>
            <a:off x="320040" y="1938528"/>
            <a:ext cx="4206240" cy="457200"/>
          </a:xfrm>
          <a:prstGeom prst="rect">
            <a:avLst/>
          </a:prstGeom>
          <a:solidFill>
            <a:srgbClr val="2E7D32"/>
          </a:solidFill>
          <a:ln/>
        </p:spPr>
      </p:sp>
      <p:sp>
        <p:nvSpPr>
          <p:cNvPr id="14" name="Text 12"/>
          <p:cNvSpPr/>
          <p:nvPr/>
        </p:nvSpPr>
        <p:spPr>
          <a:xfrm>
            <a:off x="411480" y="1938528"/>
            <a:ext cx="4023360" cy="457200"/>
          </a:xfrm>
          <a:prstGeom prst="rect">
            <a:avLst/>
          </a:prstGeom>
          <a:noFill/>
          <a:ln/>
        </p:spPr>
        <p:txBody>
          <a:bodyPr wrap="square" lIns="0" tIns="0" rIns="0" bIns="0" rtlCol="0" anchor="ctr"/>
          <a:lstStyle/>
          <a:p>
            <a:pPr indent="0" marL="0">
              <a:buNone/>
            </a:pPr>
            <a:r>
              <a:rPr lang="en-US" sz="1300" b="1" dirty="0">
                <a:solidFill>
                  <a:srgbClr val="FFFFFF"/>
                </a:solidFill>
              </a:rPr>
              <a:t>Ce que l'API PERMET</a:t>
            </a:r>
            <a:endParaRPr lang="en-US" sz="1300" dirty="0"/>
          </a:p>
        </p:txBody>
      </p:sp>
      <p:sp>
        <p:nvSpPr>
          <p:cNvPr id="15" name="Text 13"/>
          <p:cNvSpPr/>
          <p:nvPr/>
        </p:nvSpPr>
        <p:spPr>
          <a:xfrm>
            <a:off x="429768" y="2487168"/>
            <a:ext cx="3931920" cy="365760"/>
          </a:xfrm>
          <a:prstGeom prst="rect">
            <a:avLst/>
          </a:prstGeom>
          <a:noFill/>
          <a:ln/>
        </p:spPr>
        <p:txBody>
          <a:bodyPr wrap="square" lIns="0" tIns="0" rIns="0" bIns="0" rtlCol="0" anchor="ctr"/>
          <a:lstStyle/>
          <a:p>
            <a:pPr indent="0" marL="0">
              <a:buNone/>
            </a:pPr>
            <a:r>
              <a:rPr lang="en-US" sz="1150" dirty="0">
                <a:solidFill>
                  <a:srgbClr val="2E7D32"/>
                </a:solidFill>
              </a:rPr>
              <a:t>✅  </a:t>
            </a:r>
            <a:pPr indent="0" marL="0">
              <a:buNone/>
            </a:pPr>
            <a:r>
              <a:rPr lang="en-US" sz="1150" dirty="0">
                <a:solidFill>
                  <a:srgbClr val="1A237E"/>
                </a:solidFill>
              </a:rPr>
              <a:t>Interroger le RCC en temps réel via l'ICU</a:t>
            </a:r>
            <a:endParaRPr lang="en-US" sz="1150" dirty="0"/>
          </a:p>
        </p:txBody>
      </p:sp>
      <p:sp>
        <p:nvSpPr>
          <p:cNvPr id="16" name="Text 14"/>
          <p:cNvSpPr/>
          <p:nvPr/>
        </p:nvSpPr>
        <p:spPr>
          <a:xfrm>
            <a:off x="429768" y="2889504"/>
            <a:ext cx="3931920" cy="365760"/>
          </a:xfrm>
          <a:prstGeom prst="rect">
            <a:avLst/>
          </a:prstGeom>
          <a:noFill/>
          <a:ln/>
        </p:spPr>
        <p:txBody>
          <a:bodyPr wrap="square" lIns="0" tIns="0" rIns="0" bIns="0" rtlCol="0" anchor="ctr"/>
          <a:lstStyle/>
          <a:p>
            <a:pPr indent="0" marL="0">
              <a:buNone/>
            </a:pPr>
            <a:r>
              <a:rPr lang="en-US" sz="1150" dirty="0">
                <a:solidFill>
                  <a:srgbClr val="2E7D32"/>
                </a:solidFill>
              </a:rPr>
              <a:t>✅  </a:t>
            </a:r>
            <a:pPr indent="0" marL="0">
              <a:buNone/>
            </a:pPr>
            <a:r>
              <a:rPr lang="en-US" sz="1150" dirty="0">
                <a:solidFill>
                  <a:srgbClr val="1A237E"/>
                </a:solidFill>
              </a:rPr>
              <a:t>Récupérer le profil client complet depuis un seul point</a:t>
            </a:r>
            <a:endParaRPr lang="en-US" sz="1150" dirty="0"/>
          </a:p>
        </p:txBody>
      </p:sp>
      <p:sp>
        <p:nvSpPr>
          <p:cNvPr id="17" name="Text 15"/>
          <p:cNvSpPr/>
          <p:nvPr/>
        </p:nvSpPr>
        <p:spPr>
          <a:xfrm>
            <a:off x="429768" y="3291840"/>
            <a:ext cx="3931920" cy="365760"/>
          </a:xfrm>
          <a:prstGeom prst="rect">
            <a:avLst/>
          </a:prstGeom>
          <a:noFill/>
          <a:ln/>
        </p:spPr>
        <p:txBody>
          <a:bodyPr wrap="square" lIns="0" tIns="0" rIns="0" bIns="0" rtlCol="0" anchor="ctr"/>
          <a:lstStyle/>
          <a:p>
            <a:pPr indent="0" marL="0">
              <a:buNone/>
            </a:pPr>
            <a:r>
              <a:rPr lang="en-US" sz="1150" dirty="0">
                <a:solidFill>
                  <a:srgbClr val="2E7D32"/>
                </a:solidFill>
              </a:rPr>
              <a:t>✅  </a:t>
            </a:r>
            <a:pPr indent="0" marL="0">
              <a:buNone/>
            </a:pPr>
            <a:r>
              <a:rPr lang="en-US" sz="1150" dirty="0">
                <a:solidFill>
                  <a:srgbClr val="1A237E"/>
                </a:solidFill>
              </a:rPr>
              <a:t>Synchroniser les informations entre systèmes sans redondance</a:t>
            </a:r>
            <a:endParaRPr lang="en-US" sz="1150" dirty="0"/>
          </a:p>
        </p:txBody>
      </p:sp>
      <p:sp>
        <p:nvSpPr>
          <p:cNvPr id="18" name="Text 16"/>
          <p:cNvSpPr/>
          <p:nvPr/>
        </p:nvSpPr>
        <p:spPr>
          <a:xfrm>
            <a:off x="429768" y="3694176"/>
            <a:ext cx="3931920" cy="365760"/>
          </a:xfrm>
          <a:prstGeom prst="rect">
            <a:avLst/>
          </a:prstGeom>
          <a:noFill/>
          <a:ln/>
        </p:spPr>
        <p:txBody>
          <a:bodyPr wrap="square" lIns="0" tIns="0" rIns="0" bIns="0" rtlCol="0" anchor="ctr"/>
          <a:lstStyle/>
          <a:p>
            <a:pPr indent="0" marL="0">
              <a:buNone/>
            </a:pPr>
            <a:r>
              <a:rPr lang="en-US" sz="1150" dirty="0">
                <a:solidFill>
                  <a:srgbClr val="2E7D32"/>
                </a:solidFill>
              </a:rPr>
              <a:t>✅  </a:t>
            </a:r>
            <a:pPr indent="0" marL="0">
              <a:buNone/>
            </a:pPr>
            <a:r>
              <a:rPr lang="en-US" sz="1150" dirty="0">
                <a:solidFill>
                  <a:srgbClr val="1A237E"/>
                </a:solidFill>
              </a:rPr>
              <a:t>Autoriser ou refuser une opération selon le statut client (actif/bloqué)</a:t>
            </a:r>
            <a:endParaRPr lang="en-US" sz="1150" dirty="0"/>
          </a:p>
        </p:txBody>
      </p:sp>
      <p:sp>
        <p:nvSpPr>
          <p:cNvPr id="19" name="Text 17"/>
          <p:cNvSpPr/>
          <p:nvPr/>
        </p:nvSpPr>
        <p:spPr>
          <a:xfrm>
            <a:off x="429768" y="4096512"/>
            <a:ext cx="3931920" cy="365760"/>
          </a:xfrm>
          <a:prstGeom prst="rect">
            <a:avLst/>
          </a:prstGeom>
          <a:noFill/>
          <a:ln/>
        </p:spPr>
        <p:txBody>
          <a:bodyPr wrap="square" lIns="0" tIns="0" rIns="0" bIns="0" rtlCol="0" anchor="ctr"/>
          <a:lstStyle/>
          <a:p>
            <a:pPr indent="0" marL="0">
              <a:buNone/>
            </a:pPr>
            <a:r>
              <a:rPr lang="en-US" sz="1150" dirty="0">
                <a:solidFill>
                  <a:srgbClr val="2E7D32"/>
                </a:solidFill>
              </a:rPr>
              <a:t>✅  </a:t>
            </a:r>
            <a:pPr indent="0" marL="0">
              <a:buNone/>
            </a:pPr>
            <a:r>
              <a:rPr lang="en-US" sz="1150" dirty="0">
                <a:solidFill>
                  <a:srgbClr val="1A237E"/>
                </a:solidFill>
              </a:rPr>
              <a:t>Tracer tous les accès et modifications (piste d'audit)</a:t>
            </a:r>
            <a:endParaRPr lang="en-US" sz="1150" dirty="0"/>
          </a:p>
        </p:txBody>
      </p:sp>
      <p:sp>
        <p:nvSpPr>
          <p:cNvPr id="20" name="Shape 18"/>
          <p:cNvSpPr/>
          <p:nvPr/>
        </p:nvSpPr>
        <p:spPr>
          <a:xfrm>
            <a:off x="4754880" y="1938528"/>
            <a:ext cx="4206240" cy="269748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1" name="Shape 19"/>
          <p:cNvSpPr/>
          <p:nvPr/>
        </p:nvSpPr>
        <p:spPr>
          <a:xfrm>
            <a:off x="4754880" y="1938528"/>
            <a:ext cx="4206240" cy="59436"/>
          </a:xfrm>
          <a:prstGeom prst="rect">
            <a:avLst/>
          </a:prstGeom>
          <a:solidFill>
            <a:srgbClr val="C62828"/>
          </a:solidFill>
          <a:ln/>
        </p:spPr>
      </p:sp>
      <p:sp>
        <p:nvSpPr>
          <p:cNvPr id="22" name="Shape 20"/>
          <p:cNvSpPr/>
          <p:nvPr/>
        </p:nvSpPr>
        <p:spPr>
          <a:xfrm>
            <a:off x="4754880" y="1938528"/>
            <a:ext cx="4206240" cy="457200"/>
          </a:xfrm>
          <a:prstGeom prst="rect">
            <a:avLst/>
          </a:prstGeom>
          <a:solidFill>
            <a:srgbClr val="C62828"/>
          </a:solidFill>
          <a:ln/>
        </p:spPr>
      </p:sp>
      <p:sp>
        <p:nvSpPr>
          <p:cNvPr id="23" name="Text 21"/>
          <p:cNvSpPr/>
          <p:nvPr/>
        </p:nvSpPr>
        <p:spPr>
          <a:xfrm>
            <a:off x="4846320" y="1938528"/>
            <a:ext cx="4023360" cy="457200"/>
          </a:xfrm>
          <a:prstGeom prst="rect">
            <a:avLst/>
          </a:prstGeom>
          <a:noFill/>
          <a:ln/>
        </p:spPr>
        <p:txBody>
          <a:bodyPr wrap="square" lIns="0" tIns="0" rIns="0" bIns="0" rtlCol="0" anchor="ctr"/>
          <a:lstStyle/>
          <a:p>
            <a:pPr indent="0" marL="0">
              <a:buNone/>
            </a:pPr>
            <a:r>
              <a:rPr lang="en-US" sz="1300" b="1" dirty="0">
                <a:solidFill>
                  <a:srgbClr val="FFFFFF"/>
                </a:solidFill>
              </a:rPr>
              <a:t>Ce que l'API ÉVITE</a:t>
            </a:r>
            <a:endParaRPr lang="en-US" sz="1300" dirty="0"/>
          </a:p>
        </p:txBody>
      </p:sp>
      <p:sp>
        <p:nvSpPr>
          <p:cNvPr id="24" name="Text 22"/>
          <p:cNvSpPr/>
          <p:nvPr/>
        </p:nvSpPr>
        <p:spPr>
          <a:xfrm>
            <a:off x="4864608" y="2487168"/>
            <a:ext cx="3931920" cy="365760"/>
          </a:xfrm>
          <a:prstGeom prst="rect">
            <a:avLst/>
          </a:prstGeom>
          <a:noFill/>
          <a:ln/>
        </p:spPr>
        <p:txBody>
          <a:bodyPr wrap="square" lIns="0" tIns="0" rIns="0" bIns="0" rtlCol="0" anchor="ctr"/>
          <a:lstStyle/>
          <a:p>
            <a:pPr indent="0" marL="0">
              <a:buNone/>
            </a:pPr>
            <a:r>
              <a:rPr lang="en-US" sz="1150" dirty="0">
                <a:solidFill>
                  <a:srgbClr val="C62828"/>
                </a:solidFill>
              </a:rPr>
              <a:t>🚫  </a:t>
            </a:r>
            <a:pPr indent="0" marL="0">
              <a:buNone/>
            </a:pPr>
            <a:r>
              <a:rPr lang="en-US" sz="1150" dirty="0">
                <a:solidFill>
                  <a:srgbClr val="1A237E"/>
                </a:solidFill>
              </a:rPr>
              <a:t>La recréation d'un client déjà existant (doublon)</a:t>
            </a:r>
            <a:endParaRPr lang="en-US" sz="1150" dirty="0"/>
          </a:p>
        </p:txBody>
      </p:sp>
      <p:sp>
        <p:nvSpPr>
          <p:cNvPr id="25" name="Text 23"/>
          <p:cNvSpPr/>
          <p:nvPr/>
        </p:nvSpPr>
        <p:spPr>
          <a:xfrm>
            <a:off x="4864608" y="2889504"/>
            <a:ext cx="3931920" cy="365760"/>
          </a:xfrm>
          <a:prstGeom prst="rect">
            <a:avLst/>
          </a:prstGeom>
          <a:noFill/>
          <a:ln/>
        </p:spPr>
        <p:txBody>
          <a:bodyPr wrap="square" lIns="0" tIns="0" rIns="0" bIns="0" rtlCol="0" anchor="ctr"/>
          <a:lstStyle/>
          <a:p>
            <a:pPr indent="0" marL="0">
              <a:buNone/>
            </a:pPr>
            <a:r>
              <a:rPr lang="en-US" sz="1150" dirty="0">
                <a:solidFill>
                  <a:srgbClr val="C62828"/>
                </a:solidFill>
              </a:rPr>
              <a:t>🚫  </a:t>
            </a:r>
            <a:pPr indent="0" marL="0">
              <a:buNone/>
            </a:pPr>
            <a:r>
              <a:rPr lang="en-US" sz="1150" dirty="0">
                <a:solidFill>
                  <a:srgbClr val="1A237E"/>
                </a:solidFill>
              </a:rPr>
              <a:t>Les mises à jour manuelles en cascade dans chaque système</a:t>
            </a:r>
            <a:endParaRPr lang="en-US" sz="1150" dirty="0"/>
          </a:p>
        </p:txBody>
      </p:sp>
      <p:sp>
        <p:nvSpPr>
          <p:cNvPr id="26" name="Text 24"/>
          <p:cNvSpPr/>
          <p:nvPr/>
        </p:nvSpPr>
        <p:spPr>
          <a:xfrm>
            <a:off x="4864608" y="3291840"/>
            <a:ext cx="3931920" cy="365760"/>
          </a:xfrm>
          <a:prstGeom prst="rect">
            <a:avLst/>
          </a:prstGeom>
          <a:noFill/>
          <a:ln/>
        </p:spPr>
        <p:txBody>
          <a:bodyPr wrap="square" lIns="0" tIns="0" rIns="0" bIns="0" rtlCol="0" anchor="ctr"/>
          <a:lstStyle/>
          <a:p>
            <a:pPr indent="0" marL="0">
              <a:buNone/>
            </a:pPr>
            <a:r>
              <a:rPr lang="en-US" sz="1150" dirty="0">
                <a:solidFill>
                  <a:srgbClr val="C62828"/>
                </a:solidFill>
              </a:rPr>
              <a:t>🚫  </a:t>
            </a:r>
            <a:pPr indent="0" marL="0">
              <a:buNone/>
            </a:pPr>
            <a:r>
              <a:rPr lang="en-US" sz="1150" dirty="0">
                <a:solidFill>
                  <a:srgbClr val="1A237E"/>
                </a:solidFill>
              </a:rPr>
              <a:t>Les incohérences de données entre Crédits et Recouvrement</a:t>
            </a:r>
            <a:endParaRPr lang="en-US" sz="1150" dirty="0"/>
          </a:p>
        </p:txBody>
      </p:sp>
      <p:sp>
        <p:nvSpPr>
          <p:cNvPr id="27" name="Text 25"/>
          <p:cNvSpPr/>
          <p:nvPr/>
        </p:nvSpPr>
        <p:spPr>
          <a:xfrm>
            <a:off x="4864608" y="3694176"/>
            <a:ext cx="3931920" cy="365760"/>
          </a:xfrm>
          <a:prstGeom prst="rect">
            <a:avLst/>
          </a:prstGeom>
          <a:noFill/>
          <a:ln/>
        </p:spPr>
        <p:txBody>
          <a:bodyPr wrap="square" lIns="0" tIns="0" rIns="0" bIns="0" rtlCol="0" anchor="ctr"/>
          <a:lstStyle/>
          <a:p>
            <a:pPr indent="0" marL="0">
              <a:buNone/>
            </a:pPr>
            <a:r>
              <a:rPr lang="en-US" sz="1150" dirty="0">
                <a:solidFill>
                  <a:srgbClr val="C62828"/>
                </a:solidFill>
              </a:rPr>
              <a:t>🚫  </a:t>
            </a:r>
            <a:pPr indent="0" marL="0">
              <a:buNone/>
            </a:pPr>
            <a:r>
              <a:rPr lang="en-US" sz="1150" dirty="0">
                <a:solidFill>
                  <a:srgbClr val="1A237E"/>
                </a:solidFill>
              </a:rPr>
              <a:t>Les consultations croisées entre systèmes non connectés</a:t>
            </a:r>
            <a:endParaRPr lang="en-US" sz="1150" dirty="0"/>
          </a:p>
        </p:txBody>
      </p:sp>
      <p:sp>
        <p:nvSpPr>
          <p:cNvPr id="28" name="Text 26"/>
          <p:cNvSpPr/>
          <p:nvPr/>
        </p:nvSpPr>
        <p:spPr>
          <a:xfrm>
            <a:off x="4864608" y="4096512"/>
            <a:ext cx="3931920" cy="365760"/>
          </a:xfrm>
          <a:prstGeom prst="rect">
            <a:avLst/>
          </a:prstGeom>
          <a:noFill/>
          <a:ln/>
        </p:spPr>
        <p:txBody>
          <a:bodyPr wrap="square" lIns="0" tIns="0" rIns="0" bIns="0" rtlCol="0" anchor="ctr"/>
          <a:lstStyle/>
          <a:p>
            <a:pPr indent="0" marL="0">
              <a:buNone/>
            </a:pPr>
            <a:r>
              <a:rPr lang="en-US" sz="1150" dirty="0">
                <a:solidFill>
                  <a:srgbClr val="C62828"/>
                </a:solidFill>
              </a:rPr>
              <a:t>🚫  </a:t>
            </a:r>
            <a:pPr indent="0" marL="0">
              <a:buNone/>
            </a:pPr>
            <a:r>
              <a:rPr lang="en-US" sz="1150" dirty="0">
                <a:solidFill>
                  <a:srgbClr val="1A237E"/>
                </a:solidFill>
              </a:rPr>
              <a:t>Les erreurs humaines liées à la ressaisie de données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2E7D32"/>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640080" y="548640"/>
            <a:ext cx="1097280" cy="109728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640080" y="1508760"/>
            <a:ext cx="1097280" cy="548640"/>
          </a:xfrm>
          <a:prstGeom prst="rect">
            <a:avLst/>
          </a:prstGeom>
          <a:noFill/>
          <a:ln/>
        </p:spPr>
        <p:txBody>
          <a:bodyPr wrap="square" lIns="0" tIns="0" rIns="0" bIns="0" rtlCol="0" anchor="ctr"/>
          <a:lstStyle/>
          <a:p>
            <a:pPr algn="ctr" indent="0" marL="0">
              <a:buNone/>
            </a:pPr>
            <a:r>
              <a:rPr lang="en-US" sz="2800" b="1" dirty="0">
                <a:solidFill>
                  <a:srgbClr val="2E7D32"/>
                </a:solidFill>
              </a:rPr>
              <a:t>Partie 7</a:t>
            </a:r>
            <a:endParaRPr lang="en-US" sz="2800" dirty="0"/>
          </a:p>
        </p:txBody>
      </p:sp>
      <p:sp>
        <p:nvSpPr>
          <p:cNvPr id="6" name="Text 4"/>
          <p:cNvSpPr/>
          <p:nvPr/>
        </p:nvSpPr>
        <p:spPr>
          <a:xfrm>
            <a:off x="1920240" y="960120"/>
            <a:ext cx="6949440" cy="128016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rPr>
              <a:t>Bénéfices de la Solution</a:t>
            </a:r>
            <a:endParaRPr lang="en-US" sz="3200" dirty="0"/>
          </a:p>
        </p:txBody>
      </p:sp>
      <p:sp>
        <p:nvSpPr>
          <p:cNvPr id="7" name="Text 5"/>
          <p:cNvSpPr/>
          <p:nvPr/>
        </p:nvSpPr>
        <p:spPr>
          <a:xfrm>
            <a:off x="1920240" y="2377440"/>
            <a:ext cx="6766560" cy="548640"/>
          </a:xfrm>
          <a:prstGeom prst="rect">
            <a:avLst/>
          </a:prstGeom>
          <a:noFill/>
          <a:ln/>
        </p:spPr>
        <p:txBody>
          <a:bodyPr wrap="square" lIns="0" tIns="0" rIns="0" bIns="0" rtlCol="0" anchor="ctr"/>
          <a:lstStyle/>
          <a:p>
            <a:pPr indent="0" marL="0">
              <a:buNone/>
            </a:pPr>
            <a:r>
              <a:rPr lang="en-US" sz="1600" i="1" dirty="0">
                <a:solidFill>
                  <a:srgbClr val="2E7D32"/>
                </a:solidFill>
              </a:rPr>
              <a:t>5 bénéfices concrets pour l'institution</a:t>
            </a:r>
            <a:endParaRPr lang="en-US" sz="1600" dirty="0"/>
          </a:p>
        </p:txBody>
      </p:sp>
      <p:sp>
        <p:nvSpPr>
          <p:cNvPr id="8" name="Shape 6"/>
          <p:cNvSpPr/>
          <p:nvPr/>
        </p:nvSpPr>
        <p:spPr>
          <a:xfrm>
            <a:off x="0" y="4773168"/>
            <a:ext cx="9144000" cy="370332"/>
          </a:xfrm>
          <a:prstGeom prst="rect">
            <a:avLst/>
          </a:prstGeom>
          <a:solidFill>
            <a:srgbClr val="1565C0"/>
          </a:solidFill>
          <a:ln/>
        </p:spPr>
      </p:sp>
      <p:sp>
        <p:nvSpPr>
          <p:cNvPr id="9" name="Text 7"/>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Use Case 2 — Microfinance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2E7D32"/>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7️⃣</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5 Bénéfices Concrets de la Solution</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804672"/>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804672"/>
            <a:ext cx="4251960" cy="59436"/>
          </a:xfrm>
          <a:prstGeom prst="rect">
            <a:avLst/>
          </a:prstGeom>
          <a:solidFill>
            <a:srgbClr val="1565C0"/>
          </a:solidFill>
          <a:ln/>
        </p:spPr>
      </p:sp>
      <p:sp>
        <p:nvSpPr>
          <p:cNvPr id="10" name="Shape 8"/>
          <p:cNvSpPr/>
          <p:nvPr/>
        </p:nvSpPr>
        <p:spPr>
          <a:xfrm>
            <a:off x="320040" y="804672"/>
            <a:ext cx="594360" cy="1143000"/>
          </a:xfrm>
          <a:prstGeom prst="rect">
            <a:avLst/>
          </a:prstGeom>
          <a:solidFill>
            <a:srgbClr val="1565C0"/>
          </a:solidFill>
          <a:ln/>
        </p:spPr>
      </p:sp>
      <p:sp>
        <p:nvSpPr>
          <p:cNvPr id="11" name="Text 9"/>
          <p:cNvSpPr/>
          <p:nvPr/>
        </p:nvSpPr>
        <p:spPr>
          <a:xfrm>
            <a:off x="320040" y="804672"/>
            <a:ext cx="59436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20040" y="1463040"/>
            <a:ext cx="594360" cy="484632"/>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3" name="Text 11"/>
          <p:cNvSpPr/>
          <p:nvPr/>
        </p:nvSpPr>
        <p:spPr>
          <a:xfrm>
            <a:off x="1005840" y="896112"/>
            <a:ext cx="3456432" cy="347472"/>
          </a:xfrm>
          <a:prstGeom prst="rect">
            <a:avLst/>
          </a:prstGeom>
          <a:noFill/>
          <a:ln/>
        </p:spPr>
        <p:txBody>
          <a:bodyPr wrap="square" lIns="0" tIns="0" rIns="0" bIns="0" rtlCol="0" anchor="ctr"/>
          <a:lstStyle/>
          <a:p>
            <a:pPr indent="0" marL="0">
              <a:buNone/>
            </a:pPr>
            <a:r>
              <a:rPr lang="en-US" sz="1300" b="1" dirty="0">
                <a:solidFill>
                  <a:srgbClr val="1565C0"/>
                </a:solidFill>
              </a:rPr>
              <a:t>Vision Client 360°</a:t>
            </a:r>
            <a:endParaRPr lang="en-US" sz="1300" dirty="0"/>
          </a:p>
        </p:txBody>
      </p:sp>
      <p:sp>
        <p:nvSpPr>
          <p:cNvPr id="14" name="Text 12"/>
          <p:cNvSpPr/>
          <p:nvPr/>
        </p:nvSpPr>
        <p:spPr>
          <a:xfrm>
            <a:off x="1005840" y="1280160"/>
            <a:ext cx="3456432" cy="603504"/>
          </a:xfrm>
          <a:prstGeom prst="rect">
            <a:avLst/>
          </a:prstGeom>
          <a:noFill/>
          <a:ln/>
        </p:spPr>
        <p:txBody>
          <a:bodyPr wrap="square" lIns="0" tIns="0" rIns="0" bIns="0" rtlCol="0" anchor="ctr"/>
          <a:lstStyle/>
          <a:p>
            <a:pPr indent="0" marL="0">
              <a:buNone/>
            </a:pPr>
            <a:r>
              <a:rPr lang="en-US" sz="1100" dirty="0">
                <a:solidFill>
                  <a:srgbClr val="546E7A"/>
                </a:solidFill>
              </a:rPr>
              <a:t>Chaque agent, quel que soit son système, accède au profil complet et unifié du client : comptes, crédits, historique de remboursement, statut de recouvrement.</a:t>
            </a:r>
            <a:endParaRPr lang="en-US" sz="1100" dirty="0"/>
          </a:p>
        </p:txBody>
      </p:sp>
      <p:sp>
        <p:nvSpPr>
          <p:cNvPr id="15" name="Shape 13"/>
          <p:cNvSpPr/>
          <p:nvPr/>
        </p:nvSpPr>
        <p:spPr>
          <a:xfrm>
            <a:off x="320040" y="2066544"/>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6" name="Shape 14"/>
          <p:cNvSpPr/>
          <p:nvPr/>
        </p:nvSpPr>
        <p:spPr>
          <a:xfrm>
            <a:off x="320040" y="2066544"/>
            <a:ext cx="4251960" cy="59436"/>
          </a:xfrm>
          <a:prstGeom prst="rect">
            <a:avLst/>
          </a:prstGeom>
          <a:solidFill>
            <a:srgbClr val="00796B"/>
          </a:solidFill>
          <a:ln/>
        </p:spPr>
      </p:sp>
      <p:sp>
        <p:nvSpPr>
          <p:cNvPr id="17" name="Shape 15"/>
          <p:cNvSpPr/>
          <p:nvPr/>
        </p:nvSpPr>
        <p:spPr>
          <a:xfrm>
            <a:off x="320040" y="2066544"/>
            <a:ext cx="594360" cy="1143000"/>
          </a:xfrm>
          <a:prstGeom prst="rect">
            <a:avLst/>
          </a:prstGeom>
          <a:solidFill>
            <a:srgbClr val="00796B"/>
          </a:solidFill>
          <a:ln/>
        </p:spPr>
      </p:sp>
      <p:sp>
        <p:nvSpPr>
          <p:cNvPr id="18" name="Text 16"/>
          <p:cNvSpPr/>
          <p:nvPr/>
        </p:nvSpPr>
        <p:spPr>
          <a:xfrm>
            <a:off x="320040" y="2066544"/>
            <a:ext cx="59436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320040" y="2724912"/>
            <a:ext cx="594360" cy="484632"/>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8"/>
          <p:cNvSpPr/>
          <p:nvPr/>
        </p:nvSpPr>
        <p:spPr>
          <a:xfrm>
            <a:off x="1005840" y="2157984"/>
            <a:ext cx="3456432" cy="347472"/>
          </a:xfrm>
          <a:prstGeom prst="rect">
            <a:avLst/>
          </a:prstGeom>
          <a:noFill/>
          <a:ln/>
        </p:spPr>
        <p:txBody>
          <a:bodyPr wrap="square" lIns="0" tIns="0" rIns="0" bIns="0" rtlCol="0" anchor="ctr"/>
          <a:lstStyle/>
          <a:p>
            <a:pPr indent="0" marL="0">
              <a:buNone/>
            </a:pPr>
            <a:r>
              <a:rPr lang="en-US" sz="1300" b="1" dirty="0">
                <a:solidFill>
                  <a:srgbClr val="00796B"/>
                </a:solidFill>
              </a:rPr>
              <a:t>Données Fiables &amp; Cohérentes</a:t>
            </a:r>
            <a:endParaRPr lang="en-US" sz="1300" dirty="0"/>
          </a:p>
        </p:txBody>
      </p:sp>
      <p:sp>
        <p:nvSpPr>
          <p:cNvPr id="21" name="Text 19"/>
          <p:cNvSpPr/>
          <p:nvPr/>
        </p:nvSpPr>
        <p:spPr>
          <a:xfrm>
            <a:off x="1005840" y="2542032"/>
            <a:ext cx="3456432" cy="603504"/>
          </a:xfrm>
          <a:prstGeom prst="rect">
            <a:avLst/>
          </a:prstGeom>
          <a:noFill/>
          <a:ln/>
        </p:spPr>
        <p:txBody>
          <a:bodyPr wrap="square" lIns="0" tIns="0" rIns="0" bIns="0" rtlCol="0" anchor="ctr"/>
          <a:lstStyle/>
          <a:p>
            <a:pPr indent="0" marL="0">
              <a:buNone/>
            </a:pPr>
            <a:r>
              <a:rPr lang="en-US" sz="1100" dirty="0">
                <a:solidFill>
                  <a:srgbClr val="546E7A"/>
                </a:solidFill>
              </a:rPr>
              <a:t>Une seule source de vérité élimine les contradictions entre systèmes. Les données affichées sont identiques partout et toujours à jour.</a:t>
            </a:r>
            <a:endParaRPr lang="en-US" sz="1100" dirty="0"/>
          </a:p>
        </p:txBody>
      </p:sp>
      <p:sp>
        <p:nvSpPr>
          <p:cNvPr id="22" name="Shape 20"/>
          <p:cNvSpPr/>
          <p:nvPr/>
        </p:nvSpPr>
        <p:spPr>
          <a:xfrm>
            <a:off x="320040" y="3328416"/>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23" name="Shape 21"/>
          <p:cNvSpPr/>
          <p:nvPr/>
        </p:nvSpPr>
        <p:spPr>
          <a:xfrm>
            <a:off x="320040" y="3328416"/>
            <a:ext cx="4251960" cy="59436"/>
          </a:xfrm>
          <a:prstGeom prst="rect">
            <a:avLst/>
          </a:prstGeom>
          <a:solidFill>
            <a:srgbClr val="E65100"/>
          </a:solidFill>
          <a:ln/>
        </p:spPr>
      </p:sp>
      <p:sp>
        <p:nvSpPr>
          <p:cNvPr id="24" name="Shape 22"/>
          <p:cNvSpPr/>
          <p:nvPr/>
        </p:nvSpPr>
        <p:spPr>
          <a:xfrm>
            <a:off x="320040" y="3328416"/>
            <a:ext cx="594360" cy="1143000"/>
          </a:xfrm>
          <a:prstGeom prst="rect">
            <a:avLst/>
          </a:prstGeom>
          <a:solidFill>
            <a:srgbClr val="E65100"/>
          </a:solidFill>
          <a:ln/>
        </p:spPr>
      </p:sp>
      <p:sp>
        <p:nvSpPr>
          <p:cNvPr id="25" name="Text 23"/>
          <p:cNvSpPr/>
          <p:nvPr/>
        </p:nvSpPr>
        <p:spPr>
          <a:xfrm>
            <a:off x="320040" y="3328416"/>
            <a:ext cx="59436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Text 24"/>
          <p:cNvSpPr/>
          <p:nvPr/>
        </p:nvSpPr>
        <p:spPr>
          <a:xfrm>
            <a:off x="320040" y="3986784"/>
            <a:ext cx="594360" cy="484632"/>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7" name="Text 25"/>
          <p:cNvSpPr/>
          <p:nvPr/>
        </p:nvSpPr>
        <p:spPr>
          <a:xfrm>
            <a:off x="1005840" y="3419856"/>
            <a:ext cx="3456432" cy="347472"/>
          </a:xfrm>
          <a:prstGeom prst="rect">
            <a:avLst/>
          </a:prstGeom>
          <a:noFill/>
          <a:ln/>
        </p:spPr>
        <p:txBody>
          <a:bodyPr wrap="square" lIns="0" tIns="0" rIns="0" bIns="0" rtlCol="0" anchor="ctr"/>
          <a:lstStyle/>
          <a:p>
            <a:pPr indent="0" marL="0">
              <a:buNone/>
            </a:pPr>
            <a:r>
              <a:rPr lang="en-US" sz="1300" b="1" dirty="0">
                <a:solidFill>
                  <a:srgbClr val="E65100"/>
                </a:solidFill>
              </a:rPr>
              <a:t>Réduction des Erreurs &amp; Doublons</a:t>
            </a:r>
            <a:endParaRPr lang="en-US" sz="1300" dirty="0"/>
          </a:p>
        </p:txBody>
      </p:sp>
      <p:sp>
        <p:nvSpPr>
          <p:cNvPr id="28" name="Text 26"/>
          <p:cNvSpPr/>
          <p:nvPr/>
        </p:nvSpPr>
        <p:spPr>
          <a:xfrm>
            <a:off x="1005840" y="3803904"/>
            <a:ext cx="3456432" cy="603504"/>
          </a:xfrm>
          <a:prstGeom prst="rect">
            <a:avLst/>
          </a:prstGeom>
          <a:noFill/>
          <a:ln/>
        </p:spPr>
        <p:txBody>
          <a:bodyPr wrap="square" lIns="0" tIns="0" rIns="0" bIns="0" rtlCol="0" anchor="ctr"/>
          <a:lstStyle/>
          <a:p>
            <a:pPr indent="0" marL="0">
              <a:buNone/>
            </a:pPr>
            <a:r>
              <a:rPr lang="en-US" sz="1100" dirty="0">
                <a:solidFill>
                  <a:srgbClr val="546E7A"/>
                </a:solidFill>
              </a:rPr>
              <a:t>Impossible de créer deux fois le même client. L'API vérifie l'ICU à chaque transaction → zéro doublon, zéro ressaisie manuelle.</a:t>
            </a:r>
            <a:endParaRPr lang="en-US" sz="1100" dirty="0"/>
          </a:p>
        </p:txBody>
      </p:sp>
      <p:sp>
        <p:nvSpPr>
          <p:cNvPr id="29" name="Shape 27"/>
          <p:cNvSpPr/>
          <p:nvPr/>
        </p:nvSpPr>
        <p:spPr>
          <a:xfrm>
            <a:off x="4800600" y="804672"/>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0" name="Shape 28"/>
          <p:cNvSpPr/>
          <p:nvPr/>
        </p:nvSpPr>
        <p:spPr>
          <a:xfrm>
            <a:off x="4800600" y="804672"/>
            <a:ext cx="4251960" cy="59436"/>
          </a:xfrm>
          <a:prstGeom prst="rect">
            <a:avLst/>
          </a:prstGeom>
          <a:solidFill>
            <a:srgbClr val="4527A0"/>
          </a:solidFill>
          <a:ln/>
        </p:spPr>
      </p:sp>
      <p:sp>
        <p:nvSpPr>
          <p:cNvPr id="31" name="Shape 29"/>
          <p:cNvSpPr/>
          <p:nvPr/>
        </p:nvSpPr>
        <p:spPr>
          <a:xfrm>
            <a:off x="4800600" y="804672"/>
            <a:ext cx="594360" cy="1143000"/>
          </a:xfrm>
          <a:prstGeom prst="rect">
            <a:avLst/>
          </a:prstGeom>
          <a:solidFill>
            <a:srgbClr val="4527A0"/>
          </a:solidFill>
          <a:ln/>
        </p:spPr>
      </p:sp>
      <p:sp>
        <p:nvSpPr>
          <p:cNvPr id="32" name="Text 30"/>
          <p:cNvSpPr/>
          <p:nvPr/>
        </p:nvSpPr>
        <p:spPr>
          <a:xfrm>
            <a:off x="4800600" y="804672"/>
            <a:ext cx="59436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31"/>
          <p:cNvSpPr/>
          <p:nvPr/>
        </p:nvSpPr>
        <p:spPr>
          <a:xfrm>
            <a:off x="4800600" y="1463040"/>
            <a:ext cx="594360" cy="484632"/>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34" name="Text 32"/>
          <p:cNvSpPr/>
          <p:nvPr/>
        </p:nvSpPr>
        <p:spPr>
          <a:xfrm>
            <a:off x="5486400" y="896112"/>
            <a:ext cx="3456432" cy="347472"/>
          </a:xfrm>
          <a:prstGeom prst="rect">
            <a:avLst/>
          </a:prstGeom>
          <a:noFill/>
          <a:ln/>
        </p:spPr>
        <p:txBody>
          <a:bodyPr wrap="square" lIns="0" tIns="0" rIns="0" bIns="0" rtlCol="0" anchor="ctr"/>
          <a:lstStyle/>
          <a:p>
            <a:pPr indent="0" marL="0">
              <a:buNone/>
            </a:pPr>
            <a:r>
              <a:rPr lang="en-US" sz="1300" b="1" dirty="0">
                <a:solidFill>
                  <a:srgbClr val="4527A0"/>
                </a:solidFill>
              </a:rPr>
              <a:t>Meilleure Prise de Décision</a:t>
            </a:r>
            <a:endParaRPr lang="en-US" sz="1300" dirty="0"/>
          </a:p>
        </p:txBody>
      </p:sp>
      <p:sp>
        <p:nvSpPr>
          <p:cNvPr id="35" name="Text 33"/>
          <p:cNvSpPr/>
          <p:nvPr/>
        </p:nvSpPr>
        <p:spPr>
          <a:xfrm>
            <a:off x="5486400" y="1280160"/>
            <a:ext cx="3456432" cy="603504"/>
          </a:xfrm>
          <a:prstGeom prst="rect">
            <a:avLst/>
          </a:prstGeom>
          <a:noFill/>
          <a:ln/>
        </p:spPr>
        <p:txBody>
          <a:bodyPr wrap="square" lIns="0" tIns="0" rIns="0" bIns="0" rtlCol="0" anchor="ctr"/>
          <a:lstStyle/>
          <a:p>
            <a:pPr indent="0" marL="0">
              <a:buNone/>
            </a:pPr>
            <a:r>
              <a:rPr lang="en-US" sz="1100" dirty="0">
                <a:solidFill>
                  <a:srgbClr val="546E7A"/>
                </a:solidFill>
              </a:rPr>
              <a:t>Le reporting est consolidé sur des données exactes. La direction peut prendre des décisions stratégiques fiables (portefeuille crédit réel, taux d'impayés précis).</a:t>
            </a:r>
            <a:endParaRPr lang="en-US" sz="1100" dirty="0"/>
          </a:p>
        </p:txBody>
      </p:sp>
      <p:sp>
        <p:nvSpPr>
          <p:cNvPr id="36" name="Shape 34"/>
          <p:cNvSpPr/>
          <p:nvPr/>
        </p:nvSpPr>
        <p:spPr>
          <a:xfrm>
            <a:off x="4800600" y="2066544"/>
            <a:ext cx="4251960" cy="11430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37" name="Shape 35"/>
          <p:cNvSpPr/>
          <p:nvPr/>
        </p:nvSpPr>
        <p:spPr>
          <a:xfrm>
            <a:off x="4800600" y="2066544"/>
            <a:ext cx="4251960" cy="59436"/>
          </a:xfrm>
          <a:prstGeom prst="rect">
            <a:avLst/>
          </a:prstGeom>
          <a:solidFill>
            <a:srgbClr val="2E7D32"/>
          </a:solidFill>
          <a:ln/>
        </p:spPr>
      </p:sp>
      <p:sp>
        <p:nvSpPr>
          <p:cNvPr id="38" name="Shape 36"/>
          <p:cNvSpPr/>
          <p:nvPr/>
        </p:nvSpPr>
        <p:spPr>
          <a:xfrm>
            <a:off x="4800600" y="2066544"/>
            <a:ext cx="594360" cy="1143000"/>
          </a:xfrm>
          <a:prstGeom prst="rect">
            <a:avLst/>
          </a:prstGeom>
          <a:solidFill>
            <a:srgbClr val="2E7D32"/>
          </a:solidFill>
          <a:ln/>
        </p:spPr>
      </p:sp>
      <p:sp>
        <p:nvSpPr>
          <p:cNvPr id="39" name="Text 37"/>
          <p:cNvSpPr/>
          <p:nvPr/>
        </p:nvSpPr>
        <p:spPr>
          <a:xfrm>
            <a:off x="4800600" y="2066544"/>
            <a:ext cx="59436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Text 38"/>
          <p:cNvSpPr/>
          <p:nvPr/>
        </p:nvSpPr>
        <p:spPr>
          <a:xfrm>
            <a:off x="4800600" y="2724912"/>
            <a:ext cx="594360" cy="484632"/>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41" name="Text 39"/>
          <p:cNvSpPr/>
          <p:nvPr/>
        </p:nvSpPr>
        <p:spPr>
          <a:xfrm>
            <a:off x="5486400" y="2157984"/>
            <a:ext cx="3456432" cy="347472"/>
          </a:xfrm>
          <a:prstGeom prst="rect">
            <a:avLst/>
          </a:prstGeom>
          <a:noFill/>
          <a:ln/>
        </p:spPr>
        <p:txBody>
          <a:bodyPr wrap="square" lIns="0" tIns="0" rIns="0" bIns="0" rtlCol="0" anchor="ctr"/>
          <a:lstStyle/>
          <a:p>
            <a:pPr indent="0" marL="0">
              <a:buNone/>
            </a:pPr>
            <a:r>
              <a:rPr lang="en-US" sz="1300" b="1" dirty="0">
                <a:solidFill>
                  <a:srgbClr val="2E7D32"/>
                </a:solidFill>
              </a:rPr>
              <a:t>Conformité Réglementaire</a:t>
            </a:r>
            <a:endParaRPr lang="en-US" sz="1300" dirty="0"/>
          </a:p>
        </p:txBody>
      </p:sp>
      <p:sp>
        <p:nvSpPr>
          <p:cNvPr id="42" name="Text 40"/>
          <p:cNvSpPr/>
          <p:nvPr/>
        </p:nvSpPr>
        <p:spPr>
          <a:xfrm>
            <a:off x="5486400" y="2542032"/>
            <a:ext cx="3456432" cy="603504"/>
          </a:xfrm>
          <a:prstGeom prst="rect">
            <a:avLst/>
          </a:prstGeom>
          <a:noFill/>
          <a:ln/>
        </p:spPr>
        <p:txBody>
          <a:bodyPr wrap="square" lIns="0" tIns="0" rIns="0" bIns="0" rtlCol="0" anchor="ctr"/>
          <a:lstStyle/>
          <a:p>
            <a:pPr indent="0" marL="0">
              <a:buNone/>
            </a:pPr>
            <a:r>
              <a:rPr lang="en-US" sz="1100" dirty="0">
                <a:solidFill>
                  <a:srgbClr val="546E7A"/>
                </a:solidFill>
              </a:rPr>
              <a:t>L'institution peut produire en temps réel un dossier client consolidé lors d'un contrôle. Elle répond aux exigences des superviseurs bancaires et réduit son risque légal.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55"/>
          </a:solidFill>
          <a:ln/>
        </p:spPr>
      </p:sp>
      <p:sp>
        <p:nvSpPr>
          <p:cNvPr id="3" name="Shape 1"/>
          <p:cNvSpPr/>
          <p:nvPr/>
        </p:nvSpPr>
        <p:spPr>
          <a:xfrm>
            <a:off x="0" y="0"/>
            <a:ext cx="658368" cy="658368"/>
          </a:xfrm>
          <a:prstGeom prst="rect">
            <a:avLst/>
          </a:prstGeom>
          <a:solidFill>
            <a:srgbClr val="E6A817"/>
          </a:solidFill>
          <a:ln/>
        </p:spPr>
      </p:sp>
      <p:sp>
        <p:nvSpPr>
          <p:cNvPr id="4" name="Text 2"/>
          <p:cNvSpPr/>
          <p:nvPr/>
        </p:nvSpPr>
        <p:spPr>
          <a:xfrm>
            <a:off x="0" y="0"/>
            <a:ext cx="658368" cy="658368"/>
          </a:xfrm>
          <a:prstGeom prst="rect">
            <a:avLst/>
          </a:prstGeom>
          <a:noFill/>
          <a:ln/>
        </p:spPr>
        <p:txBody>
          <a:bodyPr wrap="square" lIns="0" tIns="0" rIns="0" bIns="0" rtlCol="0" anchor="ctr"/>
          <a:lstStyle/>
          <a:p>
            <a:pPr algn="ctr" indent="0" marL="0">
              <a:buNone/>
            </a:pPr>
            <a:r>
              <a:rPr lang="en-US" sz="2000" b="1" dirty="0">
                <a:solidFill>
                  <a:srgbClr val="0D2B55"/>
                </a:solidFill>
              </a:rPr>
              <a:t>★</a:t>
            </a:r>
            <a:endParaRPr lang="en-US" sz="2000" dirty="0"/>
          </a:p>
        </p:txBody>
      </p:sp>
      <p:sp>
        <p:nvSpPr>
          <p:cNvPr id="5" name="Text 3"/>
          <p:cNvSpPr/>
          <p:nvPr/>
        </p:nvSpPr>
        <p:spPr>
          <a:xfrm>
            <a:off x="777240" y="36576"/>
            <a:ext cx="8138160" cy="585216"/>
          </a:xfrm>
          <a:prstGeom prst="rect">
            <a:avLst/>
          </a:prstGeom>
          <a:noFill/>
          <a:ln/>
        </p:spPr>
        <p:txBody>
          <a:bodyPr wrap="square" lIns="0" tIns="0" rIns="0" bIns="0" rtlCol="0" anchor="ctr"/>
          <a:lstStyle/>
          <a:p>
            <a:pPr indent="0" marL="0">
              <a:buNone/>
            </a:pPr>
            <a:r>
              <a:rPr lang="en-US" sz="2000" b="1" dirty="0">
                <a:solidFill>
                  <a:srgbClr val="FFFFFF"/>
                </a:solidFill>
              </a:rPr>
              <a:t>Synthèse — De la Fragmentation à l'Unification</a:t>
            </a:r>
            <a:endParaRPr lang="en-US" sz="2000" dirty="0"/>
          </a:p>
        </p:txBody>
      </p:sp>
      <p:sp>
        <p:nvSpPr>
          <p:cNvPr id="6" name="Shape 4"/>
          <p:cNvSpPr/>
          <p:nvPr/>
        </p:nvSpPr>
        <p:spPr>
          <a:xfrm>
            <a:off x="0" y="4846320"/>
            <a:ext cx="9144000" cy="297180"/>
          </a:xfrm>
          <a:prstGeom prst="rect">
            <a:avLst/>
          </a:prstGeom>
          <a:solidFill>
            <a:srgbClr val="1565C0"/>
          </a:solidFill>
          <a:ln/>
        </p:spPr>
      </p:sp>
      <p:sp>
        <p:nvSpPr>
          <p:cNvPr id="7" name="Text 5"/>
          <p:cNvSpPr/>
          <p:nvPr/>
        </p:nvSpPr>
        <p:spPr>
          <a:xfrm>
            <a:off x="0" y="4846320"/>
            <a:ext cx="9144000" cy="297180"/>
          </a:xfrm>
          <a:prstGeom prst="rect">
            <a:avLst/>
          </a:prstGeom>
          <a:noFill/>
          <a:ln/>
        </p:spPr>
        <p:txBody>
          <a:bodyPr wrap="square" lIns="0" tIns="0" rIns="0" bIns="0" rtlCol="0" anchor="ctr"/>
          <a:lstStyle/>
          <a:p>
            <a:pPr algn="ctr" indent="0" marL="0">
              <a:buNone/>
            </a:pPr>
            <a:r>
              <a:rPr lang="en-US" sz="950" i="1" dirty="0">
                <a:solidFill>
                  <a:srgbClr val="E6A817"/>
                </a:solidFill>
              </a:rPr>
              <a:t>Exercice Use Case 2 — Microfinance : Identifiant Client Unique &amp; API d'Interopérabilité</a:t>
            </a:r>
            <a:endParaRPr lang="en-US" sz="950" dirty="0"/>
          </a:p>
        </p:txBody>
      </p:sp>
      <p:sp>
        <p:nvSpPr>
          <p:cNvPr id="8" name="Shape 6"/>
          <p:cNvSpPr/>
          <p:nvPr/>
        </p:nvSpPr>
        <p:spPr>
          <a:xfrm>
            <a:off x="320040" y="777240"/>
            <a:ext cx="3931920" cy="38862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9" name="Shape 7"/>
          <p:cNvSpPr/>
          <p:nvPr/>
        </p:nvSpPr>
        <p:spPr>
          <a:xfrm>
            <a:off x="320040" y="777240"/>
            <a:ext cx="3931920" cy="59436"/>
          </a:xfrm>
          <a:prstGeom prst="rect">
            <a:avLst/>
          </a:prstGeom>
          <a:solidFill>
            <a:srgbClr val="C62828"/>
          </a:solidFill>
          <a:ln/>
        </p:spPr>
      </p:sp>
      <p:sp>
        <p:nvSpPr>
          <p:cNvPr id="10" name="Shape 8"/>
          <p:cNvSpPr/>
          <p:nvPr/>
        </p:nvSpPr>
        <p:spPr>
          <a:xfrm>
            <a:off x="320040" y="777240"/>
            <a:ext cx="3931920" cy="475488"/>
          </a:xfrm>
          <a:prstGeom prst="rect">
            <a:avLst/>
          </a:prstGeom>
          <a:solidFill>
            <a:srgbClr val="C62828"/>
          </a:solidFill>
          <a:ln/>
        </p:spPr>
      </p:sp>
      <p:sp>
        <p:nvSpPr>
          <p:cNvPr id="11" name="Text 9"/>
          <p:cNvSpPr/>
          <p:nvPr/>
        </p:nvSpPr>
        <p:spPr>
          <a:xfrm>
            <a:off x="411480" y="777240"/>
            <a:ext cx="3749040" cy="475488"/>
          </a:xfrm>
          <a:prstGeom prst="rect">
            <a:avLst/>
          </a:prstGeom>
          <a:noFill/>
          <a:ln/>
        </p:spPr>
        <p:txBody>
          <a:bodyPr wrap="square" lIns="0" tIns="0" rIns="0" bIns="0" rtlCol="0" anchor="ctr"/>
          <a:lstStyle/>
          <a:p>
            <a:pPr indent="0" marL="0">
              <a:buNone/>
            </a:pPr>
            <a:r>
              <a:rPr lang="en-US" sz="1300" b="1" dirty="0">
                <a:solidFill>
                  <a:srgbClr val="FFFFFF"/>
                </a:solidFill>
              </a:rPr>
              <a:t>❌  Avant — Situation actuelle</a:t>
            </a:r>
            <a:endParaRPr lang="en-US" sz="1300" dirty="0"/>
          </a:p>
        </p:txBody>
      </p:sp>
      <p:sp>
        <p:nvSpPr>
          <p:cNvPr id="12" name="Text 10"/>
          <p:cNvSpPr/>
          <p:nvPr/>
        </p:nvSpPr>
        <p:spPr>
          <a:xfrm>
            <a:off x="457200" y="1371600"/>
            <a:ext cx="3657600" cy="475488"/>
          </a:xfrm>
          <a:prstGeom prst="rect">
            <a:avLst/>
          </a:prstGeom>
          <a:noFill/>
          <a:ln/>
        </p:spPr>
        <p:txBody>
          <a:bodyPr wrap="square" lIns="0" tIns="0" rIns="0" bIns="0" rtlCol="0" anchor="ctr"/>
          <a:lstStyle/>
          <a:p>
            <a:pPr indent="0" marL="0">
              <a:buNone/>
            </a:pPr>
            <a:r>
              <a:rPr lang="en-US" sz="1200" b="1" dirty="0">
                <a:solidFill>
                  <a:srgbClr val="C62828"/>
                </a:solidFill>
              </a:rPr>
              <a:t>✗  </a:t>
            </a:r>
            <a:pPr indent="0" marL="0">
              <a:buNone/>
            </a:pPr>
            <a:r>
              <a:rPr lang="en-US" sz="1200" dirty="0">
                <a:solidFill>
                  <a:srgbClr val="1A237E"/>
                </a:solidFill>
              </a:rPr>
              <a:t>4 identifiants différents par client</a:t>
            </a:r>
            <a:endParaRPr lang="en-US" sz="1200" dirty="0"/>
          </a:p>
        </p:txBody>
      </p:sp>
      <p:sp>
        <p:nvSpPr>
          <p:cNvPr id="13" name="Text 11"/>
          <p:cNvSpPr/>
          <p:nvPr/>
        </p:nvSpPr>
        <p:spPr>
          <a:xfrm>
            <a:off x="457200" y="1892808"/>
            <a:ext cx="3657600" cy="475488"/>
          </a:xfrm>
          <a:prstGeom prst="rect">
            <a:avLst/>
          </a:prstGeom>
          <a:noFill/>
          <a:ln/>
        </p:spPr>
        <p:txBody>
          <a:bodyPr wrap="square" lIns="0" tIns="0" rIns="0" bIns="0" rtlCol="0" anchor="ctr"/>
          <a:lstStyle/>
          <a:p>
            <a:pPr indent="0" marL="0">
              <a:buNone/>
            </a:pPr>
            <a:r>
              <a:rPr lang="en-US" sz="1200" b="1" dirty="0">
                <a:solidFill>
                  <a:srgbClr val="C62828"/>
                </a:solidFill>
              </a:rPr>
              <a:t>✗  </a:t>
            </a:r>
            <a:pPr indent="0" marL="0">
              <a:buNone/>
            </a:pPr>
            <a:r>
              <a:rPr lang="en-US" sz="1200" dirty="0">
                <a:solidFill>
                  <a:srgbClr val="1A237E"/>
                </a:solidFill>
              </a:rPr>
              <a:t>Aucune communication inter-systèmes</a:t>
            </a:r>
            <a:endParaRPr lang="en-US" sz="1200" dirty="0"/>
          </a:p>
        </p:txBody>
      </p:sp>
      <p:sp>
        <p:nvSpPr>
          <p:cNvPr id="14" name="Text 12"/>
          <p:cNvSpPr/>
          <p:nvPr/>
        </p:nvSpPr>
        <p:spPr>
          <a:xfrm>
            <a:off x="457200" y="2414016"/>
            <a:ext cx="3657600" cy="475488"/>
          </a:xfrm>
          <a:prstGeom prst="rect">
            <a:avLst/>
          </a:prstGeom>
          <a:noFill/>
          <a:ln/>
        </p:spPr>
        <p:txBody>
          <a:bodyPr wrap="square" lIns="0" tIns="0" rIns="0" bIns="0" rtlCol="0" anchor="ctr"/>
          <a:lstStyle/>
          <a:p>
            <a:pPr indent="0" marL="0">
              <a:buNone/>
            </a:pPr>
            <a:r>
              <a:rPr lang="en-US" sz="1200" b="1" dirty="0">
                <a:solidFill>
                  <a:srgbClr val="C62828"/>
                </a:solidFill>
              </a:rPr>
              <a:t>✗  </a:t>
            </a:r>
            <a:pPr indent="0" marL="0">
              <a:buNone/>
            </a:pPr>
            <a:r>
              <a:rPr lang="en-US" sz="1200" dirty="0">
                <a:solidFill>
                  <a:srgbClr val="1A237E"/>
                </a:solidFill>
              </a:rPr>
              <a:t>Doublons non détectés</a:t>
            </a:r>
            <a:endParaRPr lang="en-US" sz="1200" dirty="0"/>
          </a:p>
        </p:txBody>
      </p:sp>
      <p:sp>
        <p:nvSpPr>
          <p:cNvPr id="15" name="Text 13"/>
          <p:cNvSpPr/>
          <p:nvPr/>
        </p:nvSpPr>
        <p:spPr>
          <a:xfrm>
            <a:off x="457200" y="2935224"/>
            <a:ext cx="3657600" cy="475488"/>
          </a:xfrm>
          <a:prstGeom prst="rect">
            <a:avLst/>
          </a:prstGeom>
          <a:noFill/>
          <a:ln/>
        </p:spPr>
        <p:txBody>
          <a:bodyPr wrap="square" lIns="0" tIns="0" rIns="0" bIns="0" rtlCol="0" anchor="ctr"/>
          <a:lstStyle/>
          <a:p>
            <a:pPr indent="0" marL="0">
              <a:buNone/>
            </a:pPr>
            <a:r>
              <a:rPr lang="en-US" sz="1200" b="1" dirty="0">
                <a:solidFill>
                  <a:srgbClr val="C62828"/>
                </a:solidFill>
              </a:rPr>
              <a:t>✗  </a:t>
            </a:r>
            <a:pPr indent="0" marL="0">
              <a:buNone/>
            </a:pPr>
            <a:r>
              <a:rPr lang="en-US" sz="1200" dirty="0">
                <a:solidFill>
                  <a:srgbClr val="1A237E"/>
                </a:solidFill>
              </a:rPr>
              <a:t>Reporting faussé</a:t>
            </a:r>
            <a:endParaRPr lang="en-US" sz="1200" dirty="0"/>
          </a:p>
        </p:txBody>
      </p:sp>
      <p:sp>
        <p:nvSpPr>
          <p:cNvPr id="16" name="Text 14"/>
          <p:cNvSpPr/>
          <p:nvPr/>
        </p:nvSpPr>
        <p:spPr>
          <a:xfrm>
            <a:off x="457200" y="3456432"/>
            <a:ext cx="3657600" cy="475488"/>
          </a:xfrm>
          <a:prstGeom prst="rect">
            <a:avLst/>
          </a:prstGeom>
          <a:noFill/>
          <a:ln/>
        </p:spPr>
        <p:txBody>
          <a:bodyPr wrap="square" lIns="0" tIns="0" rIns="0" bIns="0" rtlCol="0" anchor="ctr"/>
          <a:lstStyle/>
          <a:p>
            <a:pPr indent="0" marL="0">
              <a:buNone/>
            </a:pPr>
            <a:r>
              <a:rPr lang="en-US" sz="1200" b="1" dirty="0">
                <a:solidFill>
                  <a:srgbClr val="C62828"/>
                </a:solidFill>
              </a:rPr>
              <a:t>✗  </a:t>
            </a:r>
            <a:pPr indent="0" marL="0">
              <a:buNone/>
            </a:pPr>
            <a:r>
              <a:rPr lang="en-US" sz="1200" dirty="0">
                <a:solidFill>
                  <a:srgbClr val="1A237E"/>
                </a:solidFill>
              </a:rPr>
              <a:t>Risque réglementaire élevé</a:t>
            </a:r>
            <a:endParaRPr lang="en-US" sz="1200" dirty="0"/>
          </a:p>
        </p:txBody>
      </p:sp>
      <p:sp>
        <p:nvSpPr>
          <p:cNvPr id="17" name="Text 15"/>
          <p:cNvSpPr/>
          <p:nvPr/>
        </p:nvSpPr>
        <p:spPr>
          <a:xfrm>
            <a:off x="4343400" y="2286000"/>
            <a:ext cx="457200" cy="640080"/>
          </a:xfrm>
          <a:prstGeom prst="rect">
            <a:avLst/>
          </a:prstGeom>
          <a:noFill/>
          <a:ln/>
        </p:spPr>
        <p:txBody>
          <a:bodyPr wrap="square" lIns="0" tIns="0" rIns="0" bIns="0" rtlCol="0" anchor="ctr"/>
          <a:lstStyle/>
          <a:p>
            <a:pPr algn="ctr" indent="0" marL="0">
              <a:buNone/>
            </a:pPr>
            <a:r>
              <a:rPr lang="en-US" sz="3200" b="1" dirty="0">
                <a:solidFill>
                  <a:srgbClr val="E6A817"/>
                </a:solidFill>
              </a:rPr>
              <a:t>→</a:t>
            </a:r>
            <a:endParaRPr lang="en-US" sz="3200" dirty="0"/>
          </a:p>
        </p:txBody>
      </p:sp>
      <p:sp>
        <p:nvSpPr>
          <p:cNvPr id="18" name="Shape 16"/>
          <p:cNvSpPr/>
          <p:nvPr/>
        </p:nvSpPr>
        <p:spPr>
          <a:xfrm>
            <a:off x="4892040" y="777240"/>
            <a:ext cx="3931920" cy="3886200"/>
          </a:xfrm>
          <a:prstGeom prst="rect">
            <a:avLst/>
          </a:prstGeom>
          <a:solidFill>
            <a:srgbClr val="FFFFFF"/>
          </a:solidFill>
          <a:ln/>
          <a:effectLst>
            <a:outerShdw sx="100000" sy="100000" kx="0" ky="0" algn="bl" rotWithShape="0" blurRad="88900" dist="38100" dir="8100000">
              <a:srgbClr val="000000">
                <a:alpha val="10000"/>
              </a:srgbClr>
            </a:outerShdw>
          </a:effectLst>
        </p:spPr>
      </p:sp>
      <p:sp>
        <p:nvSpPr>
          <p:cNvPr id="19" name="Shape 17"/>
          <p:cNvSpPr/>
          <p:nvPr/>
        </p:nvSpPr>
        <p:spPr>
          <a:xfrm>
            <a:off x="4892040" y="777240"/>
            <a:ext cx="3931920" cy="59436"/>
          </a:xfrm>
          <a:prstGeom prst="rect">
            <a:avLst/>
          </a:prstGeom>
          <a:solidFill>
            <a:srgbClr val="2E7D32"/>
          </a:solidFill>
          <a:ln/>
        </p:spPr>
      </p:sp>
      <p:sp>
        <p:nvSpPr>
          <p:cNvPr id="20" name="Shape 18"/>
          <p:cNvSpPr/>
          <p:nvPr/>
        </p:nvSpPr>
        <p:spPr>
          <a:xfrm>
            <a:off x="4892040" y="777240"/>
            <a:ext cx="3931920" cy="475488"/>
          </a:xfrm>
          <a:prstGeom prst="rect">
            <a:avLst/>
          </a:prstGeom>
          <a:solidFill>
            <a:srgbClr val="2E7D32"/>
          </a:solidFill>
          <a:ln/>
        </p:spPr>
      </p:sp>
      <p:sp>
        <p:nvSpPr>
          <p:cNvPr id="21" name="Text 19"/>
          <p:cNvSpPr/>
          <p:nvPr/>
        </p:nvSpPr>
        <p:spPr>
          <a:xfrm>
            <a:off x="4983480" y="777240"/>
            <a:ext cx="3749040" cy="475488"/>
          </a:xfrm>
          <a:prstGeom prst="rect">
            <a:avLst/>
          </a:prstGeom>
          <a:noFill/>
          <a:ln/>
        </p:spPr>
        <p:txBody>
          <a:bodyPr wrap="square" lIns="0" tIns="0" rIns="0" bIns="0" rtlCol="0" anchor="ctr"/>
          <a:lstStyle/>
          <a:p>
            <a:pPr indent="0" marL="0">
              <a:buNone/>
            </a:pPr>
            <a:r>
              <a:rPr lang="en-US" sz="1300" b="1" dirty="0">
                <a:solidFill>
                  <a:srgbClr val="FFFFFF"/>
                </a:solidFill>
              </a:rPr>
              <a:t>✅  Après — Solution proposée</a:t>
            </a:r>
            <a:endParaRPr lang="en-US" sz="1300" dirty="0"/>
          </a:p>
        </p:txBody>
      </p:sp>
      <p:sp>
        <p:nvSpPr>
          <p:cNvPr id="22" name="Text 20"/>
          <p:cNvSpPr/>
          <p:nvPr/>
        </p:nvSpPr>
        <p:spPr>
          <a:xfrm>
            <a:off x="5029200" y="1371600"/>
            <a:ext cx="3657600" cy="475488"/>
          </a:xfrm>
          <a:prstGeom prst="rect">
            <a:avLst/>
          </a:prstGeom>
          <a:noFill/>
          <a:ln/>
        </p:spPr>
        <p:txBody>
          <a:bodyPr wrap="square" lIns="0" tIns="0" rIns="0" bIns="0" rtlCol="0" anchor="ctr"/>
          <a:lstStyle/>
          <a:p>
            <a:pPr indent="0" marL="0">
              <a:buNone/>
            </a:pPr>
            <a:r>
              <a:rPr lang="en-US" sz="1200" b="1" dirty="0">
                <a:solidFill>
                  <a:srgbClr val="2E7D32"/>
                </a:solidFill>
              </a:rPr>
              <a:t>✓  </a:t>
            </a:r>
            <a:pPr indent="0" marL="0">
              <a:buNone/>
            </a:pPr>
            <a:r>
              <a:rPr lang="en-US" sz="1200" dirty="0">
                <a:solidFill>
                  <a:srgbClr val="1A237E"/>
                </a:solidFill>
              </a:rPr>
              <a:t>1 ICU universel par client</a:t>
            </a:r>
            <a:endParaRPr lang="en-US" sz="1200" dirty="0"/>
          </a:p>
        </p:txBody>
      </p:sp>
      <p:sp>
        <p:nvSpPr>
          <p:cNvPr id="23" name="Text 21"/>
          <p:cNvSpPr/>
          <p:nvPr/>
        </p:nvSpPr>
        <p:spPr>
          <a:xfrm>
            <a:off x="5029200" y="1892808"/>
            <a:ext cx="3657600" cy="475488"/>
          </a:xfrm>
          <a:prstGeom prst="rect">
            <a:avLst/>
          </a:prstGeom>
          <a:noFill/>
          <a:ln/>
        </p:spPr>
        <p:txBody>
          <a:bodyPr wrap="square" lIns="0" tIns="0" rIns="0" bIns="0" rtlCol="0" anchor="ctr"/>
          <a:lstStyle/>
          <a:p>
            <a:pPr indent="0" marL="0">
              <a:buNone/>
            </a:pPr>
            <a:r>
              <a:rPr lang="en-US" sz="1200" b="1" dirty="0">
                <a:solidFill>
                  <a:srgbClr val="2E7D32"/>
                </a:solidFill>
              </a:rPr>
              <a:t>✓  </a:t>
            </a:r>
            <a:pPr indent="0" marL="0">
              <a:buNone/>
            </a:pPr>
            <a:r>
              <a:rPr lang="en-US" sz="1200" dirty="0">
                <a:solidFill>
                  <a:srgbClr val="1A237E"/>
                </a:solidFill>
              </a:rPr>
              <a:t>API centrale interopérable</a:t>
            </a:r>
            <a:endParaRPr lang="en-US" sz="1200" dirty="0"/>
          </a:p>
        </p:txBody>
      </p:sp>
      <p:sp>
        <p:nvSpPr>
          <p:cNvPr id="24" name="Text 22"/>
          <p:cNvSpPr/>
          <p:nvPr/>
        </p:nvSpPr>
        <p:spPr>
          <a:xfrm>
            <a:off x="5029200" y="2414016"/>
            <a:ext cx="3657600" cy="475488"/>
          </a:xfrm>
          <a:prstGeom prst="rect">
            <a:avLst/>
          </a:prstGeom>
          <a:noFill/>
          <a:ln/>
        </p:spPr>
        <p:txBody>
          <a:bodyPr wrap="square" lIns="0" tIns="0" rIns="0" bIns="0" rtlCol="0" anchor="ctr"/>
          <a:lstStyle/>
          <a:p>
            <a:pPr indent="0" marL="0">
              <a:buNone/>
            </a:pPr>
            <a:r>
              <a:rPr lang="en-US" sz="1200" b="1" dirty="0">
                <a:solidFill>
                  <a:srgbClr val="2E7D32"/>
                </a:solidFill>
              </a:rPr>
              <a:t>✓  </a:t>
            </a:r>
            <a:pPr indent="0" marL="0">
              <a:buNone/>
            </a:pPr>
            <a:r>
              <a:rPr lang="en-US" sz="1200" dirty="0">
                <a:solidFill>
                  <a:srgbClr val="1A237E"/>
                </a:solidFill>
              </a:rPr>
              <a:t>Doublon impossible (contrôle automatique)</a:t>
            </a:r>
            <a:endParaRPr lang="en-US" sz="1200" dirty="0"/>
          </a:p>
        </p:txBody>
      </p:sp>
      <p:sp>
        <p:nvSpPr>
          <p:cNvPr id="25" name="Text 23"/>
          <p:cNvSpPr/>
          <p:nvPr/>
        </p:nvSpPr>
        <p:spPr>
          <a:xfrm>
            <a:off x="5029200" y="2935224"/>
            <a:ext cx="3657600" cy="475488"/>
          </a:xfrm>
          <a:prstGeom prst="rect">
            <a:avLst/>
          </a:prstGeom>
          <a:noFill/>
          <a:ln/>
        </p:spPr>
        <p:txBody>
          <a:bodyPr wrap="square" lIns="0" tIns="0" rIns="0" bIns="0" rtlCol="0" anchor="ctr"/>
          <a:lstStyle/>
          <a:p>
            <a:pPr indent="0" marL="0">
              <a:buNone/>
            </a:pPr>
            <a:r>
              <a:rPr lang="en-US" sz="1200" b="1" dirty="0">
                <a:solidFill>
                  <a:srgbClr val="2E7D32"/>
                </a:solidFill>
              </a:rPr>
              <a:t>✓  </a:t>
            </a:r>
            <a:pPr indent="0" marL="0">
              <a:buNone/>
            </a:pPr>
            <a:r>
              <a:rPr lang="en-US" sz="1200" dirty="0">
                <a:solidFill>
                  <a:srgbClr val="1A237E"/>
                </a:solidFill>
              </a:rPr>
              <a:t>Reporting consolidé et fiable</a:t>
            </a:r>
            <a:endParaRPr lang="en-US" sz="1200" dirty="0"/>
          </a:p>
        </p:txBody>
      </p:sp>
      <p:sp>
        <p:nvSpPr>
          <p:cNvPr id="26" name="Text 24"/>
          <p:cNvSpPr/>
          <p:nvPr/>
        </p:nvSpPr>
        <p:spPr>
          <a:xfrm>
            <a:off x="5029200" y="3456432"/>
            <a:ext cx="3657600" cy="475488"/>
          </a:xfrm>
          <a:prstGeom prst="rect">
            <a:avLst/>
          </a:prstGeom>
          <a:noFill/>
          <a:ln/>
        </p:spPr>
        <p:txBody>
          <a:bodyPr wrap="square" lIns="0" tIns="0" rIns="0" bIns="0" rtlCol="0" anchor="ctr"/>
          <a:lstStyle/>
          <a:p>
            <a:pPr indent="0" marL="0">
              <a:buNone/>
            </a:pPr>
            <a:r>
              <a:rPr lang="en-US" sz="1200" b="1" dirty="0">
                <a:solidFill>
                  <a:srgbClr val="2E7D32"/>
                </a:solidFill>
              </a:rPr>
              <a:t>✓  </a:t>
            </a:r>
            <a:pPr indent="0" marL="0">
              <a:buNone/>
            </a:pPr>
            <a:r>
              <a:rPr lang="en-US" sz="1200" dirty="0">
                <a:solidFill>
                  <a:srgbClr val="1A237E"/>
                </a:solidFill>
              </a:rPr>
              <a:t>Conformité garantie</a:t>
            </a:r>
            <a:endParaRPr lang="en-US" sz="1200" dirty="0"/>
          </a:p>
        </p:txBody>
      </p:sp>
      <p:sp>
        <p:nvSpPr>
          <p:cNvPr id="27" name="Shape 25"/>
          <p:cNvSpPr/>
          <p:nvPr/>
        </p:nvSpPr>
        <p:spPr>
          <a:xfrm>
            <a:off x="320040" y="4681728"/>
            <a:ext cx="8503920" cy="0"/>
          </a:xfrm>
          <a:prstGeom prst="rect">
            <a:avLst/>
          </a:prstGeom>
          <a:solidFill>
            <a:srgbClr val="FFFFFF"/>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B55"/>
        </a:solidFill>
      </p:bgPr>
    </p:bg>
    <p:spTree>
      <p:nvGrpSpPr>
        <p:cNvPr id="1" name=""/>
        <p:cNvGrpSpPr/>
        <p:nvPr/>
      </p:nvGrpSpPr>
      <p:grpSpPr>
        <a:xfrm>
          <a:off x="0" y="0"/>
          <a:ext cx="0" cy="0"/>
          <a:chOff x="0" y="0"/>
          <a:chExt cx="0" cy="0"/>
        </a:xfrm>
      </p:grpSpPr>
      <p:sp>
        <p:nvSpPr>
          <p:cNvPr id="2" name="Shape 0"/>
          <p:cNvSpPr/>
          <p:nvPr/>
        </p:nvSpPr>
        <p:spPr>
          <a:xfrm>
            <a:off x="0" y="0"/>
            <a:ext cx="384048" cy="5143500"/>
          </a:xfrm>
          <a:prstGeom prst="rect">
            <a:avLst/>
          </a:prstGeom>
          <a:solidFill>
            <a:srgbClr val="E6A817"/>
          </a:solidFill>
          <a:ln/>
        </p:spPr>
      </p:sp>
      <p:sp>
        <p:nvSpPr>
          <p:cNvPr id="3" name="Shape 1"/>
          <p:cNvSpPr/>
          <p:nvPr/>
        </p:nvSpPr>
        <p:spPr>
          <a:xfrm>
            <a:off x="384048" y="0"/>
            <a:ext cx="8759952" cy="59436"/>
          </a:xfrm>
          <a:prstGeom prst="rect">
            <a:avLst/>
          </a:prstGeom>
          <a:solidFill>
            <a:srgbClr val="1565C0"/>
          </a:solidFill>
          <a:ln/>
        </p:spPr>
      </p:sp>
      <p:sp>
        <p:nvSpPr>
          <p:cNvPr id="4" name="Text 2"/>
          <p:cNvSpPr/>
          <p:nvPr/>
        </p:nvSpPr>
        <p:spPr>
          <a:xfrm>
            <a:off x="594360" y="1371600"/>
            <a:ext cx="8229600" cy="914400"/>
          </a:xfrm>
          <a:prstGeom prst="rect">
            <a:avLst/>
          </a:prstGeom>
          <a:noFill/>
          <a:ln/>
        </p:spPr>
        <p:txBody>
          <a:bodyPr wrap="square" lIns="0" tIns="0" rIns="0" bIns="0" rtlCol="0" anchor="ctr"/>
          <a:lstStyle/>
          <a:p>
            <a:pPr indent="0" marL="0">
              <a:buNone/>
            </a:pPr>
            <a:r>
              <a:rPr lang="en-US" sz="4600" b="1" dirty="0">
                <a:solidFill>
                  <a:srgbClr val="FFFFFF"/>
                </a:solidFill>
              </a:rPr>
              <a:t>Merci</a:t>
            </a:r>
            <a:endParaRPr lang="en-US" sz="4600" dirty="0"/>
          </a:p>
        </p:txBody>
      </p:sp>
      <p:sp>
        <p:nvSpPr>
          <p:cNvPr id="5" name="Shape 3"/>
          <p:cNvSpPr/>
          <p:nvPr/>
        </p:nvSpPr>
        <p:spPr>
          <a:xfrm>
            <a:off x="594360" y="2377440"/>
            <a:ext cx="2743200" cy="59436"/>
          </a:xfrm>
          <a:prstGeom prst="rect">
            <a:avLst/>
          </a:prstGeom>
          <a:solidFill>
            <a:srgbClr val="E6A817"/>
          </a:solidFill>
          <a:ln/>
        </p:spPr>
      </p:sp>
      <p:sp>
        <p:nvSpPr>
          <p:cNvPr id="6" name="Text 4"/>
          <p:cNvSpPr/>
          <p:nvPr/>
        </p:nvSpPr>
        <p:spPr>
          <a:xfrm>
            <a:off x="594360" y="2560320"/>
            <a:ext cx="8229600" cy="502920"/>
          </a:xfrm>
          <a:prstGeom prst="rect">
            <a:avLst/>
          </a:prstGeom>
          <a:noFill/>
          <a:ln/>
        </p:spPr>
        <p:txBody>
          <a:bodyPr wrap="square" lIns="0" tIns="0" rIns="0" bIns="0" rtlCol="0" anchor="ctr"/>
          <a:lstStyle/>
          <a:p>
            <a:pPr indent="0" marL="0">
              <a:buNone/>
            </a:pPr>
            <a:r>
              <a:rPr lang="en-US" sz="2000" i="1" dirty="0">
                <a:solidFill>
                  <a:srgbClr val="E6A817"/>
                </a:solidFill>
              </a:rPr>
              <a:t>Questions &amp; Discussions</a:t>
            </a:r>
            <a:endParaRPr lang="en-US" sz="2000" dirty="0"/>
          </a:p>
        </p:txBody>
      </p:sp>
      <p:sp>
        <p:nvSpPr>
          <p:cNvPr id="7" name="Text 5"/>
          <p:cNvSpPr/>
          <p:nvPr/>
        </p:nvSpPr>
        <p:spPr>
          <a:xfrm>
            <a:off x="594360" y="3291840"/>
            <a:ext cx="8229600" cy="457200"/>
          </a:xfrm>
          <a:prstGeom prst="rect">
            <a:avLst/>
          </a:prstGeom>
          <a:noFill/>
          <a:ln/>
        </p:spPr>
        <p:txBody>
          <a:bodyPr wrap="square" lIns="0" tIns="0" rIns="0" bIns="0" rtlCol="0" anchor="ctr"/>
          <a:lstStyle/>
          <a:p>
            <a:pPr indent="0" marL="0">
              <a:buNone/>
            </a:pPr>
            <a:r>
              <a:rPr lang="en-US" sz="1300" i="1" dirty="0">
                <a:solidFill>
                  <a:srgbClr val="A8C4E8"/>
                </a:solidFill>
              </a:rPr>
              <a:t>📘 Use Case 2 — Microfinance : Identifiant Client Unique &amp; API d'Interopérabilité</a:t>
            </a:r>
            <a:endParaRPr lang="en-US" sz="1300" dirty="0"/>
          </a:p>
        </p:txBody>
      </p:sp>
      <p:sp>
        <p:nvSpPr>
          <p:cNvPr id="8" name="Text 6"/>
          <p:cNvSpPr/>
          <p:nvPr/>
        </p:nvSpPr>
        <p:spPr>
          <a:xfrm>
            <a:off x="594360" y="3749040"/>
            <a:ext cx="8229600" cy="365760"/>
          </a:xfrm>
          <a:prstGeom prst="rect">
            <a:avLst/>
          </a:prstGeom>
          <a:noFill/>
          <a:ln/>
        </p:spPr>
        <p:txBody>
          <a:bodyPr wrap="square" lIns="0" tIns="0" rIns="0" bIns="0" rtlCol="0" anchor="ctr"/>
          <a:lstStyle/>
          <a:p>
            <a:pPr indent="0" marL="0">
              <a:buNone/>
            </a:pPr>
            <a:r>
              <a:rPr lang="en-US" sz="1200" dirty="0">
                <a:solidFill>
                  <a:srgbClr val="546E7A"/>
                </a:solidFill>
              </a:rPr>
              <a:t>7 parties traitées : État existant · Problèmes · Master Data · SSOT · Solution · API · Bénéfices</a:t>
            </a:r>
            <a:endParaRPr lang="en-US" sz="1200" dirty="0"/>
          </a:p>
        </p:txBody>
      </p:sp>
      <p:sp>
        <p:nvSpPr>
          <p:cNvPr id="9" name="Shape 7"/>
          <p:cNvSpPr/>
          <p:nvPr/>
        </p:nvSpPr>
        <p:spPr>
          <a:xfrm>
            <a:off x="0" y="4773168"/>
            <a:ext cx="9144000" cy="370332"/>
          </a:xfrm>
          <a:prstGeom prst="rect">
            <a:avLst/>
          </a:prstGeom>
          <a:solidFill>
            <a:srgbClr val="1565C0"/>
          </a:solidFill>
          <a:ln/>
        </p:spPr>
      </p:sp>
      <p:sp>
        <p:nvSpPr>
          <p:cNvPr id="10" name="Text 8"/>
          <p:cNvSpPr/>
          <p:nvPr/>
        </p:nvSpPr>
        <p:spPr>
          <a:xfrm>
            <a:off x="0" y="4773168"/>
            <a:ext cx="9144000" cy="370332"/>
          </a:xfrm>
          <a:prstGeom prst="rect">
            <a:avLst/>
          </a:prstGeom>
          <a:noFill/>
          <a:ln/>
        </p:spPr>
        <p:txBody>
          <a:bodyPr wrap="square" lIns="0" tIns="0" rIns="0" bIns="0" rtlCol="0" anchor="ctr"/>
          <a:lstStyle/>
          <a:p>
            <a:pPr algn="ctr" indent="0" marL="0">
              <a:buNone/>
            </a:pPr>
            <a:r>
              <a:rPr lang="en-US" sz="1100" i="1" dirty="0">
                <a:solidFill>
                  <a:srgbClr val="E6A817"/>
                </a:solidFill>
              </a:rPr>
              <a:t>Exercice Use Case 2 — Traitement complet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 2 – Microfinance</dc:title>
  <dc:subject>PptxGenJS Presentation</dc:subject>
  <dc:creator>PptxGenJS</dc:creator>
  <cp:lastModifiedBy>PptxGenJS</cp:lastModifiedBy>
  <cp:revision>1</cp:revision>
  <dcterms:created xsi:type="dcterms:W3CDTF">2026-04-16T16:19:47Z</dcterms:created>
  <dcterms:modified xsi:type="dcterms:W3CDTF">2026-04-16T16:19:47Z</dcterms:modified>
</cp:coreProperties>
</file>